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9"/>
  </p:notesMasterIdLst>
  <p:sldIdLst>
    <p:sldId id="256" r:id="rId2"/>
    <p:sldId id="257" r:id="rId3"/>
    <p:sldId id="258" r:id="rId4"/>
    <p:sldId id="259" r:id="rId5"/>
    <p:sldId id="261" r:id="rId6"/>
    <p:sldId id="262" r:id="rId7"/>
    <p:sldId id="264" r:id="rId8"/>
    <p:sldId id="265" r:id="rId9"/>
    <p:sldId id="267" r:id="rId10"/>
    <p:sldId id="266" r:id="rId11"/>
    <p:sldId id="269" r:id="rId12"/>
    <p:sldId id="270" r:id="rId13"/>
    <p:sldId id="271" r:id="rId14"/>
    <p:sldId id="272" r:id="rId15"/>
    <p:sldId id="273" r:id="rId16"/>
    <p:sldId id="274"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3CBEB"/>
    <a:srgbClr val="DCEAF7"/>
    <a:srgbClr val="D5DC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81C84F-14BC-4B57-8F16-3DFE97EB4C79}" type="datetimeFigureOut">
              <a:rPr lang="en-GB" smtClean="0"/>
              <a:t>09/12/2024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C5DC4-A45B-4CAF-9420-4F9FE7E5CE88}" type="slidenum">
              <a:rPr lang="en-GB" smtClean="0"/>
              <a:t>‹#›</a:t>
            </a:fld>
            <a:endParaRPr lang="en-GB"/>
          </a:p>
        </p:txBody>
      </p:sp>
    </p:spTree>
    <p:extLst>
      <p:ext uri="{BB962C8B-B14F-4D97-AF65-F5344CB8AC3E}">
        <p14:creationId xmlns:p14="http://schemas.microsoft.com/office/powerpoint/2010/main" val="51720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6AC5DC4-A45B-4CAF-9420-4F9FE7E5CE88}" type="slidenum">
              <a:rPr lang="en-GB" smtClean="0"/>
              <a:t>4</a:t>
            </a:fld>
            <a:endParaRPr lang="en-GB"/>
          </a:p>
        </p:txBody>
      </p:sp>
    </p:spTree>
    <p:extLst>
      <p:ext uri="{BB962C8B-B14F-4D97-AF65-F5344CB8AC3E}">
        <p14:creationId xmlns:p14="http://schemas.microsoft.com/office/powerpoint/2010/main" val="1591544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6AC5DC4-A45B-4CAF-9420-4F9FE7E5CE88}" type="slidenum">
              <a:rPr lang="en-GB" smtClean="0"/>
              <a:t>16</a:t>
            </a:fld>
            <a:endParaRPr lang="en-GB"/>
          </a:p>
        </p:txBody>
      </p:sp>
    </p:spTree>
    <p:extLst>
      <p:ext uri="{BB962C8B-B14F-4D97-AF65-F5344CB8AC3E}">
        <p14:creationId xmlns:p14="http://schemas.microsoft.com/office/powerpoint/2010/main" val="1931339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6AC5DC4-A45B-4CAF-9420-4F9FE7E5CE88}" type="slidenum">
              <a:rPr lang="en-GB" smtClean="0"/>
              <a:t>17</a:t>
            </a:fld>
            <a:endParaRPr lang="en-GB"/>
          </a:p>
        </p:txBody>
      </p:sp>
    </p:spTree>
    <p:extLst>
      <p:ext uri="{BB962C8B-B14F-4D97-AF65-F5344CB8AC3E}">
        <p14:creationId xmlns:p14="http://schemas.microsoft.com/office/powerpoint/2010/main" val="533046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76434-7331-E460-2B1B-D7BA928552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D218BEA-ACE3-4D40-44CC-559115E215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0EA77A7-3A03-6C6F-2352-5F110FA12FF8}"/>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5" name="Footer Placeholder 4">
            <a:extLst>
              <a:ext uri="{FF2B5EF4-FFF2-40B4-BE49-F238E27FC236}">
                <a16:creationId xmlns:a16="http://schemas.microsoft.com/office/drawing/2014/main" id="{5DB14742-A7ED-E5B6-2F19-59D27D9623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04E613-A8F0-387E-BAFD-18F6409DA77D}"/>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3065815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B9093-CCDC-7C79-B697-014C5EA7180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32260E-9D1E-22C3-29A4-D8881EE8B2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6E2398-3CB5-A3F5-34A8-7B795B3F3C0E}"/>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5" name="Footer Placeholder 4">
            <a:extLst>
              <a:ext uri="{FF2B5EF4-FFF2-40B4-BE49-F238E27FC236}">
                <a16:creationId xmlns:a16="http://schemas.microsoft.com/office/drawing/2014/main" id="{0D55AB92-A790-A3DB-0F7C-1F4FFDF7CC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E92DC3-DA8B-D409-6FF4-ED982FC1F84E}"/>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4285007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016BD-20B5-6225-A2AE-7C5F337A45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60E3837-4DBB-22DD-F892-F103B1C06F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26C64C-07E8-263A-34CF-449A75B5288F}"/>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5" name="Footer Placeholder 4">
            <a:extLst>
              <a:ext uri="{FF2B5EF4-FFF2-40B4-BE49-F238E27FC236}">
                <a16:creationId xmlns:a16="http://schemas.microsoft.com/office/drawing/2014/main" id="{4712D879-6F72-43A2-F52C-9703EA0D30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392418-576E-1920-42AE-DC35719AD306}"/>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2611083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4402-5B4C-1788-E894-7D4A2720294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FFA64B-4C5E-60A7-1F50-165A1F0DF0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C7C8202-4504-297D-CE86-E00B40AD8B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156A1EB-AA4D-FA48-0113-51A487FDCBB5}"/>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6" name="Footer Placeholder 5">
            <a:extLst>
              <a:ext uri="{FF2B5EF4-FFF2-40B4-BE49-F238E27FC236}">
                <a16:creationId xmlns:a16="http://schemas.microsoft.com/office/drawing/2014/main" id="{5012275B-37AA-4B00-1D43-244C518C26C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6897B50-8E89-6CD9-D809-7A5FD04CFE34}"/>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2315435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9C8F-FD2D-8D1D-28D6-549142706E5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4DF6E2F-E57E-603C-E23A-4A1182CD21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51779F-9A2C-4C2C-97AD-7B946E84C6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79F1D66-3CD7-4FF6-BF09-087B38C609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6E3122-68B0-ECD3-1053-ED1902B3CE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88128AC-710A-F13B-18C0-A754E34014E0}"/>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8" name="Footer Placeholder 7">
            <a:extLst>
              <a:ext uri="{FF2B5EF4-FFF2-40B4-BE49-F238E27FC236}">
                <a16:creationId xmlns:a16="http://schemas.microsoft.com/office/drawing/2014/main" id="{40BE3078-1AC8-BE1C-2A86-F5D03F78E3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12B8A6F-46CB-A65F-B123-67494A9903F5}"/>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1127176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83002-13B6-543E-A227-10E036DD346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90E374F-7EE1-294C-675E-83662652D7E7}"/>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4" name="Footer Placeholder 3">
            <a:extLst>
              <a:ext uri="{FF2B5EF4-FFF2-40B4-BE49-F238E27FC236}">
                <a16:creationId xmlns:a16="http://schemas.microsoft.com/office/drawing/2014/main" id="{8F0BA4F2-3000-523A-93F1-28A7A256A43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E1356B6-D6C0-9B2D-869E-09C92B026B22}"/>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343419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A78A58-6B94-9E4D-4711-CA33D701705C}"/>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3" name="Footer Placeholder 2">
            <a:extLst>
              <a:ext uri="{FF2B5EF4-FFF2-40B4-BE49-F238E27FC236}">
                <a16:creationId xmlns:a16="http://schemas.microsoft.com/office/drawing/2014/main" id="{921D286C-4C6E-28DF-2EF2-D989F57421E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C4908AE-FC43-B3AC-6CE1-B7FAC910AA11}"/>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419745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A5E37-57D1-9C73-8AD1-F17ED47730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EB98B02-FC6C-CB82-9816-DE3E639CC2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41CB31C-17C8-4453-5437-EB6F4675D7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EC33DB-A18F-6F98-23A2-3A988962AD8C}"/>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6" name="Footer Placeholder 5">
            <a:extLst>
              <a:ext uri="{FF2B5EF4-FFF2-40B4-BE49-F238E27FC236}">
                <a16:creationId xmlns:a16="http://schemas.microsoft.com/office/drawing/2014/main" id="{2DDDA014-3919-0935-3EDA-F715FADF771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8B8DF7C-CC82-0DC5-AF17-71F0CCEBDE35}"/>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80985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767BA-6022-6365-08B9-4253A7BECF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818A314-99D7-C9C8-A97D-5D3E77A807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6D10112-7097-DEF2-D2E6-8CCC159033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E12F0-F0E0-465B-D145-755B7F485395}"/>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6" name="Footer Placeholder 5">
            <a:extLst>
              <a:ext uri="{FF2B5EF4-FFF2-40B4-BE49-F238E27FC236}">
                <a16:creationId xmlns:a16="http://schemas.microsoft.com/office/drawing/2014/main" id="{4F37ED8C-A1F7-0AFD-094F-DD74C0959DA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B2299C7-1F52-DA80-FDD5-1967519ADB78}"/>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3195089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5A7C-C404-F0E9-E2DD-5E4BE734A86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B271C83-B3BE-878D-9977-BFDC010E1C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05F3BC-1646-C9C1-7530-A48F8F977AEE}"/>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5" name="Footer Placeholder 4">
            <a:extLst>
              <a:ext uri="{FF2B5EF4-FFF2-40B4-BE49-F238E27FC236}">
                <a16:creationId xmlns:a16="http://schemas.microsoft.com/office/drawing/2014/main" id="{00272939-2C52-DEAB-EE17-79A86816DF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4986FD-176D-EE21-B51D-F4E56783DD9B}"/>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3800647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FC78CD-50C8-6FA0-21DE-F2962B5B38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F33752-AFBA-F46E-2488-D254981736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005695-6354-A16F-7910-CD0659801752}"/>
              </a:ext>
            </a:extLst>
          </p:cNvPr>
          <p:cNvSpPr>
            <a:spLocks noGrp="1"/>
          </p:cNvSpPr>
          <p:nvPr>
            <p:ph type="dt" sz="half" idx="10"/>
          </p:nvPr>
        </p:nvSpPr>
        <p:spPr/>
        <p:txBody>
          <a:bodyPr/>
          <a:lstStyle/>
          <a:p>
            <a:fld id="{ECBC0A31-E668-4984-8E2F-2D9EB5FD0606}" type="datetimeFigureOut">
              <a:rPr lang="en-GB" smtClean="0"/>
              <a:t>09/12/2024</a:t>
            </a:fld>
            <a:endParaRPr lang="en-GB"/>
          </a:p>
        </p:txBody>
      </p:sp>
      <p:sp>
        <p:nvSpPr>
          <p:cNvPr id="5" name="Footer Placeholder 4">
            <a:extLst>
              <a:ext uri="{FF2B5EF4-FFF2-40B4-BE49-F238E27FC236}">
                <a16:creationId xmlns:a16="http://schemas.microsoft.com/office/drawing/2014/main" id="{C3B71AB7-162B-C13A-B17E-45A8980E37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2E5D7FE-0279-A91B-2A91-ABA21A512F42}"/>
              </a:ext>
            </a:extLst>
          </p:cNvPr>
          <p:cNvSpPr>
            <a:spLocks noGrp="1"/>
          </p:cNvSpPr>
          <p:nvPr>
            <p:ph type="sldNum" sz="quarter" idx="12"/>
          </p:nvPr>
        </p:nvSpPr>
        <p:spPr/>
        <p:txBody>
          <a:bodyPr/>
          <a:lstStyle/>
          <a:p>
            <a:fld id="{2BB4DC89-5048-4F61-91B9-31C4BA3DB2BD}" type="slidenum">
              <a:rPr lang="en-GB" smtClean="0"/>
              <a:t>‹#›</a:t>
            </a:fld>
            <a:endParaRPr lang="en-GB"/>
          </a:p>
        </p:txBody>
      </p:sp>
    </p:spTree>
    <p:extLst>
      <p:ext uri="{BB962C8B-B14F-4D97-AF65-F5344CB8AC3E}">
        <p14:creationId xmlns:p14="http://schemas.microsoft.com/office/powerpoint/2010/main" val="3332543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C89B28-5948-E241-52E9-64CD7AD9D5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B85108F-A5BA-2120-A577-7044F01F72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8BB987-602A-C10F-8A8E-DB255506E5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BC0A31-E668-4984-8E2F-2D9EB5FD0606}" type="datetimeFigureOut">
              <a:rPr lang="en-GB" smtClean="0"/>
              <a:t>09/12/2024</a:t>
            </a:fld>
            <a:endParaRPr lang="en-GB"/>
          </a:p>
        </p:txBody>
      </p:sp>
      <p:sp>
        <p:nvSpPr>
          <p:cNvPr id="5" name="Footer Placeholder 4">
            <a:extLst>
              <a:ext uri="{FF2B5EF4-FFF2-40B4-BE49-F238E27FC236}">
                <a16:creationId xmlns:a16="http://schemas.microsoft.com/office/drawing/2014/main" id="{8BBADF30-491D-9E5E-7A2E-925778DAD6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E3C3DB2-0C4E-2484-E4B9-DEF37FE134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B4DC89-5048-4F61-91B9-31C4BA3DB2BD}" type="slidenum">
              <a:rPr lang="en-GB" smtClean="0"/>
              <a:t>‹#›</a:t>
            </a:fld>
            <a:endParaRPr lang="en-GB"/>
          </a:p>
        </p:txBody>
      </p:sp>
    </p:spTree>
    <p:extLst>
      <p:ext uri="{BB962C8B-B14F-4D97-AF65-F5344CB8AC3E}">
        <p14:creationId xmlns:p14="http://schemas.microsoft.com/office/powerpoint/2010/main" val="197717159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18" Type="http://schemas.openxmlformats.org/officeDocument/2006/relationships/image" Target="../media/image27.pn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20"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pixabay.com/en/thanks-thank-you-gratitude-285456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225;p27">
            <a:extLst>
              <a:ext uri="{FF2B5EF4-FFF2-40B4-BE49-F238E27FC236}">
                <a16:creationId xmlns:a16="http://schemas.microsoft.com/office/drawing/2014/main" id="{EBFCD118-0BD3-B49E-FB29-26653FAB1430}"/>
              </a:ext>
            </a:extLst>
          </p:cNvPr>
          <p:cNvSpPr txBox="1">
            <a:spLocks noGrp="1"/>
          </p:cNvSpPr>
          <p:nvPr>
            <p:ph type="subTitle" idx="1"/>
          </p:nvPr>
        </p:nvSpPr>
        <p:spPr>
          <a:xfrm>
            <a:off x="1757076" y="4411566"/>
            <a:ext cx="3043499" cy="1069308"/>
          </a:xfrm>
          <a:prstGeom prst="round2DiagRect">
            <a:avLst/>
          </a:prstGeom>
          <a:solidFill>
            <a:srgbClr val="D5DCF6"/>
          </a:solidFill>
          <a:ln>
            <a:solidFill>
              <a:srgbClr val="D5DCF6"/>
            </a:solidFill>
          </a:ln>
          <a:effectLst>
            <a:glow rad="139700">
              <a:schemeClr val="accent1">
                <a:satMod val="175000"/>
                <a:alpha val="40000"/>
              </a:schemeClr>
            </a:glow>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1" wrap="square" lIns="91425" tIns="91425" rIns="91425" bIns="91425" anchor="t" anchorCtr="0">
            <a:noAutofit/>
          </a:bodyPr>
          <a:lstStyle/>
          <a:p>
            <a:pPr marL="0" lvl="0" indent="0" rtl="0">
              <a:spcBef>
                <a:spcPts val="0"/>
              </a:spcBef>
              <a:spcAft>
                <a:spcPts val="0"/>
              </a:spcAft>
              <a:buNone/>
            </a:pPr>
            <a:r>
              <a:rPr lang="en-GB" sz="2000" dirty="0">
                <a:solidFill>
                  <a:schemeClr val="tx1"/>
                </a:solidFill>
                <a:latin typeface="Aptos" panose="020B0004020202020204" pitchFamily="34" charset="0"/>
                <a:cs typeface="Andalus" panose="02020603050405020304" pitchFamily="18" charset="-78"/>
              </a:rPr>
              <a:t>Supported by:</a:t>
            </a:r>
          </a:p>
          <a:p>
            <a:pPr marL="0" lvl="0" indent="0" rtl="0">
              <a:spcBef>
                <a:spcPts val="0"/>
              </a:spcBef>
              <a:spcAft>
                <a:spcPts val="0"/>
              </a:spcAft>
              <a:buNone/>
            </a:pPr>
            <a:r>
              <a:rPr lang="en-GB" sz="2000" dirty="0">
                <a:solidFill>
                  <a:schemeClr val="tx1"/>
                </a:solidFill>
                <a:latin typeface="Aptos" panose="020B0004020202020204" pitchFamily="34" charset="0"/>
                <a:cs typeface="Andalus" panose="02020603050405020304" pitchFamily="18" charset="-78"/>
              </a:rPr>
              <a:t>BERRADA MOHAMMED</a:t>
            </a:r>
            <a:endParaRPr lang="en" sz="2000" dirty="0">
              <a:solidFill>
                <a:schemeClr val="tx1"/>
              </a:solidFill>
              <a:latin typeface="Aptos" panose="020B0004020202020204" pitchFamily="34" charset="0"/>
              <a:cs typeface="Andalus" panose="02020603050405020304" pitchFamily="18" charset="-78"/>
            </a:endParaRPr>
          </a:p>
        </p:txBody>
      </p:sp>
      <p:pic>
        <p:nvPicPr>
          <p:cNvPr id="14" name="Picture 13">
            <a:extLst>
              <a:ext uri="{FF2B5EF4-FFF2-40B4-BE49-F238E27FC236}">
                <a16:creationId xmlns:a16="http://schemas.microsoft.com/office/drawing/2014/main" id="{250F0B96-C1A6-B7E8-B3BA-C6E4F5136C17}"/>
              </a:ext>
            </a:extLst>
          </p:cNvPr>
          <p:cNvPicPr>
            <a:picLocks noChangeAspect="1"/>
          </p:cNvPicPr>
          <p:nvPr/>
        </p:nvPicPr>
        <p:blipFill>
          <a:blip r:embed="rId2"/>
          <a:stretch>
            <a:fillRect/>
          </a:stretch>
        </p:blipFill>
        <p:spPr>
          <a:xfrm>
            <a:off x="986783" y="270393"/>
            <a:ext cx="10428085" cy="1216610"/>
          </a:xfrm>
          <a:prstGeom prst="rect">
            <a:avLst/>
          </a:prstGeom>
        </p:spPr>
      </p:pic>
      <p:sp>
        <p:nvSpPr>
          <p:cNvPr id="15" name="Rectangle: Rounded Corners 14">
            <a:extLst>
              <a:ext uri="{FF2B5EF4-FFF2-40B4-BE49-F238E27FC236}">
                <a16:creationId xmlns:a16="http://schemas.microsoft.com/office/drawing/2014/main" id="{83C948D4-BA3E-588E-D462-A58640C8F9D0}"/>
              </a:ext>
            </a:extLst>
          </p:cNvPr>
          <p:cNvSpPr/>
          <p:nvPr/>
        </p:nvSpPr>
        <p:spPr>
          <a:xfrm>
            <a:off x="1757077" y="1937409"/>
            <a:ext cx="8887495" cy="1197775"/>
          </a:xfrm>
          <a:prstGeom prst="roundRect">
            <a:avLst/>
          </a:prstGeom>
          <a:solidFill>
            <a:srgbClr val="D5DCF6"/>
          </a:solidFill>
          <a:ln>
            <a:solidFill>
              <a:srgbClr val="D5DCF6"/>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ptos" panose="020B0004020202020204" pitchFamily="34" charset="0"/>
                <a:cs typeface="Andalus" panose="02020603050405020304" pitchFamily="18" charset="-78"/>
              </a:rPr>
              <a:t>Internship focused on developing an AI platform for the rapid and accurate diseases detection like Covid-19, Alzheimer's, and brain tumors.</a:t>
            </a:r>
          </a:p>
        </p:txBody>
      </p:sp>
      <p:sp>
        <p:nvSpPr>
          <p:cNvPr id="16" name="TextBox 15">
            <a:extLst>
              <a:ext uri="{FF2B5EF4-FFF2-40B4-BE49-F238E27FC236}">
                <a16:creationId xmlns:a16="http://schemas.microsoft.com/office/drawing/2014/main" id="{9736FAA0-EA68-7EEA-23E9-3A2FCFC042C8}"/>
              </a:ext>
            </a:extLst>
          </p:cNvPr>
          <p:cNvSpPr txBox="1"/>
          <p:nvPr/>
        </p:nvSpPr>
        <p:spPr>
          <a:xfrm>
            <a:off x="3071785" y="3501480"/>
            <a:ext cx="6258077" cy="442674"/>
          </a:xfrm>
          <a:prstGeom prst="roundRect">
            <a:avLst/>
          </a:prstGeom>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000" dirty="0">
                <a:solidFill>
                  <a:schemeClr val="tx1"/>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Produced "From 10 July to 10 August" at ENSA Fes</a:t>
            </a:r>
            <a:endParaRPr lang="fr-FR" sz="2000" dirty="0">
              <a:solidFill>
                <a:schemeClr val="tx1"/>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endParaRPr>
          </a:p>
        </p:txBody>
      </p:sp>
      <p:sp>
        <p:nvSpPr>
          <p:cNvPr id="24" name="Google Shape;225;p27">
            <a:extLst>
              <a:ext uri="{FF2B5EF4-FFF2-40B4-BE49-F238E27FC236}">
                <a16:creationId xmlns:a16="http://schemas.microsoft.com/office/drawing/2014/main" id="{BA0679BA-CFA9-FADB-81B5-1D9A394B2D59}"/>
              </a:ext>
            </a:extLst>
          </p:cNvPr>
          <p:cNvSpPr txBox="1">
            <a:spLocks/>
          </p:cNvSpPr>
          <p:nvPr/>
        </p:nvSpPr>
        <p:spPr>
          <a:xfrm>
            <a:off x="8371369" y="4411566"/>
            <a:ext cx="3043499" cy="1069308"/>
          </a:xfrm>
          <a:prstGeom prst="round2DiagRect">
            <a:avLst/>
          </a:prstGeom>
          <a:solidFill>
            <a:srgbClr val="D5DCF6"/>
          </a:solidFill>
          <a:ln w="19050" cap="flat" cmpd="sng" algn="ctr">
            <a:solidFill>
              <a:srgbClr val="D5DCF6"/>
            </a:solidFill>
            <a:prstDash val="solid"/>
            <a:miter lim="800000"/>
          </a:ln>
          <a:effectLst>
            <a:glow rad="139700">
              <a:schemeClr val="accent1">
                <a:satMod val="175000"/>
                <a:alpha val="40000"/>
              </a:schemeClr>
            </a:glow>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lt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lt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l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9pPr>
          </a:lstStyle>
          <a:p>
            <a:pPr>
              <a:spcBef>
                <a:spcPts val="0"/>
              </a:spcBef>
            </a:pPr>
            <a:r>
              <a:rPr lang="en-GB" sz="2000" dirty="0">
                <a:solidFill>
                  <a:schemeClr val="tx1"/>
                </a:solidFill>
                <a:latin typeface="Aptos" panose="020B0004020202020204" pitchFamily="34" charset="0"/>
                <a:cs typeface="Andalus" panose="02020603050405020304" pitchFamily="18" charset="-78"/>
              </a:rPr>
              <a:t>Supervised by:</a:t>
            </a:r>
          </a:p>
          <a:p>
            <a:pPr>
              <a:spcBef>
                <a:spcPts val="0"/>
              </a:spcBef>
            </a:pPr>
            <a:r>
              <a:rPr lang="en-GB" sz="2000" dirty="0" err="1">
                <a:solidFill>
                  <a:schemeClr val="tx1"/>
                </a:solidFill>
                <a:latin typeface="Aptos" panose="020B0004020202020204" pitchFamily="34" charset="0"/>
                <a:cs typeface="Andalus" panose="02020603050405020304" pitchFamily="18" charset="-78"/>
              </a:rPr>
              <a:t>Safae</a:t>
            </a:r>
            <a:r>
              <a:rPr lang="en-GB" sz="2000" dirty="0">
                <a:solidFill>
                  <a:schemeClr val="tx1"/>
                </a:solidFill>
                <a:latin typeface="Aptos" panose="020B0004020202020204" pitchFamily="34" charset="0"/>
                <a:cs typeface="Andalus" panose="02020603050405020304" pitchFamily="18" charset="-78"/>
              </a:rPr>
              <a:t> </a:t>
            </a:r>
            <a:r>
              <a:rPr lang="en-GB" sz="2000" dirty="0" err="1">
                <a:solidFill>
                  <a:schemeClr val="tx1"/>
                </a:solidFill>
                <a:latin typeface="Aptos" panose="020B0004020202020204" pitchFamily="34" charset="0"/>
                <a:cs typeface="Andalus" panose="02020603050405020304" pitchFamily="18" charset="-78"/>
              </a:rPr>
              <a:t>Elhajbenali</a:t>
            </a:r>
            <a:endParaRPr lang="en" sz="2000" dirty="0">
              <a:solidFill>
                <a:schemeClr val="tx1"/>
              </a:solidFill>
              <a:latin typeface="Aptos" panose="020B0004020202020204" pitchFamily="34" charset="0"/>
              <a:cs typeface="Andalus" panose="02020603050405020304" pitchFamily="18" charset="-78"/>
            </a:endParaRPr>
          </a:p>
        </p:txBody>
      </p:sp>
      <p:sp>
        <p:nvSpPr>
          <p:cNvPr id="25" name="TextBox 24">
            <a:extLst>
              <a:ext uri="{FF2B5EF4-FFF2-40B4-BE49-F238E27FC236}">
                <a16:creationId xmlns:a16="http://schemas.microsoft.com/office/drawing/2014/main" id="{DD110D67-9EA5-A94A-D24B-851662F5A704}"/>
              </a:ext>
            </a:extLst>
          </p:cNvPr>
          <p:cNvSpPr txBox="1"/>
          <p:nvPr/>
        </p:nvSpPr>
        <p:spPr>
          <a:xfrm>
            <a:off x="4075306" y="6144933"/>
            <a:ext cx="4483634" cy="442674"/>
          </a:xfrm>
          <a:prstGeom prst="roundRect">
            <a:avLst/>
          </a:prstGeom>
          <a:ln>
            <a:solidFill>
              <a:schemeClr val="tx2">
                <a:lumMod val="50000"/>
                <a:lumOff val="5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000" dirty="0">
                <a:solidFill>
                  <a:schemeClr val="tx1"/>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rPr>
              <a:t>Presented by hassane skikri</a:t>
            </a:r>
            <a:endParaRPr lang="fr-FR" sz="2000" dirty="0">
              <a:solidFill>
                <a:schemeClr val="tx1"/>
              </a:solidFill>
              <a:effectLst>
                <a:outerShdw blurRad="38100" dist="38100" dir="2700000" algn="tl">
                  <a:srgbClr val="000000">
                    <a:alpha val="43137"/>
                  </a:srgbClr>
                </a:outerShdw>
              </a:effectLst>
              <a:latin typeface="Andalus" panose="02020603050405020304" pitchFamily="18" charset="-78"/>
              <a:cs typeface="Andalus" panose="02020603050405020304" pitchFamily="18" charset="-78"/>
            </a:endParaRPr>
          </a:p>
        </p:txBody>
      </p:sp>
      <p:pic>
        <p:nvPicPr>
          <p:cNvPr id="2" name="Picture 1" descr="A person looking through a microscope&#10;&#10;Description automatically generated">
            <a:extLst>
              <a:ext uri="{FF2B5EF4-FFF2-40B4-BE49-F238E27FC236}">
                <a16:creationId xmlns:a16="http://schemas.microsoft.com/office/drawing/2014/main" id="{F9746B59-3039-D0BD-F082-AAFE998DE1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2898" y="0"/>
            <a:ext cx="4712898" cy="6858000"/>
          </a:xfrm>
          <a:prstGeom prst="rect">
            <a:avLst/>
          </a:prstGeom>
        </p:spPr>
      </p:pic>
    </p:spTree>
    <p:extLst>
      <p:ext uri="{BB962C8B-B14F-4D97-AF65-F5344CB8AC3E}">
        <p14:creationId xmlns:p14="http://schemas.microsoft.com/office/powerpoint/2010/main" val="3900914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47AE0730-D32E-F3E4-0240-E0969C89A4CA}"/>
              </a:ext>
            </a:extLst>
          </p:cNvPr>
          <p:cNvSpPr/>
          <p:nvPr/>
        </p:nvSpPr>
        <p:spPr>
          <a:xfrm>
            <a:off x="1273612" y="468053"/>
            <a:ext cx="4822388" cy="417037"/>
          </a:xfrm>
          <a:prstGeom prst="rect">
            <a:avLst/>
          </a:prstGeom>
        </p:spPr>
        <p:txBody>
          <a:bodyPr lIns="0" tIns="0" rIns="0" bIns="0" rtlCol="0" anchor="t">
            <a:spAutoFit/>
          </a:bodyPr>
          <a:lstStyle/>
          <a:p>
            <a:pPr algn="ctr">
              <a:lnSpc>
                <a:spcPts val="3000"/>
              </a:lnSpc>
            </a:pPr>
            <a:r>
              <a:rPr lang="en-US" sz="4400" b="1" dirty="0">
                <a:solidFill>
                  <a:srgbClr val="404040"/>
                </a:solidFill>
                <a:latin typeface="Public Sans Bold"/>
              </a:rPr>
              <a:t>Table of Content</a:t>
            </a:r>
          </a:p>
        </p:txBody>
      </p:sp>
      <p:sp>
        <p:nvSpPr>
          <p:cNvPr id="10" name="Shape 1">
            <a:extLst>
              <a:ext uri="{FF2B5EF4-FFF2-40B4-BE49-F238E27FC236}">
                <a16:creationId xmlns:a16="http://schemas.microsoft.com/office/drawing/2014/main" id="{557DAAA1-74BD-9332-BA2F-33F5A3539150}"/>
              </a:ext>
            </a:extLst>
          </p:cNvPr>
          <p:cNvSpPr/>
          <p:nvPr/>
        </p:nvSpPr>
        <p:spPr>
          <a:xfrm>
            <a:off x="583871" y="1299613"/>
            <a:ext cx="524828" cy="524828"/>
          </a:xfrm>
          <a:prstGeom prst="roundRect">
            <a:avLst>
              <a:gd name="adj" fmla="val 18669"/>
            </a:avLst>
          </a:prstGeom>
          <a:solidFill>
            <a:srgbClr val="D5DCF6"/>
          </a:solidFill>
          <a:ln w="7620">
            <a:solidFill>
              <a:srgbClr val="BBC2DC"/>
            </a:solidFill>
            <a:prstDash val="solid"/>
          </a:ln>
        </p:spPr>
      </p:sp>
      <p:sp>
        <p:nvSpPr>
          <p:cNvPr id="11" name="Text 2">
            <a:extLst>
              <a:ext uri="{FF2B5EF4-FFF2-40B4-BE49-F238E27FC236}">
                <a16:creationId xmlns:a16="http://schemas.microsoft.com/office/drawing/2014/main" id="{10E3CE3E-93C2-E76E-2A96-C4ECCAE69D4D}"/>
              </a:ext>
            </a:extLst>
          </p:cNvPr>
          <p:cNvSpPr/>
          <p:nvPr/>
        </p:nvSpPr>
        <p:spPr>
          <a:xfrm>
            <a:off x="773894" y="1377837"/>
            <a:ext cx="144780" cy="368379"/>
          </a:xfrm>
          <a:prstGeom prst="rect">
            <a:avLst/>
          </a:prstGeom>
          <a:noFill/>
          <a:ln/>
        </p:spPr>
        <p:txBody>
          <a:bodyPr wrap="none" lIns="0" tIns="0" rIns="0" bIns="0" rtlCol="0" anchor="t"/>
          <a:lstStyle/>
          <a:p>
            <a:pPr marL="0" indent="0" algn="ctr">
              <a:lnSpc>
                <a:spcPts val="2900"/>
              </a:lnSpc>
              <a:buNone/>
            </a:pPr>
            <a:r>
              <a:rPr lang="en-US" sz="2900" dirty="0">
                <a:solidFill>
                  <a:srgbClr val="3B3535"/>
                </a:solidFill>
                <a:latin typeface="Alexandria Semi Bold" pitchFamily="34" charset="0"/>
                <a:ea typeface="Alexandria Semi Bold" pitchFamily="34" charset="-122"/>
                <a:cs typeface="Alexandria Semi Bold" pitchFamily="34" charset="-120"/>
              </a:rPr>
              <a:t>1</a:t>
            </a:r>
            <a:endParaRPr lang="en-US" sz="2900" dirty="0"/>
          </a:p>
        </p:txBody>
      </p:sp>
      <p:sp>
        <p:nvSpPr>
          <p:cNvPr id="12" name="Text 3">
            <a:extLst>
              <a:ext uri="{FF2B5EF4-FFF2-40B4-BE49-F238E27FC236}">
                <a16:creationId xmlns:a16="http://schemas.microsoft.com/office/drawing/2014/main" id="{B982021E-BE1A-3C5B-4F77-4D6F27856461}"/>
              </a:ext>
            </a:extLst>
          </p:cNvPr>
          <p:cNvSpPr/>
          <p:nvPr/>
        </p:nvSpPr>
        <p:spPr>
          <a:xfrm>
            <a:off x="1341942" y="1377837"/>
            <a:ext cx="3069431" cy="383619"/>
          </a:xfrm>
          <a:prstGeom prst="rect">
            <a:avLst/>
          </a:prstGeom>
          <a:noFill/>
          <a:ln/>
        </p:spPr>
        <p:txBody>
          <a:bodyPr wrap="none" lIns="0" tIns="0" rIns="0" bIns="0" rtlCol="0" anchor="t"/>
          <a:lstStyle/>
          <a:p>
            <a:pPr marL="0" indent="0">
              <a:lnSpc>
                <a:spcPts val="3000"/>
              </a:lnSpc>
              <a:buNone/>
            </a:pPr>
            <a:r>
              <a:rPr lang="en-US" sz="2400" dirty="0" err="1"/>
              <a:t>Intoduction</a:t>
            </a:r>
            <a:endParaRPr lang="en-US" sz="2400" dirty="0"/>
          </a:p>
        </p:txBody>
      </p:sp>
      <p:sp>
        <p:nvSpPr>
          <p:cNvPr id="14" name="Shape 5">
            <a:extLst>
              <a:ext uri="{FF2B5EF4-FFF2-40B4-BE49-F238E27FC236}">
                <a16:creationId xmlns:a16="http://schemas.microsoft.com/office/drawing/2014/main" id="{8AB0BA51-DEBB-DEC4-AB94-F6CCD50274CF}"/>
              </a:ext>
            </a:extLst>
          </p:cNvPr>
          <p:cNvSpPr/>
          <p:nvPr/>
        </p:nvSpPr>
        <p:spPr>
          <a:xfrm>
            <a:off x="583871" y="2120100"/>
            <a:ext cx="524828" cy="524828"/>
          </a:xfrm>
          <a:prstGeom prst="roundRect">
            <a:avLst>
              <a:gd name="adj" fmla="val 18669"/>
            </a:avLst>
          </a:prstGeom>
          <a:solidFill>
            <a:srgbClr val="D5DCF6"/>
          </a:solidFill>
          <a:ln w="7620">
            <a:solidFill>
              <a:srgbClr val="BBC2DC"/>
            </a:solidFill>
            <a:prstDash val="solid"/>
          </a:ln>
        </p:spPr>
      </p:sp>
      <p:sp>
        <p:nvSpPr>
          <p:cNvPr id="15" name="Text 6">
            <a:extLst>
              <a:ext uri="{FF2B5EF4-FFF2-40B4-BE49-F238E27FC236}">
                <a16:creationId xmlns:a16="http://schemas.microsoft.com/office/drawing/2014/main" id="{3F686A43-5099-29BE-6C53-8BB69FC1DE52}"/>
              </a:ext>
            </a:extLst>
          </p:cNvPr>
          <p:cNvSpPr/>
          <p:nvPr/>
        </p:nvSpPr>
        <p:spPr>
          <a:xfrm>
            <a:off x="736271" y="2198325"/>
            <a:ext cx="219908" cy="368379"/>
          </a:xfrm>
          <a:prstGeom prst="rect">
            <a:avLst/>
          </a:prstGeom>
          <a:noFill/>
          <a:ln/>
        </p:spPr>
        <p:txBody>
          <a:bodyPr wrap="none" lIns="0" tIns="0" rIns="0" bIns="0" rtlCol="0" anchor="t"/>
          <a:lstStyle/>
          <a:p>
            <a:pPr marL="0" indent="0" algn="ctr">
              <a:lnSpc>
                <a:spcPts val="2900"/>
              </a:lnSpc>
              <a:buNone/>
            </a:pPr>
            <a:r>
              <a:rPr lang="en-US" sz="2900" dirty="0">
                <a:solidFill>
                  <a:srgbClr val="3B3535"/>
                </a:solidFill>
                <a:latin typeface="Alexandria Semi Bold" pitchFamily="34" charset="0"/>
                <a:ea typeface="Alexandria Semi Bold" pitchFamily="34" charset="-122"/>
                <a:cs typeface="Alexandria Semi Bold" pitchFamily="34" charset="-120"/>
              </a:rPr>
              <a:t>2</a:t>
            </a:r>
            <a:endParaRPr lang="en-US" sz="2900" dirty="0"/>
          </a:p>
        </p:txBody>
      </p:sp>
      <p:sp>
        <p:nvSpPr>
          <p:cNvPr id="16" name="Text 7">
            <a:extLst>
              <a:ext uri="{FF2B5EF4-FFF2-40B4-BE49-F238E27FC236}">
                <a16:creationId xmlns:a16="http://schemas.microsoft.com/office/drawing/2014/main" id="{B0D55748-BFBC-7EE2-8A6A-3C18E52BC8A9}"/>
              </a:ext>
            </a:extLst>
          </p:cNvPr>
          <p:cNvSpPr/>
          <p:nvPr/>
        </p:nvSpPr>
        <p:spPr>
          <a:xfrm>
            <a:off x="1341942" y="2203673"/>
            <a:ext cx="3069431" cy="383619"/>
          </a:xfrm>
          <a:prstGeom prst="rect">
            <a:avLst/>
          </a:prstGeom>
          <a:noFill/>
          <a:ln/>
        </p:spPr>
        <p:txBody>
          <a:bodyPr wrap="none" lIns="0" tIns="0" rIns="0" bIns="0" rtlCol="0" anchor="t"/>
          <a:lstStyle/>
          <a:p>
            <a:pPr>
              <a:lnSpc>
                <a:spcPts val="3000"/>
              </a:lnSpc>
            </a:pPr>
            <a:r>
              <a:rPr lang="en-US" sz="2400" dirty="0"/>
              <a:t>Project Objectives</a:t>
            </a:r>
          </a:p>
        </p:txBody>
      </p:sp>
      <p:sp>
        <p:nvSpPr>
          <p:cNvPr id="18" name="Shape 9">
            <a:extLst>
              <a:ext uri="{FF2B5EF4-FFF2-40B4-BE49-F238E27FC236}">
                <a16:creationId xmlns:a16="http://schemas.microsoft.com/office/drawing/2014/main" id="{537A7D30-2289-96D8-D3AE-D019FA48D0EA}"/>
              </a:ext>
            </a:extLst>
          </p:cNvPr>
          <p:cNvSpPr/>
          <p:nvPr/>
        </p:nvSpPr>
        <p:spPr>
          <a:xfrm>
            <a:off x="583871" y="2887715"/>
            <a:ext cx="524828" cy="524828"/>
          </a:xfrm>
          <a:prstGeom prst="roundRect">
            <a:avLst>
              <a:gd name="adj" fmla="val 18669"/>
            </a:avLst>
          </a:prstGeom>
          <a:solidFill>
            <a:srgbClr val="D5DCF6"/>
          </a:solidFill>
          <a:ln w="7620">
            <a:solidFill>
              <a:srgbClr val="BBC2DC"/>
            </a:solidFill>
            <a:prstDash val="solid"/>
          </a:ln>
        </p:spPr>
      </p:sp>
      <p:sp>
        <p:nvSpPr>
          <p:cNvPr id="19" name="Text 10">
            <a:extLst>
              <a:ext uri="{FF2B5EF4-FFF2-40B4-BE49-F238E27FC236}">
                <a16:creationId xmlns:a16="http://schemas.microsoft.com/office/drawing/2014/main" id="{AD4C1B65-3F9E-933F-5BEB-6CB8C840269D}"/>
              </a:ext>
            </a:extLst>
          </p:cNvPr>
          <p:cNvSpPr/>
          <p:nvPr/>
        </p:nvSpPr>
        <p:spPr>
          <a:xfrm>
            <a:off x="736152" y="2965939"/>
            <a:ext cx="220266" cy="368379"/>
          </a:xfrm>
          <a:prstGeom prst="rect">
            <a:avLst/>
          </a:prstGeom>
          <a:noFill/>
          <a:ln/>
        </p:spPr>
        <p:txBody>
          <a:bodyPr wrap="none" lIns="0" tIns="0" rIns="0" bIns="0" rtlCol="0" anchor="t"/>
          <a:lstStyle/>
          <a:p>
            <a:pPr marL="0" indent="0" algn="ctr">
              <a:lnSpc>
                <a:spcPts val="2900"/>
              </a:lnSpc>
              <a:buNone/>
            </a:pPr>
            <a:r>
              <a:rPr lang="en-US" sz="2900" dirty="0">
                <a:solidFill>
                  <a:srgbClr val="3B3535"/>
                </a:solidFill>
                <a:latin typeface="Alexandria Semi Bold" pitchFamily="34" charset="0"/>
                <a:ea typeface="Alexandria Semi Bold" pitchFamily="34" charset="-122"/>
                <a:cs typeface="Alexandria Semi Bold" pitchFamily="34" charset="-120"/>
              </a:rPr>
              <a:t>3</a:t>
            </a:r>
            <a:endParaRPr lang="en-US" sz="2900" dirty="0"/>
          </a:p>
        </p:txBody>
      </p:sp>
      <p:sp>
        <p:nvSpPr>
          <p:cNvPr id="20" name="Text 11">
            <a:extLst>
              <a:ext uri="{FF2B5EF4-FFF2-40B4-BE49-F238E27FC236}">
                <a16:creationId xmlns:a16="http://schemas.microsoft.com/office/drawing/2014/main" id="{F5798F74-FBFF-9349-0F6F-4DA44E3D4F8B}"/>
              </a:ext>
            </a:extLst>
          </p:cNvPr>
          <p:cNvSpPr/>
          <p:nvPr/>
        </p:nvSpPr>
        <p:spPr>
          <a:xfrm>
            <a:off x="1341942" y="2976636"/>
            <a:ext cx="3827935" cy="383619"/>
          </a:xfrm>
          <a:prstGeom prst="rect">
            <a:avLst/>
          </a:prstGeom>
          <a:noFill/>
          <a:ln/>
        </p:spPr>
        <p:txBody>
          <a:bodyPr wrap="none" lIns="0" tIns="0" rIns="0" bIns="0" rtlCol="0" anchor="t"/>
          <a:lstStyle/>
          <a:p>
            <a:pPr marL="0" indent="0">
              <a:lnSpc>
                <a:spcPts val="3000"/>
              </a:lnSpc>
              <a:buNone/>
            </a:pPr>
            <a:r>
              <a:rPr lang="en-US" sz="2400" dirty="0"/>
              <a:t>Technologies Utilized</a:t>
            </a:r>
          </a:p>
        </p:txBody>
      </p:sp>
      <p:sp>
        <p:nvSpPr>
          <p:cNvPr id="22" name="Shape 9">
            <a:extLst>
              <a:ext uri="{FF2B5EF4-FFF2-40B4-BE49-F238E27FC236}">
                <a16:creationId xmlns:a16="http://schemas.microsoft.com/office/drawing/2014/main" id="{AE62BF0E-2CB6-EF79-49B9-3BD751245814}"/>
              </a:ext>
            </a:extLst>
          </p:cNvPr>
          <p:cNvSpPr/>
          <p:nvPr/>
        </p:nvSpPr>
        <p:spPr>
          <a:xfrm>
            <a:off x="583871" y="3660678"/>
            <a:ext cx="524828" cy="524828"/>
          </a:xfrm>
          <a:prstGeom prst="roundRect">
            <a:avLst>
              <a:gd name="adj" fmla="val 18669"/>
            </a:avLst>
          </a:prstGeom>
          <a:solidFill>
            <a:srgbClr val="D5DCF6"/>
          </a:solidFill>
          <a:ln w="7620">
            <a:solidFill>
              <a:srgbClr val="BBC2DC"/>
            </a:solidFill>
            <a:prstDash val="solid"/>
          </a:ln>
        </p:spPr>
      </p:sp>
      <p:sp>
        <p:nvSpPr>
          <p:cNvPr id="23" name="Text 10">
            <a:extLst>
              <a:ext uri="{FF2B5EF4-FFF2-40B4-BE49-F238E27FC236}">
                <a16:creationId xmlns:a16="http://schemas.microsoft.com/office/drawing/2014/main" id="{1A878AC8-C33B-5108-73E1-FCDC4B093704}"/>
              </a:ext>
            </a:extLst>
          </p:cNvPr>
          <p:cNvSpPr/>
          <p:nvPr/>
        </p:nvSpPr>
        <p:spPr>
          <a:xfrm>
            <a:off x="736152" y="3738902"/>
            <a:ext cx="220266" cy="368379"/>
          </a:xfrm>
          <a:prstGeom prst="rect">
            <a:avLst/>
          </a:prstGeom>
          <a:noFill/>
          <a:ln/>
        </p:spPr>
        <p:txBody>
          <a:bodyPr wrap="none" lIns="0" tIns="0" rIns="0" bIns="0" rtlCol="0" anchor="t"/>
          <a:lstStyle/>
          <a:p>
            <a:pPr marL="0" indent="0" algn="ctr">
              <a:lnSpc>
                <a:spcPts val="2900"/>
              </a:lnSpc>
              <a:buNone/>
            </a:pPr>
            <a:r>
              <a:rPr lang="en-US" sz="2900" dirty="0">
                <a:solidFill>
                  <a:srgbClr val="3B3535"/>
                </a:solidFill>
                <a:latin typeface="Alexandria Semi Bold" pitchFamily="34" charset="0"/>
                <a:ea typeface="Alexandria Semi Bold" pitchFamily="34" charset="-122"/>
                <a:cs typeface="Alexandria Semi Bold" pitchFamily="34" charset="-120"/>
              </a:rPr>
              <a:t>4</a:t>
            </a:r>
            <a:endParaRPr lang="en-US" sz="2900" dirty="0"/>
          </a:p>
        </p:txBody>
      </p:sp>
      <p:sp>
        <p:nvSpPr>
          <p:cNvPr id="24" name="Text 11">
            <a:extLst>
              <a:ext uri="{FF2B5EF4-FFF2-40B4-BE49-F238E27FC236}">
                <a16:creationId xmlns:a16="http://schemas.microsoft.com/office/drawing/2014/main" id="{6A9EC3AF-4FFE-6193-41A9-6E0C54A10355}"/>
              </a:ext>
            </a:extLst>
          </p:cNvPr>
          <p:cNvSpPr/>
          <p:nvPr/>
        </p:nvSpPr>
        <p:spPr>
          <a:xfrm>
            <a:off x="1341942" y="3749599"/>
            <a:ext cx="6371843" cy="383619"/>
          </a:xfrm>
          <a:prstGeom prst="rect">
            <a:avLst/>
          </a:prstGeom>
          <a:noFill/>
          <a:ln/>
        </p:spPr>
        <p:txBody>
          <a:bodyPr wrap="none" lIns="0" tIns="0" rIns="0" bIns="0" rtlCol="0" anchor="t"/>
          <a:lstStyle/>
          <a:p>
            <a:pPr>
              <a:lnSpc>
                <a:spcPts val="3000"/>
              </a:lnSpc>
            </a:pPr>
            <a:r>
              <a:rPr lang="en-US" sz="2400" dirty="0"/>
              <a:t>From data Collection to Modeling </a:t>
            </a:r>
          </a:p>
        </p:txBody>
      </p:sp>
      <p:sp>
        <p:nvSpPr>
          <p:cNvPr id="30" name="Shape 9">
            <a:extLst>
              <a:ext uri="{FF2B5EF4-FFF2-40B4-BE49-F238E27FC236}">
                <a16:creationId xmlns:a16="http://schemas.microsoft.com/office/drawing/2014/main" id="{5680E15A-0017-F342-D75E-892860705BFF}"/>
              </a:ext>
            </a:extLst>
          </p:cNvPr>
          <p:cNvSpPr/>
          <p:nvPr/>
        </p:nvSpPr>
        <p:spPr>
          <a:xfrm>
            <a:off x="583871" y="4425489"/>
            <a:ext cx="524828" cy="524828"/>
          </a:xfrm>
          <a:prstGeom prst="roundRect">
            <a:avLst>
              <a:gd name="adj" fmla="val 18669"/>
            </a:avLst>
          </a:prstGeom>
          <a:solidFill>
            <a:srgbClr val="D5DCF6"/>
          </a:solidFill>
          <a:ln w="7620">
            <a:solidFill>
              <a:srgbClr val="BBC2DC"/>
            </a:solidFill>
            <a:prstDash val="solid"/>
          </a:ln>
        </p:spPr>
      </p:sp>
      <p:sp>
        <p:nvSpPr>
          <p:cNvPr id="31" name="Text 10">
            <a:extLst>
              <a:ext uri="{FF2B5EF4-FFF2-40B4-BE49-F238E27FC236}">
                <a16:creationId xmlns:a16="http://schemas.microsoft.com/office/drawing/2014/main" id="{E78795C7-7EC2-655A-9B01-23055471ED71}"/>
              </a:ext>
            </a:extLst>
          </p:cNvPr>
          <p:cNvSpPr/>
          <p:nvPr/>
        </p:nvSpPr>
        <p:spPr>
          <a:xfrm>
            <a:off x="736152" y="4503713"/>
            <a:ext cx="220266" cy="368379"/>
          </a:xfrm>
          <a:prstGeom prst="rect">
            <a:avLst/>
          </a:prstGeom>
          <a:noFill/>
          <a:ln/>
        </p:spPr>
        <p:txBody>
          <a:bodyPr wrap="none" lIns="0" tIns="0" rIns="0" bIns="0" rtlCol="0" anchor="t"/>
          <a:lstStyle/>
          <a:p>
            <a:pPr marL="0" indent="0" algn="ctr">
              <a:lnSpc>
                <a:spcPts val="2900"/>
              </a:lnSpc>
              <a:buNone/>
            </a:pPr>
            <a:r>
              <a:rPr lang="en-US" sz="2900" dirty="0">
                <a:solidFill>
                  <a:srgbClr val="3B3535"/>
                </a:solidFill>
                <a:latin typeface="Alexandria Semi Bold" pitchFamily="34" charset="0"/>
                <a:ea typeface="Alexandria Semi Bold" pitchFamily="34" charset="-122"/>
                <a:cs typeface="Alexandria Semi Bold" pitchFamily="34" charset="-120"/>
              </a:rPr>
              <a:t>5</a:t>
            </a:r>
            <a:endParaRPr lang="en-US" sz="2900" dirty="0"/>
          </a:p>
        </p:txBody>
      </p:sp>
      <p:sp>
        <p:nvSpPr>
          <p:cNvPr id="32" name="Text 11">
            <a:extLst>
              <a:ext uri="{FF2B5EF4-FFF2-40B4-BE49-F238E27FC236}">
                <a16:creationId xmlns:a16="http://schemas.microsoft.com/office/drawing/2014/main" id="{B99A03EE-BEB7-D5A5-078B-F84BFA10F999}"/>
              </a:ext>
            </a:extLst>
          </p:cNvPr>
          <p:cNvSpPr/>
          <p:nvPr/>
        </p:nvSpPr>
        <p:spPr>
          <a:xfrm>
            <a:off x="1341942" y="4514410"/>
            <a:ext cx="6371843" cy="383619"/>
          </a:xfrm>
          <a:prstGeom prst="rect">
            <a:avLst/>
          </a:prstGeom>
          <a:noFill/>
          <a:ln/>
        </p:spPr>
        <p:txBody>
          <a:bodyPr wrap="none" lIns="0" tIns="0" rIns="0" bIns="0" rtlCol="0" anchor="t"/>
          <a:lstStyle/>
          <a:p>
            <a:pPr marL="0" indent="0">
              <a:lnSpc>
                <a:spcPts val="3000"/>
              </a:lnSpc>
              <a:buNone/>
            </a:pPr>
            <a:r>
              <a:rPr lang="en-GB" sz="2400" dirty="0"/>
              <a:t>Model Performance &amp; Evaluation</a:t>
            </a:r>
            <a:endParaRPr lang="en-US" sz="2400" dirty="0"/>
          </a:p>
        </p:txBody>
      </p:sp>
      <p:sp>
        <p:nvSpPr>
          <p:cNvPr id="33" name="Shape 9">
            <a:extLst>
              <a:ext uri="{FF2B5EF4-FFF2-40B4-BE49-F238E27FC236}">
                <a16:creationId xmlns:a16="http://schemas.microsoft.com/office/drawing/2014/main" id="{058EF62F-8B29-2690-A1BE-690366F1AC71}"/>
              </a:ext>
            </a:extLst>
          </p:cNvPr>
          <p:cNvSpPr/>
          <p:nvPr/>
        </p:nvSpPr>
        <p:spPr>
          <a:xfrm>
            <a:off x="583871" y="5210753"/>
            <a:ext cx="524828" cy="524828"/>
          </a:xfrm>
          <a:prstGeom prst="roundRect">
            <a:avLst>
              <a:gd name="adj" fmla="val 18669"/>
            </a:avLst>
          </a:prstGeom>
          <a:solidFill>
            <a:srgbClr val="D5DCF6"/>
          </a:solidFill>
          <a:ln w="7620">
            <a:solidFill>
              <a:srgbClr val="BBC2DC"/>
            </a:solidFill>
            <a:prstDash val="solid"/>
          </a:ln>
        </p:spPr>
      </p:sp>
      <p:sp>
        <p:nvSpPr>
          <p:cNvPr id="34" name="Text 10">
            <a:extLst>
              <a:ext uri="{FF2B5EF4-FFF2-40B4-BE49-F238E27FC236}">
                <a16:creationId xmlns:a16="http://schemas.microsoft.com/office/drawing/2014/main" id="{EEF30F8C-6CF1-61D5-3BB1-C01CBDCDBA8E}"/>
              </a:ext>
            </a:extLst>
          </p:cNvPr>
          <p:cNvSpPr/>
          <p:nvPr/>
        </p:nvSpPr>
        <p:spPr>
          <a:xfrm>
            <a:off x="736152" y="5288977"/>
            <a:ext cx="220266" cy="368379"/>
          </a:xfrm>
          <a:prstGeom prst="rect">
            <a:avLst/>
          </a:prstGeom>
          <a:noFill/>
          <a:ln/>
        </p:spPr>
        <p:txBody>
          <a:bodyPr wrap="none" lIns="0" tIns="0" rIns="0" bIns="0" rtlCol="0" anchor="t"/>
          <a:lstStyle/>
          <a:p>
            <a:pPr marL="0" indent="0" algn="ctr">
              <a:lnSpc>
                <a:spcPts val="2900"/>
              </a:lnSpc>
              <a:buNone/>
            </a:pPr>
            <a:r>
              <a:rPr lang="en-US" sz="2900" dirty="0">
                <a:solidFill>
                  <a:srgbClr val="3B3535"/>
                </a:solidFill>
                <a:latin typeface="Alexandria Semi Bold" pitchFamily="34" charset="0"/>
                <a:ea typeface="Alexandria Semi Bold" pitchFamily="34" charset="-122"/>
                <a:cs typeface="Alexandria Semi Bold" pitchFamily="34" charset="-120"/>
              </a:rPr>
              <a:t>6</a:t>
            </a:r>
            <a:endParaRPr lang="en-US" sz="2900" dirty="0"/>
          </a:p>
        </p:txBody>
      </p:sp>
      <p:sp>
        <p:nvSpPr>
          <p:cNvPr id="35" name="Text 11">
            <a:extLst>
              <a:ext uri="{FF2B5EF4-FFF2-40B4-BE49-F238E27FC236}">
                <a16:creationId xmlns:a16="http://schemas.microsoft.com/office/drawing/2014/main" id="{D2977C35-907F-83F2-954D-248CE9F6CCC8}"/>
              </a:ext>
            </a:extLst>
          </p:cNvPr>
          <p:cNvSpPr/>
          <p:nvPr/>
        </p:nvSpPr>
        <p:spPr>
          <a:xfrm>
            <a:off x="1341942" y="5299674"/>
            <a:ext cx="6371843" cy="383619"/>
          </a:xfrm>
          <a:prstGeom prst="rect">
            <a:avLst/>
          </a:prstGeom>
          <a:noFill/>
          <a:ln/>
        </p:spPr>
        <p:txBody>
          <a:bodyPr wrap="none" lIns="0" tIns="0" rIns="0" bIns="0" rtlCol="0" anchor="t"/>
          <a:lstStyle/>
          <a:p>
            <a:pPr marL="0" indent="0">
              <a:lnSpc>
                <a:spcPts val="3000"/>
              </a:lnSpc>
              <a:buNone/>
            </a:pPr>
            <a:r>
              <a:rPr lang="en-GB" sz="2400" dirty="0"/>
              <a:t>Web Development </a:t>
            </a:r>
            <a:endParaRPr lang="en-US" sz="2400" dirty="0"/>
          </a:p>
        </p:txBody>
      </p:sp>
      <p:sp>
        <p:nvSpPr>
          <p:cNvPr id="36" name="Shape 9">
            <a:extLst>
              <a:ext uri="{FF2B5EF4-FFF2-40B4-BE49-F238E27FC236}">
                <a16:creationId xmlns:a16="http://schemas.microsoft.com/office/drawing/2014/main" id="{E3058AE2-FBD3-6847-9937-A4551451BD0F}"/>
              </a:ext>
            </a:extLst>
          </p:cNvPr>
          <p:cNvSpPr/>
          <p:nvPr/>
        </p:nvSpPr>
        <p:spPr>
          <a:xfrm>
            <a:off x="583871" y="5975564"/>
            <a:ext cx="524828" cy="524828"/>
          </a:xfrm>
          <a:prstGeom prst="roundRect">
            <a:avLst>
              <a:gd name="adj" fmla="val 18669"/>
            </a:avLst>
          </a:prstGeom>
          <a:solidFill>
            <a:srgbClr val="D5DCF6"/>
          </a:solidFill>
          <a:ln w="7620">
            <a:solidFill>
              <a:srgbClr val="BBC2DC"/>
            </a:solidFill>
            <a:prstDash val="solid"/>
          </a:ln>
        </p:spPr>
      </p:sp>
      <p:sp>
        <p:nvSpPr>
          <p:cNvPr id="37" name="Text 10">
            <a:extLst>
              <a:ext uri="{FF2B5EF4-FFF2-40B4-BE49-F238E27FC236}">
                <a16:creationId xmlns:a16="http://schemas.microsoft.com/office/drawing/2014/main" id="{78046452-CED9-1480-367F-DBE504DAB2DA}"/>
              </a:ext>
            </a:extLst>
          </p:cNvPr>
          <p:cNvSpPr/>
          <p:nvPr/>
        </p:nvSpPr>
        <p:spPr>
          <a:xfrm>
            <a:off x="736152" y="6053788"/>
            <a:ext cx="220266" cy="368379"/>
          </a:xfrm>
          <a:prstGeom prst="rect">
            <a:avLst/>
          </a:prstGeom>
          <a:noFill/>
          <a:ln/>
        </p:spPr>
        <p:txBody>
          <a:bodyPr wrap="none" lIns="0" tIns="0" rIns="0" bIns="0" rtlCol="0" anchor="t"/>
          <a:lstStyle/>
          <a:p>
            <a:pPr marL="0" indent="0" algn="ctr">
              <a:lnSpc>
                <a:spcPts val="2900"/>
              </a:lnSpc>
              <a:buNone/>
            </a:pPr>
            <a:r>
              <a:rPr lang="en-US" sz="2900" dirty="0">
                <a:solidFill>
                  <a:srgbClr val="3B3535"/>
                </a:solidFill>
                <a:latin typeface="Alexandria Semi Bold" pitchFamily="34" charset="0"/>
                <a:ea typeface="Alexandria Semi Bold" pitchFamily="34" charset="-122"/>
                <a:cs typeface="Alexandria Semi Bold" pitchFamily="34" charset="-120"/>
              </a:rPr>
              <a:t>7</a:t>
            </a:r>
            <a:endParaRPr lang="en-US" sz="2900" dirty="0"/>
          </a:p>
        </p:txBody>
      </p:sp>
      <p:sp>
        <p:nvSpPr>
          <p:cNvPr id="38" name="Text 11">
            <a:extLst>
              <a:ext uri="{FF2B5EF4-FFF2-40B4-BE49-F238E27FC236}">
                <a16:creationId xmlns:a16="http://schemas.microsoft.com/office/drawing/2014/main" id="{C458FE4B-9969-F9FE-7373-FD243D3BA1E5}"/>
              </a:ext>
            </a:extLst>
          </p:cNvPr>
          <p:cNvSpPr/>
          <p:nvPr/>
        </p:nvSpPr>
        <p:spPr>
          <a:xfrm>
            <a:off x="1341942" y="6064485"/>
            <a:ext cx="6371843" cy="383619"/>
          </a:xfrm>
          <a:prstGeom prst="rect">
            <a:avLst/>
          </a:prstGeom>
          <a:noFill/>
          <a:ln/>
        </p:spPr>
        <p:txBody>
          <a:bodyPr wrap="none" lIns="0" tIns="0" rIns="0" bIns="0" rtlCol="0" anchor="t"/>
          <a:lstStyle/>
          <a:p>
            <a:pPr marL="0" indent="0">
              <a:lnSpc>
                <a:spcPts val="3000"/>
              </a:lnSpc>
              <a:buNone/>
            </a:pPr>
            <a:r>
              <a:rPr lang="en-GB" sz="2400" dirty="0"/>
              <a:t>Conclusion</a:t>
            </a:r>
            <a:endParaRPr lang="en-US" sz="2400" dirty="0"/>
          </a:p>
        </p:txBody>
      </p:sp>
      <p:pic>
        <p:nvPicPr>
          <p:cNvPr id="42" name="Picture 41" descr="A person looking through a microscope&#10;&#10;Description automatically generated">
            <a:extLst>
              <a:ext uri="{FF2B5EF4-FFF2-40B4-BE49-F238E27FC236}">
                <a16:creationId xmlns:a16="http://schemas.microsoft.com/office/drawing/2014/main" id="{75C936E2-C4B4-91AC-F0CB-09F382A4DD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4271" y="-16457"/>
            <a:ext cx="4712898" cy="6858000"/>
          </a:xfrm>
          <a:prstGeom prst="rect">
            <a:avLst/>
          </a:prstGeom>
        </p:spPr>
      </p:pic>
    </p:spTree>
    <p:extLst>
      <p:ext uri="{BB962C8B-B14F-4D97-AF65-F5344CB8AC3E}">
        <p14:creationId xmlns:p14="http://schemas.microsoft.com/office/powerpoint/2010/main" val="205624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500"/>
                                        <p:tgtEl>
                                          <p:spTgt spid="34"/>
                                        </p:tgtEl>
                                      </p:cBhvr>
                                    </p:animEffect>
                                  </p:childTnLst>
                                </p:cTn>
                              </p:par>
                              <p:par>
                                <p:cTn id="63" presetID="10" presetClass="entr" presetSubtype="0" fill="hold"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fade">
                                      <p:cBhvr>
                                        <p:cTn id="68" dur="500"/>
                                        <p:tgtEl>
                                          <p:spTgt spid="3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fade">
                                      <p:cBhvr>
                                        <p:cTn id="73" dur="500"/>
                                        <p:tgtEl>
                                          <p:spTgt spid="37"/>
                                        </p:tgtEl>
                                      </p:cBhvr>
                                    </p:animEffect>
                                  </p:childTnLst>
                                </p:cTn>
                              </p:par>
                              <p:par>
                                <p:cTn id="74" presetID="10" presetClass="entr" presetSubtype="0" fill="hold" nodeType="with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fade">
                                      <p:cBhvr>
                                        <p:cTn id="76" dur="500"/>
                                        <p:tgtEl>
                                          <p:spTgt spid="3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P spid="16" grpId="0" animBg="1"/>
      <p:bldP spid="19" grpId="0" animBg="1"/>
      <p:bldP spid="20" grpId="0" animBg="1"/>
      <p:bldP spid="23" grpId="0" animBg="1"/>
      <p:bldP spid="24" grpId="0" animBg="1"/>
      <p:bldP spid="31" grpId="0" animBg="1"/>
      <p:bldP spid="32" grpId="0" animBg="1"/>
      <p:bldP spid="34" grpId="0" animBg="1"/>
      <p:bldP spid="35" grpId="0" animBg="1"/>
      <p:bldP spid="37" grpId="0" animBg="1"/>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AF501683-F54F-B6AF-346A-3640A231515C}"/>
              </a:ext>
            </a:extLst>
          </p:cNvPr>
          <p:cNvSpPr/>
          <p:nvPr/>
        </p:nvSpPr>
        <p:spPr>
          <a:xfrm>
            <a:off x="3684806" y="1133674"/>
            <a:ext cx="4822388" cy="437492"/>
          </a:xfrm>
          <a:prstGeom prst="rect">
            <a:avLst/>
          </a:prstGeom>
        </p:spPr>
        <p:txBody>
          <a:bodyPr lIns="0" tIns="0" rIns="0" bIns="0" rtlCol="0" anchor="t">
            <a:spAutoFit/>
          </a:bodyPr>
          <a:lstStyle/>
          <a:p>
            <a:pPr algn="ctr">
              <a:lnSpc>
                <a:spcPts val="3000"/>
              </a:lnSpc>
            </a:pPr>
            <a:r>
              <a:rPr lang="en-US" sz="4400" b="1" dirty="0">
                <a:solidFill>
                  <a:srgbClr val="404040"/>
                </a:solidFill>
                <a:latin typeface="Public Sans Bold"/>
              </a:rPr>
              <a:t>1. Introduction</a:t>
            </a:r>
          </a:p>
        </p:txBody>
      </p:sp>
      <p:sp>
        <p:nvSpPr>
          <p:cNvPr id="10" name="Rectangle: Rounded Corners 9">
            <a:extLst>
              <a:ext uri="{FF2B5EF4-FFF2-40B4-BE49-F238E27FC236}">
                <a16:creationId xmlns:a16="http://schemas.microsoft.com/office/drawing/2014/main" id="{A8B3ED7E-EC3F-4C88-BF5A-48C4DA277078}"/>
              </a:ext>
            </a:extLst>
          </p:cNvPr>
          <p:cNvSpPr/>
          <p:nvPr/>
        </p:nvSpPr>
        <p:spPr>
          <a:xfrm>
            <a:off x="481586" y="2289464"/>
            <a:ext cx="11228828" cy="3434862"/>
          </a:xfrm>
          <a:prstGeom prst="roundRect">
            <a:avLst/>
          </a:prstGeom>
          <a:noFill/>
          <a:ln>
            <a:solidFill>
              <a:srgbClr val="D5DCF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3200" dirty="0">
                <a:solidFill>
                  <a:schemeClr val="tx1"/>
                </a:solidFill>
              </a:rPr>
              <a:t>AI in healthcare is transforming diagnostics, treatment, and patient care by enabling faster and more accurate data analysis. Through machine learning and deep learning, AI systems can identify patterns in medical images and records, aiding early disease detection and improving outcomes.</a:t>
            </a:r>
            <a:endParaRPr lang="en-GB" sz="3200" dirty="0">
              <a:solidFill>
                <a:schemeClr val="tx1"/>
              </a:solidFill>
            </a:endParaRPr>
          </a:p>
        </p:txBody>
      </p:sp>
      <p:pic>
        <p:nvPicPr>
          <p:cNvPr id="7" name="Image 0" descr="preencoded.png">
            <a:extLst>
              <a:ext uri="{FF2B5EF4-FFF2-40B4-BE49-F238E27FC236}">
                <a16:creationId xmlns:a16="http://schemas.microsoft.com/office/drawing/2014/main" id="{8633874C-B2FE-1633-1061-83F3B82F1795}"/>
              </a:ext>
            </a:extLst>
          </p:cNvPr>
          <p:cNvPicPr>
            <a:picLocks noChangeAspect="1"/>
          </p:cNvPicPr>
          <p:nvPr/>
        </p:nvPicPr>
        <p:blipFill>
          <a:blip r:embed="rId2"/>
          <a:stretch>
            <a:fillRect/>
          </a:stretch>
        </p:blipFill>
        <p:spPr>
          <a:xfrm>
            <a:off x="12192000" y="-276045"/>
            <a:ext cx="5486400" cy="8229600"/>
          </a:xfrm>
          <a:prstGeom prst="rect">
            <a:avLst/>
          </a:prstGeom>
        </p:spPr>
      </p:pic>
    </p:spTree>
    <p:extLst>
      <p:ext uri="{BB962C8B-B14F-4D97-AF65-F5344CB8AC3E}">
        <p14:creationId xmlns:p14="http://schemas.microsoft.com/office/powerpoint/2010/main" val="328223880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5DE542D2-DA5C-D4F8-49CE-48C93A83FD1A}"/>
              </a:ext>
            </a:extLst>
          </p:cNvPr>
          <p:cNvPicPr>
            <a:picLocks noChangeAspect="1"/>
          </p:cNvPicPr>
          <p:nvPr/>
        </p:nvPicPr>
        <p:blipFill>
          <a:blip r:embed="rId3"/>
          <a:stretch>
            <a:fillRect/>
          </a:stretch>
        </p:blipFill>
        <p:spPr>
          <a:xfrm>
            <a:off x="8458200" y="0"/>
            <a:ext cx="5486400" cy="8229600"/>
          </a:xfrm>
          <a:prstGeom prst="rect">
            <a:avLst/>
          </a:prstGeom>
        </p:spPr>
      </p:pic>
      <p:sp>
        <p:nvSpPr>
          <p:cNvPr id="5" name="Text 0">
            <a:extLst>
              <a:ext uri="{FF2B5EF4-FFF2-40B4-BE49-F238E27FC236}">
                <a16:creationId xmlns:a16="http://schemas.microsoft.com/office/drawing/2014/main" id="{F6281F4D-BF77-FDCE-80F0-D1DD30544038}"/>
              </a:ext>
            </a:extLst>
          </p:cNvPr>
          <p:cNvSpPr/>
          <p:nvPr/>
        </p:nvSpPr>
        <p:spPr>
          <a:xfrm>
            <a:off x="1681174" y="479038"/>
            <a:ext cx="5951458" cy="410433"/>
          </a:xfrm>
          <a:prstGeom prst="rect">
            <a:avLst/>
          </a:prstGeom>
        </p:spPr>
        <p:txBody>
          <a:bodyPr lIns="0" tIns="0" rIns="0" bIns="0" rtlCol="0" anchor="t">
            <a:spAutoFit/>
          </a:bodyPr>
          <a:lstStyle/>
          <a:p>
            <a:pPr algn="ctr">
              <a:lnSpc>
                <a:spcPts val="3000"/>
              </a:lnSpc>
            </a:pPr>
            <a:r>
              <a:rPr lang="en-US" sz="3600" b="1" dirty="0">
                <a:solidFill>
                  <a:srgbClr val="404040"/>
                </a:solidFill>
                <a:latin typeface="Public Sans Bold"/>
              </a:rPr>
              <a:t>2. Project Objectives</a:t>
            </a:r>
          </a:p>
        </p:txBody>
      </p:sp>
      <p:pic>
        <p:nvPicPr>
          <p:cNvPr id="6" name="Image 1" descr="preencoded.png">
            <a:extLst>
              <a:ext uri="{FF2B5EF4-FFF2-40B4-BE49-F238E27FC236}">
                <a16:creationId xmlns:a16="http://schemas.microsoft.com/office/drawing/2014/main" id="{E648D6D3-2CC0-AF0C-1DC5-6A48CF59ADC9}"/>
              </a:ext>
            </a:extLst>
          </p:cNvPr>
          <p:cNvPicPr>
            <a:picLocks noChangeAspect="1"/>
          </p:cNvPicPr>
          <p:nvPr/>
        </p:nvPicPr>
        <p:blipFill>
          <a:blip r:embed="rId4"/>
          <a:stretch>
            <a:fillRect/>
          </a:stretch>
        </p:blipFill>
        <p:spPr>
          <a:xfrm>
            <a:off x="773608" y="1202908"/>
            <a:ext cx="1123807" cy="1696391"/>
          </a:xfrm>
          <a:prstGeom prst="rect">
            <a:avLst/>
          </a:prstGeom>
        </p:spPr>
      </p:pic>
      <p:sp>
        <p:nvSpPr>
          <p:cNvPr id="7" name="Text 1">
            <a:extLst>
              <a:ext uri="{FF2B5EF4-FFF2-40B4-BE49-F238E27FC236}">
                <a16:creationId xmlns:a16="http://schemas.microsoft.com/office/drawing/2014/main" id="{F2191A24-D913-6385-2F8F-13AB88075FC7}"/>
              </a:ext>
            </a:extLst>
          </p:cNvPr>
          <p:cNvSpPr/>
          <p:nvPr/>
        </p:nvSpPr>
        <p:spPr>
          <a:xfrm>
            <a:off x="2226241" y="1266488"/>
            <a:ext cx="3015120" cy="348656"/>
          </a:xfrm>
          <a:prstGeom prst="rect">
            <a:avLst/>
          </a:prstGeom>
          <a:noFill/>
          <a:ln/>
        </p:spPr>
        <p:txBody>
          <a:bodyPr wrap="none" lIns="0" tIns="0" rIns="0" bIns="0" rtlCol="0" anchor="t"/>
          <a:lstStyle/>
          <a:p>
            <a:pPr marL="0" indent="0" algn="l">
              <a:lnSpc>
                <a:spcPts val="2900"/>
              </a:lnSpc>
              <a:buNone/>
            </a:pPr>
            <a:r>
              <a:rPr lang="en-US" sz="2300" dirty="0">
                <a:solidFill>
                  <a:srgbClr val="3B3535"/>
                </a:solidFill>
                <a:latin typeface="Alexandria Semi Bold" pitchFamily="34" charset="0"/>
                <a:ea typeface="Alexandria Semi Bold" pitchFamily="34" charset="-122"/>
                <a:cs typeface="Alexandria Semi Bold" pitchFamily="34" charset="-120"/>
              </a:rPr>
              <a:t>Develop AI Platform</a:t>
            </a:r>
            <a:endParaRPr lang="en-US" sz="2300" dirty="0"/>
          </a:p>
        </p:txBody>
      </p:sp>
      <p:sp>
        <p:nvSpPr>
          <p:cNvPr id="8" name="Text 2">
            <a:extLst>
              <a:ext uri="{FF2B5EF4-FFF2-40B4-BE49-F238E27FC236}">
                <a16:creationId xmlns:a16="http://schemas.microsoft.com/office/drawing/2014/main" id="{3D0A4273-EA13-42BA-99B9-075035B4A648}"/>
              </a:ext>
            </a:extLst>
          </p:cNvPr>
          <p:cNvSpPr/>
          <p:nvPr/>
        </p:nvSpPr>
        <p:spPr>
          <a:xfrm>
            <a:off x="2235414" y="1665376"/>
            <a:ext cx="5951459" cy="678333"/>
          </a:xfrm>
          <a:prstGeom prst="rect">
            <a:avLst/>
          </a:prstGeom>
          <a:noFill/>
          <a:ln/>
        </p:spPr>
        <p:txBody>
          <a:bodyPr wrap="square" lIns="0" tIns="0" rIns="0" bIns="0" rtlCol="0" anchor="t"/>
          <a:lstStyle/>
          <a:p>
            <a:pPr>
              <a:lnSpc>
                <a:spcPts val="2800"/>
              </a:lnSpc>
            </a:pPr>
            <a:r>
              <a:rPr lang="en-US" sz="1600" dirty="0"/>
              <a:t>create a robust and scalable AI system capable of analyzing various medical data types. Machines require data to be processed in a way they can understand</a:t>
            </a:r>
            <a:endParaRPr lang="en-US" sz="1750" dirty="0"/>
          </a:p>
        </p:txBody>
      </p:sp>
      <p:pic>
        <p:nvPicPr>
          <p:cNvPr id="9" name="Image 2" descr="preencoded.png">
            <a:extLst>
              <a:ext uri="{FF2B5EF4-FFF2-40B4-BE49-F238E27FC236}">
                <a16:creationId xmlns:a16="http://schemas.microsoft.com/office/drawing/2014/main" id="{9175AF96-3A5B-C7B7-2376-B8502534531B}"/>
              </a:ext>
            </a:extLst>
          </p:cNvPr>
          <p:cNvPicPr>
            <a:picLocks noChangeAspect="1"/>
          </p:cNvPicPr>
          <p:nvPr/>
        </p:nvPicPr>
        <p:blipFill>
          <a:blip r:embed="rId5"/>
          <a:stretch>
            <a:fillRect/>
          </a:stretch>
        </p:blipFill>
        <p:spPr>
          <a:xfrm>
            <a:off x="773608" y="2899299"/>
            <a:ext cx="1123807" cy="1917329"/>
          </a:xfrm>
          <a:prstGeom prst="rect">
            <a:avLst/>
          </a:prstGeom>
        </p:spPr>
      </p:pic>
      <p:sp>
        <p:nvSpPr>
          <p:cNvPr id="10" name="Text 3">
            <a:extLst>
              <a:ext uri="{FF2B5EF4-FFF2-40B4-BE49-F238E27FC236}">
                <a16:creationId xmlns:a16="http://schemas.microsoft.com/office/drawing/2014/main" id="{58D8F310-415C-6C67-7A02-BE1FB50F56FE}"/>
              </a:ext>
            </a:extLst>
          </p:cNvPr>
          <p:cNvSpPr/>
          <p:nvPr/>
        </p:nvSpPr>
        <p:spPr>
          <a:xfrm>
            <a:off x="2234544" y="3111305"/>
            <a:ext cx="2957492" cy="348656"/>
          </a:xfrm>
          <a:prstGeom prst="rect">
            <a:avLst/>
          </a:prstGeom>
          <a:noFill/>
          <a:ln/>
        </p:spPr>
        <p:txBody>
          <a:bodyPr wrap="none" lIns="0" tIns="0" rIns="0" bIns="0" rtlCol="0" anchor="t"/>
          <a:lstStyle/>
          <a:p>
            <a:pPr marL="0" indent="0" algn="l">
              <a:lnSpc>
                <a:spcPts val="2900"/>
              </a:lnSpc>
              <a:buNone/>
            </a:pPr>
            <a:r>
              <a:rPr lang="en-US" sz="2300" dirty="0">
                <a:solidFill>
                  <a:srgbClr val="3B3535"/>
                </a:solidFill>
                <a:latin typeface="Alexandria Semi Bold" pitchFamily="34" charset="0"/>
                <a:ea typeface="Alexandria Semi Bold" pitchFamily="34" charset="-122"/>
                <a:cs typeface="Alexandria Semi Bold" pitchFamily="34" charset="-120"/>
              </a:rPr>
              <a:t>Enhance Accuracy</a:t>
            </a:r>
            <a:endParaRPr lang="en-US" sz="2300" dirty="0"/>
          </a:p>
        </p:txBody>
      </p:sp>
      <p:sp>
        <p:nvSpPr>
          <p:cNvPr id="11" name="Text 4">
            <a:extLst>
              <a:ext uri="{FF2B5EF4-FFF2-40B4-BE49-F238E27FC236}">
                <a16:creationId xmlns:a16="http://schemas.microsoft.com/office/drawing/2014/main" id="{E54093D5-19C4-4FF9-84AF-F19EA05769CD}"/>
              </a:ext>
            </a:extLst>
          </p:cNvPr>
          <p:cNvSpPr/>
          <p:nvPr/>
        </p:nvSpPr>
        <p:spPr>
          <a:xfrm>
            <a:off x="2234544" y="3587121"/>
            <a:ext cx="6053671" cy="1017500"/>
          </a:xfrm>
          <a:prstGeom prst="rect">
            <a:avLst/>
          </a:prstGeom>
          <a:noFill/>
          <a:ln/>
        </p:spPr>
        <p:txBody>
          <a:bodyPr wrap="square" lIns="0" tIns="0" rIns="0" bIns="0" rtlCol="0" anchor="t"/>
          <a:lstStyle/>
          <a:p>
            <a:pPr>
              <a:lnSpc>
                <a:spcPts val="2800"/>
              </a:lnSpc>
            </a:pPr>
            <a:r>
              <a:rPr lang="en-US" sz="1600" dirty="0"/>
              <a:t>improve diagnostic accuracy using advanced machine learning and deep learning algorithms. Since we're dealing with human health, achieving high accuracy is crucial to minimize errors.</a:t>
            </a:r>
            <a:endParaRPr lang="en-US" sz="1750" dirty="0"/>
          </a:p>
        </p:txBody>
      </p:sp>
      <p:pic>
        <p:nvPicPr>
          <p:cNvPr id="12" name="Image 3" descr="preencoded.png">
            <a:extLst>
              <a:ext uri="{FF2B5EF4-FFF2-40B4-BE49-F238E27FC236}">
                <a16:creationId xmlns:a16="http://schemas.microsoft.com/office/drawing/2014/main" id="{D9FC8378-0FF4-8669-A14B-7D6687C64234}"/>
              </a:ext>
            </a:extLst>
          </p:cNvPr>
          <p:cNvPicPr>
            <a:picLocks noChangeAspect="1"/>
          </p:cNvPicPr>
          <p:nvPr/>
        </p:nvPicPr>
        <p:blipFill>
          <a:blip r:embed="rId6"/>
          <a:stretch>
            <a:fillRect/>
          </a:stretch>
        </p:blipFill>
        <p:spPr>
          <a:xfrm>
            <a:off x="773608" y="4816627"/>
            <a:ext cx="1123807" cy="1917329"/>
          </a:xfrm>
          <a:prstGeom prst="rect">
            <a:avLst/>
          </a:prstGeom>
        </p:spPr>
      </p:pic>
      <p:sp>
        <p:nvSpPr>
          <p:cNvPr id="13" name="Text 5">
            <a:extLst>
              <a:ext uri="{FF2B5EF4-FFF2-40B4-BE49-F238E27FC236}">
                <a16:creationId xmlns:a16="http://schemas.microsoft.com/office/drawing/2014/main" id="{5BF650F7-6B80-1278-70A3-18C31D3282DA}"/>
              </a:ext>
            </a:extLst>
          </p:cNvPr>
          <p:cNvSpPr/>
          <p:nvPr/>
        </p:nvSpPr>
        <p:spPr>
          <a:xfrm>
            <a:off x="2234544" y="5028635"/>
            <a:ext cx="3204454" cy="348656"/>
          </a:xfrm>
          <a:prstGeom prst="rect">
            <a:avLst/>
          </a:prstGeom>
          <a:noFill/>
          <a:ln/>
        </p:spPr>
        <p:txBody>
          <a:bodyPr wrap="none" lIns="0" tIns="0" rIns="0" bIns="0" rtlCol="0" anchor="t"/>
          <a:lstStyle/>
          <a:p>
            <a:pPr marL="0" indent="0" algn="l">
              <a:lnSpc>
                <a:spcPts val="2900"/>
              </a:lnSpc>
              <a:buNone/>
            </a:pPr>
            <a:r>
              <a:rPr lang="en-US" sz="2300" dirty="0">
                <a:solidFill>
                  <a:srgbClr val="3B3535"/>
                </a:solidFill>
                <a:latin typeface="Alexandria Semi Bold" pitchFamily="34" charset="0"/>
                <a:ea typeface="Alexandria Semi Bold" pitchFamily="34" charset="-122"/>
                <a:cs typeface="Alexandria Semi Bold" pitchFamily="34" charset="-120"/>
              </a:rPr>
              <a:t>Increase Accessibility</a:t>
            </a:r>
            <a:endParaRPr lang="en-US" sz="2300" dirty="0"/>
          </a:p>
        </p:txBody>
      </p:sp>
      <p:sp>
        <p:nvSpPr>
          <p:cNvPr id="14" name="Text 6">
            <a:extLst>
              <a:ext uri="{FF2B5EF4-FFF2-40B4-BE49-F238E27FC236}">
                <a16:creationId xmlns:a16="http://schemas.microsoft.com/office/drawing/2014/main" id="{89B1C6F4-2399-117F-847A-0F99458285C5}"/>
              </a:ext>
            </a:extLst>
          </p:cNvPr>
          <p:cNvSpPr/>
          <p:nvPr/>
        </p:nvSpPr>
        <p:spPr>
          <a:xfrm>
            <a:off x="2234544" y="5504450"/>
            <a:ext cx="6053671" cy="1017500"/>
          </a:xfrm>
          <a:prstGeom prst="rect">
            <a:avLst/>
          </a:prstGeom>
          <a:noFill/>
          <a:ln/>
        </p:spPr>
        <p:txBody>
          <a:bodyPr wrap="square" lIns="0" tIns="0" rIns="0" bIns="0" rtlCol="0" anchor="t"/>
          <a:lstStyle/>
          <a:p>
            <a:pPr>
              <a:lnSpc>
                <a:spcPts val="2800"/>
              </a:lnSpc>
            </a:pPr>
            <a:r>
              <a:rPr lang="en-US" sz="1600" dirty="0"/>
              <a:t>we want to design a user-friendly web application to make our project accessible to everyone. This interface should be intuitive and easily navigable for users of all backgrounds</a:t>
            </a:r>
            <a:endParaRPr lang="en-US" sz="1750" dirty="0"/>
          </a:p>
        </p:txBody>
      </p:sp>
      <p:pic>
        <p:nvPicPr>
          <p:cNvPr id="2" name="Image 0" descr="preencoded.png">
            <a:extLst>
              <a:ext uri="{FF2B5EF4-FFF2-40B4-BE49-F238E27FC236}">
                <a16:creationId xmlns:a16="http://schemas.microsoft.com/office/drawing/2014/main" id="{A258EE38-A415-A02C-8941-8DCC6739F57B}"/>
              </a:ext>
            </a:extLst>
          </p:cNvPr>
          <p:cNvPicPr>
            <a:picLocks noChangeAspect="1"/>
          </p:cNvPicPr>
          <p:nvPr/>
        </p:nvPicPr>
        <p:blipFill>
          <a:blip r:embed="rId7"/>
          <a:stretch>
            <a:fillRect/>
          </a:stretch>
        </p:blipFill>
        <p:spPr>
          <a:xfrm>
            <a:off x="-4792020" y="-4168"/>
            <a:ext cx="4572000" cy="6862168"/>
          </a:xfrm>
          <a:prstGeom prst="rect">
            <a:avLst/>
          </a:prstGeom>
        </p:spPr>
      </p:pic>
    </p:spTree>
    <p:extLst>
      <p:ext uri="{BB962C8B-B14F-4D97-AF65-F5344CB8AC3E}">
        <p14:creationId xmlns:p14="http://schemas.microsoft.com/office/powerpoint/2010/main" val="269160901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1735559"/>
            <a:ext cx="9144000" cy="91440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4" name="TextBox 4"/>
            <p:cNvSpPr txBox="1"/>
            <p:nvPr/>
          </p:nvSpPr>
          <p:spPr>
            <a:xfrm>
              <a:off x="76200" y="47625"/>
              <a:ext cx="660400" cy="688975"/>
            </a:xfrm>
            <a:prstGeom prst="rect">
              <a:avLst/>
            </a:prstGeom>
          </p:spPr>
          <p:txBody>
            <a:bodyPr lIns="47625" tIns="47625" rIns="47625" bIns="47625" rtlCol="0" anchor="ctr"/>
            <a:lstStyle/>
            <a:p>
              <a:pPr algn="ctr">
                <a:lnSpc>
                  <a:spcPts val="1838"/>
                </a:lnSpc>
              </a:pPr>
              <a:endParaRPr sz="1688"/>
            </a:p>
          </p:txBody>
        </p:sp>
      </p:grpSp>
      <p:pic>
        <p:nvPicPr>
          <p:cNvPr id="5" name="Picture 5"/>
          <p:cNvPicPr>
            <a:picLocks noChangeAspect="1"/>
          </p:cNvPicPr>
          <p:nvPr/>
        </p:nvPicPr>
        <p:blipFill>
          <a:blip r:embed="rId2"/>
          <a:stretch>
            <a:fillRect/>
          </a:stretch>
        </p:blipFill>
        <p:spPr>
          <a:xfrm rot="-5400000">
            <a:off x="1346144" y="1557703"/>
            <a:ext cx="9499713" cy="9499713"/>
          </a:xfrm>
          <a:prstGeom prst="rect">
            <a:avLst/>
          </a:prstGeom>
        </p:spPr>
      </p:pic>
      <p:sp>
        <p:nvSpPr>
          <p:cNvPr id="6" name="AutoShape 6"/>
          <p:cNvSpPr/>
          <p:nvPr/>
        </p:nvSpPr>
        <p:spPr>
          <a:xfrm>
            <a:off x="2661098" y="3829724"/>
            <a:ext cx="2155310" cy="1576658"/>
          </a:xfrm>
          <a:prstGeom prst="line">
            <a:avLst/>
          </a:prstGeom>
          <a:ln w="180975" cap="flat">
            <a:solidFill>
              <a:srgbClr val="FFFFFF"/>
            </a:solidFill>
            <a:prstDash val="solid"/>
            <a:headEnd type="none" w="sm" len="sm"/>
            <a:tailEnd type="none" w="sm" len="sm"/>
          </a:ln>
        </p:spPr>
      </p:sp>
      <p:sp>
        <p:nvSpPr>
          <p:cNvPr id="7" name="AutoShape 7"/>
          <p:cNvSpPr/>
          <p:nvPr/>
        </p:nvSpPr>
        <p:spPr>
          <a:xfrm>
            <a:off x="4864424" y="2224719"/>
            <a:ext cx="765744" cy="2521806"/>
          </a:xfrm>
          <a:prstGeom prst="line">
            <a:avLst/>
          </a:prstGeom>
          <a:ln w="180975" cap="flat">
            <a:solidFill>
              <a:srgbClr val="FFFFFF"/>
            </a:solidFill>
            <a:prstDash val="solid"/>
            <a:headEnd type="none" w="sm" len="sm"/>
            <a:tailEnd type="none" w="sm" len="sm"/>
          </a:ln>
        </p:spPr>
      </p:sp>
      <p:sp>
        <p:nvSpPr>
          <p:cNvPr id="8" name="AutoShape 8"/>
          <p:cNvSpPr/>
          <p:nvPr/>
        </p:nvSpPr>
        <p:spPr>
          <a:xfrm flipH="1">
            <a:off x="6605805" y="2349345"/>
            <a:ext cx="863066" cy="2420810"/>
          </a:xfrm>
          <a:prstGeom prst="line">
            <a:avLst/>
          </a:prstGeom>
          <a:ln w="180975" cap="flat">
            <a:solidFill>
              <a:srgbClr val="FFFFFF"/>
            </a:solidFill>
            <a:prstDash val="solid"/>
            <a:headEnd type="none" w="sm" len="sm"/>
            <a:tailEnd type="none" w="sm" len="sm"/>
          </a:ln>
        </p:spPr>
      </p:sp>
      <p:sp>
        <p:nvSpPr>
          <p:cNvPr id="9" name="AutoShape 9"/>
          <p:cNvSpPr/>
          <p:nvPr/>
        </p:nvSpPr>
        <p:spPr>
          <a:xfrm flipH="1">
            <a:off x="7545475" y="3764084"/>
            <a:ext cx="2037274" cy="1531237"/>
          </a:xfrm>
          <a:prstGeom prst="line">
            <a:avLst/>
          </a:prstGeom>
          <a:ln w="180975" cap="flat">
            <a:solidFill>
              <a:srgbClr val="FFFFFF"/>
            </a:solidFill>
            <a:prstDash val="solid"/>
            <a:headEnd type="none" w="sm" len="sm"/>
            <a:tailEnd type="none" w="sm" len="sm"/>
          </a:ln>
        </p:spPr>
      </p:sp>
      <p:grpSp>
        <p:nvGrpSpPr>
          <p:cNvPr id="10" name="Group 10"/>
          <p:cNvGrpSpPr/>
          <p:nvPr/>
        </p:nvGrpSpPr>
        <p:grpSpPr>
          <a:xfrm>
            <a:off x="991293" y="6307560"/>
            <a:ext cx="10209414" cy="751673"/>
            <a:chOff x="0" y="0"/>
            <a:chExt cx="4033349" cy="296957"/>
          </a:xfrm>
        </p:grpSpPr>
        <p:sp>
          <p:nvSpPr>
            <p:cNvPr id="11" name="Freeform 11"/>
            <p:cNvSpPr/>
            <p:nvPr/>
          </p:nvSpPr>
          <p:spPr>
            <a:xfrm>
              <a:off x="0" y="0"/>
              <a:ext cx="4033349" cy="296957"/>
            </a:xfrm>
            <a:custGeom>
              <a:avLst/>
              <a:gdLst/>
              <a:ahLst/>
              <a:cxnLst/>
              <a:rect l="l" t="t" r="r" b="b"/>
              <a:pathLst>
                <a:path w="4033349" h="296957">
                  <a:moveTo>
                    <a:pt x="0" y="0"/>
                  </a:moveTo>
                  <a:lnTo>
                    <a:pt x="4033349" y="0"/>
                  </a:lnTo>
                  <a:lnTo>
                    <a:pt x="4033349" y="296957"/>
                  </a:lnTo>
                  <a:lnTo>
                    <a:pt x="0" y="296957"/>
                  </a:lnTo>
                  <a:close/>
                </a:path>
              </a:pathLst>
            </a:custGeom>
            <a:solidFill>
              <a:srgbClr val="404040"/>
            </a:solidFill>
          </p:spPr>
        </p:sp>
        <p:sp>
          <p:nvSpPr>
            <p:cNvPr id="12" name="TextBox 12"/>
            <p:cNvSpPr txBox="1"/>
            <p:nvPr/>
          </p:nvSpPr>
          <p:spPr>
            <a:xfrm>
              <a:off x="0" y="-28575"/>
              <a:ext cx="4033349" cy="325532"/>
            </a:xfrm>
            <a:prstGeom prst="rect">
              <a:avLst/>
            </a:prstGeom>
          </p:spPr>
          <p:txBody>
            <a:bodyPr lIns="47625" tIns="47625" rIns="47625" bIns="47625" rtlCol="0" anchor="ctr"/>
            <a:lstStyle/>
            <a:p>
              <a:pPr algn="ctr">
                <a:lnSpc>
                  <a:spcPts val="1838"/>
                </a:lnSpc>
                <a:spcBef>
                  <a:spcPct val="0"/>
                </a:spcBef>
              </a:pPr>
              <a:endParaRPr sz="1688"/>
            </a:p>
          </p:txBody>
        </p:sp>
      </p:grpSp>
      <p:grpSp>
        <p:nvGrpSpPr>
          <p:cNvPr id="13" name="Group 13"/>
          <p:cNvGrpSpPr/>
          <p:nvPr/>
        </p:nvGrpSpPr>
        <p:grpSpPr>
          <a:xfrm>
            <a:off x="2260978" y="5922707"/>
            <a:ext cx="276282" cy="27628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15" name="TextBox 15"/>
            <p:cNvSpPr txBox="1"/>
            <p:nvPr/>
          </p:nvSpPr>
          <p:spPr>
            <a:xfrm>
              <a:off x="76200" y="47625"/>
              <a:ext cx="660400" cy="688975"/>
            </a:xfrm>
            <a:prstGeom prst="rect">
              <a:avLst/>
            </a:prstGeom>
          </p:spPr>
          <p:txBody>
            <a:bodyPr lIns="47625" tIns="47625" rIns="47625" bIns="47625" rtlCol="0" anchor="ctr"/>
            <a:lstStyle/>
            <a:p>
              <a:pPr algn="ctr">
                <a:lnSpc>
                  <a:spcPts val="1838"/>
                </a:lnSpc>
              </a:pPr>
              <a:endParaRPr sz="1688" dirty="0"/>
            </a:p>
          </p:txBody>
        </p:sp>
      </p:grpSp>
      <p:grpSp>
        <p:nvGrpSpPr>
          <p:cNvPr id="16" name="Group 16"/>
          <p:cNvGrpSpPr/>
          <p:nvPr/>
        </p:nvGrpSpPr>
        <p:grpSpPr>
          <a:xfrm>
            <a:off x="3213892" y="3741702"/>
            <a:ext cx="276282" cy="27628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18" name="TextBox 18"/>
            <p:cNvSpPr txBox="1"/>
            <p:nvPr/>
          </p:nvSpPr>
          <p:spPr>
            <a:xfrm>
              <a:off x="76200" y="47625"/>
              <a:ext cx="660400" cy="688975"/>
            </a:xfrm>
            <a:prstGeom prst="rect">
              <a:avLst/>
            </a:prstGeom>
          </p:spPr>
          <p:txBody>
            <a:bodyPr lIns="47625" tIns="47625" rIns="47625" bIns="47625" rtlCol="0" anchor="ctr"/>
            <a:lstStyle/>
            <a:p>
              <a:pPr algn="ctr">
                <a:lnSpc>
                  <a:spcPts val="1838"/>
                </a:lnSpc>
              </a:pPr>
              <a:endParaRPr sz="1688"/>
            </a:p>
          </p:txBody>
        </p:sp>
      </p:grpSp>
      <p:grpSp>
        <p:nvGrpSpPr>
          <p:cNvPr id="19" name="Group 19"/>
          <p:cNvGrpSpPr/>
          <p:nvPr/>
        </p:nvGrpSpPr>
        <p:grpSpPr>
          <a:xfrm>
            <a:off x="5238367" y="2528239"/>
            <a:ext cx="276282" cy="27628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21" name="TextBox 21"/>
            <p:cNvSpPr txBox="1"/>
            <p:nvPr/>
          </p:nvSpPr>
          <p:spPr>
            <a:xfrm>
              <a:off x="76200" y="47625"/>
              <a:ext cx="660400" cy="688975"/>
            </a:xfrm>
            <a:prstGeom prst="rect">
              <a:avLst/>
            </a:prstGeom>
          </p:spPr>
          <p:txBody>
            <a:bodyPr lIns="47625" tIns="47625" rIns="47625" bIns="47625" rtlCol="0" anchor="ctr"/>
            <a:lstStyle/>
            <a:p>
              <a:pPr algn="ctr">
                <a:lnSpc>
                  <a:spcPts val="1838"/>
                </a:lnSpc>
              </a:pPr>
              <a:endParaRPr sz="1688"/>
            </a:p>
          </p:txBody>
        </p:sp>
      </p:grpSp>
      <p:grpSp>
        <p:nvGrpSpPr>
          <p:cNvPr id="22" name="Group 22"/>
          <p:cNvGrpSpPr/>
          <p:nvPr/>
        </p:nvGrpSpPr>
        <p:grpSpPr>
          <a:xfrm>
            <a:off x="7494507" y="2804522"/>
            <a:ext cx="276282" cy="27628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24" name="TextBox 24"/>
            <p:cNvSpPr txBox="1"/>
            <p:nvPr/>
          </p:nvSpPr>
          <p:spPr>
            <a:xfrm>
              <a:off x="76200" y="47625"/>
              <a:ext cx="660400" cy="688975"/>
            </a:xfrm>
            <a:prstGeom prst="rect">
              <a:avLst/>
            </a:prstGeom>
          </p:spPr>
          <p:txBody>
            <a:bodyPr lIns="47625" tIns="47625" rIns="47625" bIns="47625" rtlCol="0" anchor="ctr"/>
            <a:lstStyle/>
            <a:p>
              <a:pPr algn="ctr">
                <a:lnSpc>
                  <a:spcPts val="1838"/>
                </a:lnSpc>
              </a:pPr>
              <a:endParaRPr sz="1688"/>
            </a:p>
          </p:txBody>
        </p:sp>
      </p:grpSp>
      <p:grpSp>
        <p:nvGrpSpPr>
          <p:cNvPr id="25" name="Group 25"/>
          <p:cNvGrpSpPr/>
          <p:nvPr/>
        </p:nvGrpSpPr>
        <p:grpSpPr>
          <a:xfrm>
            <a:off x="9158164" y="4280926"/>
            <a:ext cx="276282" cy="276282"/>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4040"/>
            </a:solidFill>
          </p:spPr>
        </p:sp>
        <p:sp>
          <p:nvSpPr>
            <p:cNvPr id="27" name="TextBox 27"/>
            <p:cNvSpPr txBox="1"/>
            <p:nvPr/>
          </p:nvSpPr>
          <p:spPr>
            <a:xfrm>
              <a:off x="76200" y="47625"/>
              <a:ext cx="660400" cy="688975"/>
            </a:xfrm>
            <a:prstGeom prst="rect">
              <a:avLst/>
            </a:prstGeom>
          </p:spPr>
          <p:txBody>
            <a:bodyPr lIns="47625" tIns="47625" rIns="47625" bIns="47625" rtlCol="0" anchor="ctr"/>
            <a:lstStyle/>
            <a:p>
              <a:pPr algn="ctr">
                <a:lnSpc>
                  <a:spcPts val="1838"/>
                </a:lnSpc>
              </a:pPr>
              <a:endParaRPr sz="1688"/>
            </a:p>
          </p:txBody>
        </p:sp>
      </p:grpSp>
      <p:sp>
        <p:nvSpPr>
          <p:cNvPr id="28" name="Freeform 28"/>
          <p:cNvSpPr/>
          <p:nvPr/>
        </p:nvSpPr>
        <p:spPr>
          <a:xfrm>
            <a:off x="4827559" y="4316033"/>
            <a:ext cx="2684907" cy="2743200"/>
          </a:xfrm>
          <a:custGeom>
            <a:avLst/>
            <a:gdLst/>
            <a:ahLst/>
            <a:cxnLst/>
            <a:rect l="l" t="t" r="r" b="b"/>
            <a:pathLst>
              <a:path w="2863901" h="2926080">
                <a:moveTo>
                  <a:pt x="0" y="0"/>
                </a:moveTo>
                <a:lnTo>
                  <a:pt x="2863901" y="0"/>
                </a:lnTo>
                <a:lnTo>
                  <a:pt x="2863901" y="2926080"/>
                </a:lnTo>
                <a:lnTo>
                  <a:pt x="0" y="2926080"/>
                </a:lnTo>
                <a:lnTo>
                  <a:pt x="0" y="0"/>
                </a:lnTo>
                <a:close/>
              </a:path>
            </a:pathLst>
          </a:custGeom>
          <a:blipFill>
            <a:blip r:embed="rId3"/>
            <a:stretch>
              <a:fillRect/>
            </a:stretch>
          </a:blipFill>
        </p:spPr>
      </p:sp>
      <p:sp>
        <p:nvSpPr>
          <p:cNvPr id="29" name="TextBox 29"/>
          <p:cNvSpPr txBox="1"/>
          <p:nvPr/>
        </p:nvSpPr>
        <p:spPr>
          <a:xfrm>
            <a:off x="2862161" y="355819"/>
            <a:ext cx="6467678" cy="769441"/>
          </a:xfrm>
          <a:prstGeom prst="rect">
            <a:avLst/>
          </a:prstGeom>
        </p:spPr>
        <p:txBody>
          <a:bodyPr lIns="0" tIns="0" rIns="0" bIns="0" rtlCol="0" anchor="t">
            <a:spAutoFit/>
          </a:bodyPr>
          <a:lstStyle/>
          <a:p>
            <a:pPr algn="ctr">
              <a:lnSpc>
                <a:spcPts val="3000"/>
              </a:lnSpc>
            </a:pPr>
            <a:r>
              <a:rPr lang="en-US" sz="3000" b="1" dirty="0">
                <a:solidFill>
                  <a:srgbClr val="404040"/>
                </a:solidFill>
                <a:latin typeface="Public Sans Bold"/>
                <a:ea typeface="Public Sans Bold"/>
                <a:cs typeface="Public Sans Bold"/>
                <a:sym typeface="Public Sans Bold"/>
              </a:rPr>
              <a:t>3. Technologies Utilized</a:t>
            </a:r>
          </a:p>
          <a:p>
            <a:pPr algn="ctr">
              <a:lnSpc>
                <a:spcPts val="3000"/>
              </a:lnSpc>
            </a:pPr>
            <a:endParaRPr lang="en-US" sz="3000" b="1" dirty="0">
              <a:solidFill>
                <a:srgbClr val="404040"/>
              </a:solidFill>
              <a:latin typeface="Public Sans Bold"/>
              <a:ea typeface="Public Sans Bold"/>
              <a:cs typeface="Public Sans Bold"/>
              <a:sym typeface="Public Sans Bold"/>
            </a:endParaRPr>
          </a:p>
        </p:txBody>
      </p:sp>
      <p:sp>
        <p:nvSpPr>
          <p:cNvPr id="30" name="TextBox 30"/>
          <p:cNvSpPr txBox="1"/>
          <p:nvPr/>
        </p:nvSpPr>
        <p:spPr>
          <a:xfrm>
            <a:off x="2260978" y="5984052"/>
            <a:ext cx="276282" cy="141064"/>
          </a:xfrm>
          <a:prstGeom prst="rect">
            <a:avLst/>
          </a:prstGeom>
        </p:spPr>
        <p:txBody>
          <a:bodyPr lIns="0" tIns="0" rIns="0" bIns="0" rtlCol="0" anchor="t">
            <a:spAutoFit/>
          </a:bodyPr>
          <a:lstStyle/>
          <a:p>
            <a:pPr algn="ctr">
              <a:lnSpc>
                <a:spcPts val="1125"/>
              </a:lnSpc>
            </a:pPr>
            <a:r>
              <a:rPr lang="en-US" sz="1125" b="1">
                <a:solidFill>
                  <a:srgbClr val="FFFFFF"/>
                </a:solidFill>
                <a:latin typeface="Public Sans Bold"/>
                <a:ea typeface="Public Sans Bold"/>
                <a:cs typeface="Public Sans Bold"/>
                <a:sym typeface="Public Sans Bold"/>
              </a:rPr>
              <a:t>1</a:t>
            </a:r>
          </a:p>
        </p:txBody>
      </p:sp>
      <p:sp>
        <p:nvSpPr>
          <p:cNvPr id="31" name="TextBox 31"/>
          <p:cNvSpPr txBox="1"/>
          <p:nvPr/>
        </p:nvSpPr>
        <p:spPr>
          <a:xfrm>
            <a:off x="3213892" y="3803047"/>
            <a:ext cx="276282" cy="141064"/>
          </a:xfrm>
          <a:prstGeom prst="rect">
            <a:avLst/>
          </a:prstGeom>
        </p:spPr>
        <p:txBody>
          <a:bodyPr lIns="0" tIns="0" rIns="0" bIns="0" rtlCol="0" anchor="t">
            <a:spAutoFit/>
          </a:bodyPr>
          <a:lstStyle/>
          <a:p>
            <a:pPr algn="ctr">
              <a:lnSpc>
                <a:spcPts val="1125"/>
              </a:lnSpc>
            </a:pPr>
            <a:r>
              <a:rPr lang="en-US" sz="1125" b="1" dirty="0">
                <a:solidFill>
                  <a:srgbClr val="FFFFFF"/>
                </a:solidFill>
                <a:latin typeface="Public Sans Bold"/>
                <a:ea typeface="Public Sans Bold"/>
                <a:cs typeface="Public Sans Bold"/>
                <a:sym typeface="Public Sans Bold"/>
              </a:rPr>
              <a:t>2</a:t>
            </a:r>
          </a:p>
        </p:txBody>
      </p:sp>
      <p:sp>
        <p:nvSpPr>
          <p:cNvPr id="32" name="TextBox 32"/>
          <p:cNvSpPr txBox="1"/>
          <p:nvPr/>
        </p:nvSpPr>
        <p:spPr>
          <a:xfrm>
            <a:off x="5238367" y="2589584"/>
            <a:ext cx="276282" cy="141064"/>
          </a:xfrm>
          <a:prstGeom prst="rect">
            <a:avLst/>
          </a:prstGeom>
        </p:spPr>
        <p:txBody>
          <a:bodyPr lIns="0" tIns="0" rIns="0" bIns="0" rtlCol="0" anchor="t">
            <a:spAutoFit/>
          </a:bodyPr>
          <a:lstStyle/>
          <a:p>
            <a:pPr algn="ctr">
              <a:lnSpc>
                <a:spcPts val="1125"/>
              </a:lnSpc>
            </a:pPr>
            <a:r>
              <a:rPr lang="en-US" sz="1125" b="1" dirty="0">
                <a:solidFill>
                  <a:srgbClr val="FFFFFF"/>
                </a:solidFill>
                <a:latin typeface="Public Sans Bold"/>
                <a:ea typeface="Public Sans Bold"/>
                <a:cs typeface="Public Sans Bold"/>
                <a:sym typeface="Public Sans Bold"/>
              </a:rPr>
              <a:t>3</a:t>
            </a:r>
          </a:p>
        </p:txBody>
      </p:sp>
      <p:sp>
        <p:nvSpPr>
          <p:cNvPr id="33" name="TextBox 33"/>
          <p:cNvSpPr txBox="1"/>
          <p:nvPr/>
        </p:nvSpPr>
        <p:spPr>
          <a:xfrm>
            <a:off x="7494507" y="2865866"/>
            <a:ext cx="276282" cy="141064"/>
          </a:xfrm>
          <a:prstGeom prst="rect">
            <a:avLst/>
          </a:prstGeom>
        </p:spPr>
        <p:txBody>
          <a:bodyPr lIns="0" tIns="0" rIns="0" bIns="0" rtlCol="0" anchor="t">
            <a:spAutoFit/>
          </a:bodyPr>
          <a:lstStyle/>
          <a:p>
            <a:pPr algn="ctr">
              <a:lnSpc>
                <a:spcPts val="1125"/>
              </a:lnSpc>
            </a:pPr>
            <a:r>
              <a:rPr lang="en-US" sz="1125" b="1" dirty="0">
                <a:solidFill>
                  <a:srgbClr val="FFFFFF"/>
                </a:solidFill>
                <a:latin typeface="Public Sans Bold"/>
                <a:ea typeface="Public Sans Bold"/>
                <a:cs typeface="Public Sans Bold"/>
                <a:sym typeface="Public Sans Bold"/>
              </a:rPr>
              <a:t>4</a:t>
            </a:r>
          </a:p>
        </p:txBody>
      </p:sp>
      <p:sp>
        <p:nvSpPr>
          <p:cNvPr id="34" name="TextBox 34"/>
          <p:cNvSpPr txBox="1"/>
          <p:nvPr/>
        </p:nvSpPr>
        <p:spPr>
          <a:xfrm>
            <a:off x="9158164" y="4342270"/>
            <a:ext cx="276282" cy="141064"/>
          </a:xfrm>
          <a:prstGeom prst="rect">
            <a:avLst/>
          </a:prstGeom>
        </p:spPr>
        <p:txBody>
          <a:bodyPr lIns="0" tIns="0" rIns="0" bIns="0" rtlCol="0" anchor="t">
            <a:spAutoFit/>
          </a:bodyPr>
          <a:lstStyle/>
          <a:p>
            <a:pPr algn="ctr">
              <a:lnSpc>
                <a:spcPts val="1125"/>
              </a:lnSpc>
            </a:pPr>
            <a:r>
              <a:rPr lang="en-US" sz="1125" b="1">
                <a:solidFill>
                  <a:srgbClr val="FFFFFF"/>
                </a:solidFill>
                <a:latin typeface="Public Sans Bold"/>
                <a:ea typeface="Public Sans Bold"/>
                <a:cs typeface="Public Sans Bold"/>
                <a:sym typeface="Public Sans Bold"/>
              </a:rPr>
              <a:t>5</a:t>
            </a:r>
          </a:p>
        </p:txBody>
      </p:sp>
      <p:sp>
        <p:nvSpPr>
          <p:cNvPr id="35" name="TextBox 35"/>
          <p:cNvSpPr txBox="1"/>
          <p:nvPr/>
        </p:nvSpPr>
        <p:spPr>
          <a:xfrm>
            <a:off x="2611012" y="5242677"/>
            <a:ext cx="1365602" cy="447751"/>
          </a:xfrm>
          <a:prstGeom prst="rect">
            <a:avLst/>
          </a:prstGeom>
        </p:spPr>
        <p:txBody>
          <a:bodyPr lIns="0" tIns="0" rIns="0" bIns="0" rtlCol="0" anchor="t">
            <a:spAutoFit/>
          </a:bodyPr>
          <a:lstStyle/>
          <a:p>
            <a:pPr algn="ctr">
              <a:lnSpc>
                <a:spcPts val="1799"/>
              </a:lnSpc>
            </a:pPr>
            <a:r>
              <a:rPr lang="en-US" sz="1499" b="1" dirty="0">
                <a:solidFill>
                  <a:srgbClr val="404040"/>
                </a:solidFill>
                <a:latin typeface="Public Sans Bold"/>
                <a:ea typeface="Public Sans Bold"/>
                <a:cs typeface="Public Sans Bold"/>
                <a:sym typeface="Public Sans Bold"/>
              </a:rPr>
              <a:t> Programming Languages </a:t>
            </a:r>
          </a:p>
        </p:txBody>
      </p:sp>
      <p:sp>
        <p:nvSpPr>
          <p:cNvPr id="36" name="TextBox 36"/>
          <p:cNvSpPr txBox="1"/>
          <p:nvPr/>
        </p:nvSpPr>
        <p:spPr>
          <a:xfrm>
            <a:off x="3738752" y="3677654"/>
            <a:ext cx="1365602" cy="447751"/>
          </a:xfrm>
          <a:prstGeom prst="rect">
            <a:avLst/>
          </a:prstGeom>
        </p:spPr>
        <p:txBody>
          <a:bodyPr lIns="0" tIns="0" rIns="0" bIns="0" rtlCol="0" anchor="t">
            <a:spAutoFit/>
          </a:bodyPr>
          <a:lstStyle/>
          <a:p>
            <a:pPr algn="ctr">
              <a:lnSpc>
                <a:spcPts val="1799"/>
              </a:lnSpc>
            </a:pPr>
            <a:r>
              <a:rPr lang="en-US" sz="1499" b="1" dirty="0">
                <a:solidFill>
                  <a:srgbClr val="404040"/>
                </a:solidFill>
                <a:latin typeface="Public Sans Bold"/>
                <a:ea typeface="Public Sans Bold"/>
                <a:cs typeface="Public Sans Bold"/>
                <a:sym typeface="Public Sans Bold"/>
              </a:rPr>
              <a:t>Libraries and Frameworks </a:t>
            </a:r>
          </a:p>
        </p:txBody>
      </p:sp>
      <p:sp>
        <p:nvSpPr>
          <p:cNvPr id="37" name="TextBox 37"/>
          <p:cNvSpPr txBox="1"/>
          <p:nvPr/>
        </p:nvSpPr>
        <p:spPr>
          <a:xfrm>
            <a:off x="5436365" y="2933732"/>
            <a:ext cx="1541026" cy="447751"/>
          </a:xfrm>
          <a:prstGeom prst="rect">
            <a:avLst/>
          </a:prstGeom>
        </p:spPr>
        <p:txBody>
          <a:bodyPr lIns="0" tIns="0" rIns="0" bIns="0" rtlCol="0" anchor="t">
            <a:spAutoFit/>
          </a:bodyPr>
          <a:lstStyle/>
          <a:p>
            <a:pPr algn="ctr">
              <a:lnSpc>
                <a:spcPts val="1799"/>
              </a:lnSpc>
            </a:pPr>
            <a:r>
              <a:rPr lang="en-US" sz="1499" b="1" dirty="0">
                <a:solidFill>
                  <a:srgbClr val="404040"/>
                </a:solidFill>
                <a:latin typeface="Public Sans Bold"/>
                <a:ea typeface="Public Sans Bold"/>
                <a:cs typeface="Public Sans Bold"/>
                <a:sym typeface="Public Sans Bold"/>
              </a:rPr>
              <a:t>Development Environment </a:t>
            </a:r>
          </a:p>
        </p:txBody>
      </p:sp>
      <p:sp>
        <p:nvSpPr>
          <p:cNvPr id="38" name="TextBox 38"/>
          <p:cNvSpPr txBox="1"/>
          <p:nvPr/>
        </p:nvSpPr>
        <p:spPr>
          <a:xfrm>
            <a:off x="7238993" y="3677654"/>
            <a:ext cx="1365602" cy="447751"/>
          </a:xfrm>
          <a:prstGeom prst="rect">
            <a:avLst/>
          </a:prstGeom>
        </p:spPr>
        <p:txBody>
          <a:bodyPr lIns="0" tIns="0" rIns="0" bIns="0" rtlCol="0" anchor="t">
            <a:spAutoFit/>
          </a:bodyPr>
          <a:lstStyle/>
          <a:p>
            <a:pPr algn="ctr">
              <a:lnSpc>
                <a:spcPts val="1799"/>
              </a:lnSpc>
            </a:pPr>
            <a:r>
              <a:rPr lang="en-US" sz="1499" b="1" dirty="0">
                <a:solidFill>
                  <a:srgbClr val="404040"/>
                </a:solidFill>
                <a:latin typeface="Public Sans Bold"/>
                <a:ea typeface="Public Sans Bold"/>
                <a:cs typeface="Public Sans Bold"/>
                <a:sym typeface="Public Sans Bold"/>
              </a:rPr>
              <a:t>Version Control </a:t>
            </a:r>
          </a:p>
        </p:txBody>
      </p:sp>
      <p:sp>
        <p:nvSpPr>
          <p:cNvPr id="39" name="TextBox 39"/>
          <p:cNvSpPr txBox="1"/>
          <p:nvPr/>
        </p:nvSpPr>
        <p:spPr>
          <a:xfrm>
            <a:off x="8217148" y="5286391"/>
            <a:ext cx="1365602" cy="447751"/>
          </a:xfrm>
          <a:prstGeom prst="rect">
            <a:avLst/>
          </a:prstGeom>
        </p:spPr>
        <p:txBody>
          <a:bodyPr lIns="0" tIns="0" rIns="0" bIns="0" rtlCol="0" anchor="t">
            <a:spAutoFit/>
          </a:bodyPr>
          <a:lstStyle/>
          <a:p>
            <a:pPr algn="ctr">
              <a:lnSpc>
                <a:spcPts val="1799"/>
              </a:lnSpc>
            </a:pPr>
            <a:r>
              <a:rPr lang="en-US" sz="1499" b="1" dirty="0">
                <a:solidFill>
                  <a:srgbClr val="404040"/>
                </a:solidFill>
                <a:latin typeface="Public Sans Bold"/>
                <a:ea typeface="Public Sans Bold"/>
                <a:cs typeface="Public Sans Bold"/>
                <a:sym typeface="Public Sans Bold"/>
              </a:rPr>
              <a:t>Frontend Development </a:t>
            </a:r>
          </a:p>
        </p:txBody>
      </p:sp>
      <p:sp>
        <p:nvSpPr>
          <p:cNvPr id="40" name="Freeform 2">
            <a:extLst>
              <a:ext uri="{FF2B5EF4-FFF2-40B4-BE49-F238E27FC236}">
                <a16:creationId xmlns:a16="http://schemas.microsoft.com/office/drawing/2014/main" id="{1E2E8842-78E2-646E-089A-D97C29CDD07E}"/>
              </a:ext>
            </a:extLst>
          </p:cNvPr>
          <p:cNvSpPr/>
          <p:nvPr/>
        </p:nvSpPr>
        <p:spPr>
          <a:xfrm>
            <a:off x="12995165" y="1372310"/>
            <a:ext cx="4750447" cy="4673381"/>
          </a:xfrm>
          <a:custGeom>
            <a:avLst/>
            <a:gdLst/>
            <a:ahLst/>
            <a:cxnLst/>
            <a:rect l="l" t="t" r="r" b="b"/>
            <a:pathLst>
              <a:path w="6352412" h="5852160">
                <a:moveTo>
                  <a:pt x="0" y="0"/>
                </a:moveTo>
                <a:lnTo>
                  <a:pt x="6352412" y="0"/>
                </a:lnTo>
                <a:lnTo>
                  <a:pt x="6352412" y="5852160"/>
                </a:lnTo>
                <a:lnTo>
                  <a:pt x="0" y="5852160"/>
                </a:lnTo>
                <a:lnTo>
                  <a:pt x="0" y="0"/>
                </a:lnTo>
                <a:close/>
              </a:path>
            </a:pathLst>
          </a:custGeom>
          <a:blipFill>
            <a:blip r:embed="rId4"/>
            <a:stretch>
              <a:fillRect/>
            </a:stretch>
          </a:blipFill>
        </p:spPr>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4"/>
                                        </p:tgtEl>
                                        <p:attrNameLst>
                                          <p:attrName>style.visibility</p:attrName>
                                        </p:attrNameLst>
                                      </p:cBhvr>
                                      <p:to>
                                        <p:strVal val="visible"/>
                                      </p:to>
                                    </p:set>
                                    <p:anim calcmode="lin" valueType="num">
                                      <p:cBhvr additive="base">
                                        <p:cTn id="54" dur="500" fill="hold"/>
                                        <p:tgtEl>
                                          <p:spTgt spid="34"/>
                                        </p:tgtEl>
                                        <p:attrNameLst>
                                          <p:attrName>ppt_x</p:attrName>
                                        </p:attrNameLst>
                                      </p:cBhvr>
                                      <p:tavLst>
                                        <p:tav tm="0">
                                          <p:val>
                                            <p:strVal val="#ppt_x"/>
                                          </p:val>
                                        </p:tav>
                                        <p:tav tm="100000">
                                          <p:val>
                                            <p:strVal val="#ppt_x"/>
                                          </p:val>
                                        </p:tav>
                                      </p:tavLst>
                                    </p:anim>
                                    <p:anim calcmode="lin" valueType="num">
                                      <p:cBhvr additive="base">
                                        <p:cTn id="55" dur="500" fill="hold"/>
                                        <p:tgtEl>
                                          <p:spTgt spid="34"/>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additive="base">
                                        <p:cTn id="58" dur="500" fill="hold"/>
                                        <p:tgtEl>
                                          <p:spTgt spid="25"/>
                                        </p:tgtEl>
                                        <p:attrNameLst>
                                          <p:attrName>ppt_x</p:attrName>
                                        </p:attrNameLst>
                                      </p:cBhvr>
                                      <p:tavLst>
                                        <p:tav tm="0">
                                          <p:val>
                                            <p:strVal val="#ppt_x"/>
                                          </p:val>
                                        </p:tav>
                                        <p:tav tm="100000">
                                          <p:val>
                                            <p:strVal val="#ppt_x"/>
                                          </p:val>
                                        </p:tav>
                                      </p:tavLst>
                                    </p:anim>
                                    <p:anim calcmode="lin" valueType="num">
                                      <p:cBhvr additive="base">
                                        <p:cTn id="59" dur="500" fill="hold"/>
                                        <p:tgtEl>
                                          <p:spTgt spid="25"/>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additive="base">
                                        <p:cTn id="62" dur="500" fill="hold"/>
                                        <p:tgtEl>
                                          <p:spTgt spid="39"/>
                                        </p:tgtEl>
                                        <p:attrNameLst>
                                          <p:attrName>ppt_x</p:attrName>
                                        </p:attrNameLst>
                                      </p:cBhvr>
                                      <p:tavLst>
                                        <p:tav tm="0">
                                          <p:val>
                                            <p:strVal val="#ppt_x"/>
                                          </p:val>
                                        </p:tav>
                                        <p:tav tm="100000">
                                          <p:val>
                                            <p:strVal val="#ppt_x"/>
                                          </p:val>
                                        </p:tav>
                                      </p:tavLst>
                                    </p:anim>
                                    <p:anim calcmode="lin" valueType="num">
                                      <p:cBhvr additive="base">
                                        <p:cTn id="63"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P spid="35" grpId="0"/>
      <p:bldP spid="36" grpId="0"/>
      <p:bldP spid="37" grpId="0"/>
      <p:bldP spid="38"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9">
            <a:extLst>
              <a:ext uri="{FF2B5EF4-FFF2-40B4-BE49-F238E27FC236}">
                <a16:creationId xmlns:a16="http://schemas.microsoft.com/office/drawing/2014/main" id="{7D280CD9-D140-E2F9-B32D-1CC7FC3DD7CD}"/>
              </a:ext>
            </a:extLst>
          </p:cNvPr>
          <p:cNvSpPr txBox="1"/>
          <p:nvPr/>
        </p:nvSpPr>
        <p:spPr>
          <a:xfrm>
            <a:off x="2721484" y="305577"/>
            <a:ext cx="6467678" cy="620939"/>
          </a:xfrm>
          <a:prstGeom prst="rect">
            <a:avLst/>
          </a:prstGeom>
        </p:spPr>
        <p:txBody>
          <a:bodyPr lIns="0" tIns="0" rIns="0" bIns="0" rtlCol="0" anchor="t">
            <a:spAutoFit/>
          </a:bodyPr>
          <a:lstStyle/>
          <a:p>
            <a:pPr algn="ctr">
              <a:lnSpc>
                <a:spcPts val="1799"/>
              </a:lnSpc>
            </a:pPr>
            <a:r>
              <a:rPr lang="en-US" sz="3200" b="1" dirty="0">
                <a:solidFill>
                  <a:srgbClr val="404040"/>
                </a:solidFill>
                <a:latin typeface="Public Sans Bold"/>
                <a:ea typeface="Public Sans Bold"/>
                <a:cs typeface="Public Sans Bold"/>
                <a:sym typeface="Public Sans Bold"/>
              </a:rPr>
              <a:t> a. Programming Languages </a:t>
            </a:r>
          </a:p>
          <a:p>
            <a:pPr algn="ctr">
              <a:lnSpc>
                <a:spcPts val="3000"/>
              </a:lnSpc>
            </a:pPr>
            <a:endParaRPr lang="en-US" sz="3000" b="1" dirty="0">
              <a:solidFill>
                <a:srgbClr val="404040"/>
              </a:solidFill>
              <a:latin typeface="Public Sans Bold"/>
              <a:ea typeface="Public Sans Bold"/>
              <a:cs typeface="Public Sans Bold"/>
              <a:sym typeface="Public Sans Bold"/>
            </a:endParaRPr>
          </a:p>
        </p:txBody>
      </p:sp>
      <p:sp>
        <p:nvSpPr>
          <p:cNvPr id="6" name="Rectangle: Rounded Corners 5">
            <a:extLst>
              <a:ext uri="{FF2B5EF4-FFF2-40B4-BE49-F238E27FC236}">
                <a16:creationId xmlns:a16="http://schemas.microsoft.com/office/drawing/2014/main" id="{9D8D4CC4-21BE-1F2A-2BEE-BC678B6F200F}"/>
              </a:ext>
            </a:extLst>
          </p:cNvPr>
          <p:cNvSpPr/>
          <p:nvPr/>
        </p:nvSpPr>
        <p:spPr>
          <a:xfrm>
            <a:off x="572022" y="1175657"/>
            <a:ext cx="5386652" cy="5084466"/>
          </a:xfrm>
          <a:prstGeom prst="roundRect">
            <a:avLst/>
          </a:prstGeom>
          <a:noFill/>
          <a:ln>
            <a:solidFill>
              <a:srgbClr val="D5DCF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rPr>
              <a:t>Python is a high-level, interpreted programming language known for its simplicity and readability. With its extensive ecosystem of libraries and frameworks, Python was the primary language used in our project </a:t>
            </a:r>
            <a:endParaRPr lang="en-GB" sz="3200" dirty="0">
              <a:solidFill>
                <a:schemeClr val="tx1"/>
              </a:solidFill>
            </a:endParaRPr>
          </a:p>
        </p:txBody>
      </p:sp>
      <p:sp>
        <p:nvSpPr>
          <p:cNvPr id="9" name="Freeform 2">
            <a:extLst>
              <a:ext uri="{FF2B5EF4-FFF2-40B4-BE49-F238E27FC236}">
                <a16:creationId xmlns:a16="http://schemas.microsoft.com/office/drawing/2014/main" id="{1A17CE93-02C1-BEB3-DF52-6C88DC2A4277}"/>
              </a:ext>
            </a:extLst>
          </p:cNvPr>
          <p:cNvSpPr/>
          <p:nvPr/>
        </p:nvSpPr>
        <p:spPr>
          <a:xfrm>
            <a:off x="6869531" y="1381199"/>
            <a:ext cx="4750447" cy="4673381"/>
          </a:xfrm>
          <a:custGeom>
            <a:avLst/>
            <a:gdLst/>
            <a:ahLst/>
            <a:cxnLst/>
            <a:rect l="l" t="t" r="r" b="b"/>
            <a:pathLst>
              <a:path w="6352412" h="5852160">
                <a:moveTo>
                  <a:pt x="0" y="0"/>
                </a:moveTo>
                <a:lnTo>
                  <a:pt x="6352412" y="0"/>
                </a:lnTo>
                <a:lnTo>
                  <a:pt x="6352412" y="5852160"/>
                </a:lnTo>
                <a:lnTo>
                  <a:pt x="0" y="5852160"/>
                </a:lnTo>
                <a:lnTo>
                  <a:pt x="0" y="0"/>
                </a:lnTo>
                <a:close/>
              </a:path>
            </a:pathLst>
          </a:custGeom>
          <a:blipFill>
            <a:blip r:embed="rId2"/>
            <a:stretch>
              <a:fillRect/>
            </a:stretch>
          </a:blipFill>
        </p:spPr>
      </p:sp>
    </p:spTree>
    <p:extLst>
      <p:ext uri="{BB962C8B-B14F-4D97-AF65-F5344CB8AC3E}">
        <p14:creationId xmlns:p14="http://schemas.microsoft.com/office/powerpoint/2010/main" val="1358710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87741" y="1593947"/>
            <a:ext cx="3852146" cy="3888467"/>
            <a:chOff x="0" y="0"/>
            <a:chExt cx="5004605" cy="5004605"/>
          </a:xfrm>
        </p:grpSpPr>
        <p:grpSp>
          <p:nvGrpSpPr>
            <p:cNvPr id="3" name="Group 3"/>
            <p:cNvGrpSpPr/>
            <p:nvPr/>
          </p:nvGrpSpPr>
          <p:grpSpPr>
            <a:xfrm rot="-5400000">
              <a:off x="0" y="0"/>
              <a:ext cx="5004605" cy="500460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114300" cap="sq">
                <a:solidFill>
                  <a:srgbClr val="000000"/>
                </a:solidFill>
                <a:prstDash val="solid"/>
                <a:miter/>
              </a:ln>
            </p:spPr>
          </p:sp>
          <p:sp>
            <p:nvSpPr>
              <p:cNvPr id="5" name="TextBox 5"/>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6" name="Group 6"/>
            <p:cNvGrpSpPr/>
            <p:nvPr/>
          </p:nvGrpSpPr>
          <p:grpSpPr>
            <a:xfrm rot="-5400000">
              <a:off x="263672" y="275134"/>
              <a:ext cx="4477261" cy="447726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000000">
                  <a:alpha val="0"/>
                </a:srgbClr>
              </a:solidFill>
              <a:ln w="28575" cap="sq">
                <a:solidFill>
                  <a:srgbClr val="000000"/>
                </a:solidFill>
                <a:prstDash val="dash"/>
                <a:miter/>
              </a:ln>
            </p:spPr>
          </p:sp>
          <p:sp>
            <p:nvSpPr>
              <p:cNvPr id="8" name="TextBox 8"/>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grpSp>
        <p:nvGrpSpPr>
          <p:cNvPr id="9" name="Group 9"/>
          <p:cNvGrpSpPr/>
          <p:nvPr/>
        </p:nvGrpSpPr>
        <p:grpSpPr>
          <a:xfrm rot="16200000">
            <a:off x="4496227" y="5181515"/>
            <a:ext cx="249623" cy="24729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60E4"/>
            </a:solidFill>
          </p:spPr>
        </p:sp>
        <p:sp>
          <p:nvSpPr>
            <p:cNvPr id="11" name="TextBox 11"/>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12" name="Group 12"/>
          <p:cNvGrpSpPr/>
          <p:nvPr/>
        </p:nvGrpSpPr>
        <p:grpSpPr>
          <a:xfrm rot="16200000">
            <a:off x="5270682" y="4534800"/>
            <a:ext cx="249623" cy="24729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C3FF"/>
            </a:solidFill>
          </p:spPr>
        </p:sp>
        <p:sp>
          <p:nvSpPr>
            <p:cNvPr id="14" name="TextBox 14"/>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15" name="Group 15"/>
          <p:cNvGrpSpPr/>
          <p:nvPr/>
        </p:nvGrpSpPr>
        <p:grpSpPr>
          <a:xfrm rot="16200000">
            <a:off x="5662421" y="2874771"/>
            <a:ext cx="249623" cy="24729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F00"/>
            </a:solidFill>
          </p:spPr>
        </p:sp>
        <p:sp>
          <p:nvSpPr>
            <p:cNvPr id="17" name="TextBox 17"/>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18" name="Group 18"/>
          <p:cNvGrpSpPr/>
          <p:nvPr/>
        </p:nvGrpSpPr>
        <p:grpSpPr>
          <a:xfrm rot="16200000">
            <a:off x="5126870" y="2048967"/>
            <a:ext cx="249623" cy="24729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755B3"/>
            </a:solidFill>
          </p:spPr>
        </p:sp>
        <p:sp>
          <p:nvSpPr>
            <p:cNvPr id="20" name="TextBox 20"/>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21" name="Group 21"/>
          <p:cNvGrpSpPr/>
          <p:nvPr/>
        </p:nvGrpSpPr>
        <p:grpSpPr>
          <a:xfrm rot="16200000">
            <a:off x="4496227" y="1645575"/>
            <a:ext cx="249623" cy="24729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EDC6"/>
            </a:solidFill>
          </p:spPr>
        </p:sp>
        <p:sp>
          <p:nvSpPr>
            <p:cNvPr id="23" name="TextBox 23"/>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24" name="Group 24"/>
          <p:cNvGrpSpPr/>
          <p:nvPr/>
        </p:nvGrpSpPr>
        <p:grpSpPr>
          <a:xfrm>
            <a:off x="5663587" y="226436"/>
            <a:ext cx="2440904" cy="501516"/>
            <a:chOff x="0" y="0"/>
            <a:chExt cx="1996620" cy="406400"/>
          </a:xfrm>
        </p:grpSpPr>
        <p:sp>
          <p:nvSpPr>
            <p:cNvPr id="25" name="Freeform 25"/>
            <p:cNvSpPr/>
            <p:nvPr/>
          </p:nvSpPr>
          <p:spPr>
            <a:xfrm>
              <a:off x="0" y="0"/>
              <a:ext cx="1996620" cy="406400"/>
            </a:xfrm>
            <a:custGeom>
              <a:avLst/>
              <a:gdLst/>
              <a:ahLst/>
              <a:cxnLst/>
              <a:rect l="l" t="t" r="r" b="b"/>
              <a:pathLst>
                <a:path w="1996620" h="406400">
                  <a:moveTo>
                    <a:pt x="1793420" y="0"/>
                  </a:moveTo>
                  <a:cubicBezTo>
                    <a:pt x="1905644" y="0"/>
                    <a:pt x="1996620" y="90976"/>
                    <a:pt x="1996620" y="203200"/>
                  </a:cubicBezTo>
                  <a:cubicBezTo>
                    <a:pt x="1996620" y="315424"/>
                    <a:pt x="1905644" y="406400"/>
                    <a:pt x="17934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26" name="TextBox 26"/>
            <p:cNvSpPr txBox="1"/>
            <p:nvPr/>
          </p:nvSpPr>
          <p:spPr>
            <a:xfrm>
              <a:off x="0" y="-28575"/>
              <a:ext cx="1996620" cy="434975"/>
            </a:xfrm>
            <a:prstGeom prst="rect">
              <a:avLst/>
            </a:prstGeom>
          </p:spPr>
          <p:txBody>
            <a:bodyPr lIns="42818" tIns="42818" rIns="42818" bIns="42818" rtlCol="0" anchor="ctr"/>
            <a:lstStyle/>
            <a:p>
              <a:pPr algn="ctr">
                <a:lnSpc>
                  <a:spcPts val="2242"/>
                </a:lnSpc>
              </a:pPr>
              <a:endParaRPr sz="1688"/>
            </a:p>
          </p:txBody>
        </p:sp>
      </p:grpSp>
      <p:grpSp>
        <p:nvGrpSpPr>
          <p:cNvPr id="27" name="Group 27"/>
          <p:cNvGrpSpPr/>
          <p:nvPr/>
        </p:nvGrpSpPr>
        <p:grpSpPr>
          <a:xfrm>
            <a:off x="6468831" y="1392517"/>
            <a:ext cx="2440904" cy="501516"/>
            <a:chOff x="0" y="0"/>
            <a:chExt cx="1996620" cy="406400"/>
          </a:xfrm>
        </p:grpSpPr>
        <p:sp>
          <p:nvSpPr>
            <p:cNvPr id="28" name="Freeform 28"/>
            <p:cNvSpPr/>
            <p:nvPr/>
          </p:nvSpPr>
          <p:spPr>
            <a:xfrm>
              <a:off x="0" y="0"/>
              <a:ext cx="1996620" cy="406400"/>
            </a:xfrm>
            <a:custGeom>
              <a:avLst/>
              <a:gdLst/>
              <a:ahLst/>
              <a:cxnLst/>
              <a:rect l="l" t="t" r="r" b="b"/>
              <a:pathLst>
                <a:path w="1996620" h="406400">
                  <a:moveTo>
                    <a:pt x="1793420" y="0"/>
                  </a:moveTo>
                  <a:cubicBezTo>
                    <a:pt x="1905644" y="0"/>
                    <a:pt x="1996620" y="90976"/>
                    <a:pt x="1996620" y="203200"/>
                  </a:cubicBezTo>
                  <a:cubicBezTo>
                    <a:pt x="1996620" y="315424"/>
                    <a:pt x="1905644" y="406400"/>
                    <a:pt x="17934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29" name="TextBox 29"/>
            <p:cNvSpPr txBox="1"/>
            <p:nvPr/>
          </p:nvSpPr>
          <p:spPr>
            <a:xfrm>
              <a:off x="0" y="-28575"/>
              <a:ext cx="1996620" cy="434975"/>
            </a:xfrm>
            <a:prstGeom prst="rect">
              <a:avLst/>
            </a:prstGeom>
          </p:spPr>
          <p:txBody>
            <a:bodyPr lIns="42818" tIns="42818" rIns="42818" bIns="42818" rtlCol="0" anchor="ctr"/>
            <a:lstStyle/>
            <a:p>
              <a:pPr algn="ctr">
                <a:lnSpc>
                  <a:spcPts val="2242"/>
                </a:lnSpc>
              </a:pPr>
              <a:endParaRPr sz="1688"/>
            </a:p>
          </p:txBody>
        </p:sp>
      </p:grpSp>
      <p:grpSp>
        <p:nvGrpSpPr>
          <p:cNvPr id="30" name="Group 30"/>
          <p:cNvGrpSpPr/>
          <p:nvPr/>
        </p:nvGrpSpPr>
        <p:grpSpPr>
          <a:xfrm>
            <a:off x="7068620" y="2569853"/>
            <a:ext cx="2236152" cy="501516"/>
            <a:chOff x="0" y="0"/>
            <a:chExt cx="1829137" cy="406400"/>
          </a:xfrm>
        </p:grpSpPr>
        <p:sp>
          <p:nvSpPr>
            <p:cNvPr id="31" name="Freeform 31"/>
            <p:cNvSpPr/>
            <p:nvPr/>
          </p:nvSpPr>
          <p:spPr>
            <a:xfrm>
              <a:off x="0" y="0"/>
              <a:ext cx="1829137" cy="406400"/>
            </a:xfrm>
            <a:custGeom>
              <a:avLst/>
              <a:gdLst/>
              <a:ahLst/>
              <a:cxnLst/>
              <a:rect l="l" t="t" r="r" b="b"/>
              <a:pathLst>
                <a:path w="1829137" h="406400">
                  <a:moveTo>
                    <a:pt x="1625937" y="0"/>
                  </a:moveTo>
                  <a:cubicBezTo>
                    <a:pt x="1738161" y="0"/>
                    <a:pt x="1829137" y="90976"/>
                    <a:pt x="1829137" y="203200"/>
                  </a:cubicBezTo>
                  <a:cubicBezTo>
                    <a:pt x="1829137" y="315424"/>
                    <a:pt x="1738161" y="406400"/>
                    <a:pt x="162593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32" name="TextBox 32"/>
            <p:cNvSpPr txBox="1"/>
            <p:nvPr/>
          </p:nvSpPr>
          <p:spPr>
            <a:xfrm>
              <a:off x="0" y="-28575"/>
              <a:ext cx="1829137" cy="434975"/>
            </a:xfrm>
            <a:prstGeom prst="rect">
              <a:avLst/>
            </a:prstGeom>
          </p:spPr>
          <p:txBody>
            <a:bodyPr lIns="42818" tIns="42818" rIns="42818" bIns="42818" rtlCol="0" anchor="ctr"/>
            <a:lstStyle/>
            <a:p>
              <a:pPr algn="ctr">
                <a:lnSpc>
                  <a:spcPts val="2242"/>
                </a:lnSpc>
              </a:pPr>
              <a:endParaRPr sz="1688"/>
            </a:p>
          </p:txBody>
        </p:sp>
      </p:grpSp>
      <p:grpSp>
        <p:nvGrpSpPr>
          <p:cNvPr id="33" name="Group 33"/>
          <p:cNvGrpSpPr/>
          <p:nvPr/>
        </p:nvGrpSpPr>
        <p:grpSpPr>
          <a:xfrm rot="16200000">
            <a:off x="6583113" y="2301958"/>
            <a:ext cx="971013" cy="96194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046"/>
            </a:solidFill>
          </p:spPr>
        </p:sp>
        <p:sp>
          <p:nvSpPr>
            <p:cNvPr id="35" name="TextBox 35"/>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36" name="Group 36"/>
          <p:cNvGrpSpPr/>
          <p:nvPr/>
        </p:nvGrpSpPr>
        <p:grpSpPr>
          <a:xfrm>
            <a:off x="6673015" y="4830734"/>
            <a:ext cx="2257728" cy="501516"/>
            <a:chOff x="0" y="0"/>
            <a:chExt cx="1846786" cy="406400"/>
          </a:xfrm>
        </p:grpSpPr>
        <p:sp>
          <p:nvSpPr>
            <p:cNvPr id="37" name="Freeform 37"/>
            <p:cNvSpPr/>
            <p:nvPr/>
          </p:nvSpPr>
          <p:spPr>
            <a:xfrm>
              <a:off x="0" y="0"/>
              <a:ext cx="1846786" cy="406400"/>
            </a:xfrm>
            <a:custGeom>
              <a:avLst/>
              <a:gdLst/>
              <a:ahLst/>
              <a:cxnLst/>
              <a:rect l="l" t="t" r="r" b="b"/>
              <a:pathLst>
                <a:path w="1846786" h="406400">
                  <a:moveTo>
                    <a:pt x="1643586" y="0"/>
                  </a:moveTo>
                  <a:cubicBezTo>
                    <a:pt x="1755810" y="0"/>
                    <a:pt x="1846786" y="90976"/>
                    <a:pt x="1846786" y="203200"/>
                  </a:cubicBezTo>
                  <a:cubicBezTo>
                    <a:pt x="1846786" y="315424"/>
                    <a:pt x="1755810" y="406400"/>
                    <a:pt x="1643586"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38" name="TextBox 38"/>
            <p:cNvSpPr txBox="1"/>
            <p:nvPr/>
          </p:nvSpPr>
          <p:spPr>
            <a:xfrm>
              <a:off x="0" y="-28575"/>
              <a:ext cx="1846786" cy="434975"/>
            </a:xfrm>
            <a:prstGeom prst="rect">
              <a:avLst/>
            </a:prstGeom>
          </p:spPr>
          <p:txBody>
            <a:bodyPr lIns="42818" tIns="42818" rIns="42818" bIns="42818" rtlCol="0" anchor="ctr"/>
            <a:lstStyle/>
            <a:p>
              <a:pPr algn="ctr">
                <a:lnSpc>
                  <a:spcPts val="2242"/>
                </a:lnSpc>
              </a:pPr>
              <a:endParaRPr sz="1688"/>
            </a:p>
          </p:txBody>
        </p:sp>
      </p:grpSp>
      <p:grpSp>
        <p:nvGrpSpPr>
          <p:cNvPr id="39" name="Group 39"/>
          <p:cNvGrpSpPr/>
          <p:nvPr/>
        </p:nvGrpSpPr>
        <p:grpSpPr>
          <a:xfrm rot="16200000">
            <a:off x="6187508" y="4600520"/>
            <a:ext cx="971013" cy="961943"/>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C3FF"/>
            </a:solidFill>
          </p:spPr>
        </p:sp>
        <p:sp>
          <p:nvSpPr>
            <p:cNvPr id="41" name="TextBox 41"/>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42" name="Group 42"/>
          <p:cNvGrpSpPr/>
          <p:nvPr/>
        </p:nvGrpSpPr>
        <p:grpSpPr>
          <a:xfrm>
            <a:off x="5438998" y="6135117"/>
            <a:ext cx="2440904" cy="501516"/>
            <a:chOff x="0" y="0"/>
            <a:chExt cx="1996620" cy="406400"/>
          </a:xfrm>
        </p:grpSpPr>
        <p:sp>
          <p:nvSpPr>
            <p:cNvPr id="43" name="Freeform 43"/>
            <p:cNvSpPr/>
            <p:nvPr/>
          </p:nvSpPr>
          <p:spPr>
            <a:xfrm>
              <a:off x="0" y="0"/>
              <a:ext cx="1996620" cy="406400"/>
            </a:xfrm>
            <a:custGeom>
              <a:avLst/>
              <a:gdLst/>
              <a:ahLst/>
              <a:cxnLst/>
              <a:rect l="l" t="t" r="r" b="b"/>
              <a:pathLst>
                <a:path w="1996620" h="406400">
                  <a:moveTo>
                    <a:pt x="1793420" y="0"/>
                  </a:moveTo>
                  <a:cubicBezTo>
                    <a:pt x="1905644" y="0"/>
                    <a:pt x="1996620" y="90976"/>
                    <a:pt x="1996620" y="203200"/>
                  </a:cubicBezTo>
                  <a:cubicBezTo>
                    <a:pt x="1996620" y="315424"/>
                    <a:pt x="1905644" y="406400"/>
                    <a:pt x="179342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44" name="TextBox 44"/>
            <p:cNvSpPr txBox="1"/>
            <p:nvPr/>
          </p:nvSpPr>
          <p:spPr>
            <a:xfrm>
              <a:off x="0" y="-28575"/>
              <a:ext cx="1996620" cy="434975"/>
            </a:xfrm>
            <a:prstGeom prst="rect">
              <a:avLst/>
            </a:prstGeom>
          </p:spPr>
          <p:txBody>
            <a:bodyPr lIns="42818" tIns="42818" rIns="42818" bIns="42818" rtlCol="0" anchor="ctr"/>
            <a:lstStyle/>
            <a:p>
              <a:pPr algn="ctr">
                <a:lnSpc>
                  <a:spcPts val="2242"/>
                </a:lnSpc>
              </a:pPr>
              <a:endParaRPr sz="1688"/>
            </a:p>
          </p:txBody>
        </p:sp>
      </p:grpSp>
      <p:grpSp>
        <p:nvGrpSpPr>
          <p:cNvPr id="45" name="Group 45"/>
          <p:cNvGrpSpPr/>
          <p:nvPr/>
        </p:nvGrpSpPr>
        <p:grpSpPr>
          <a:xfrm rot="16200000">
            <a:off x="5033633" y="5891522"/>
            <a:ext cx="971013" cy="961943"/>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60E4"/>
            </a:solidFill>
          </p:spPr>
        </p:sp>
        <p:sp>
          <p:nvSpPr>
            <p:cNvPr id="47" name="TextBox 47"/>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sp>
        <p:nvSpPr>
          <p:cNvPr id="48" name="Freeform 48"/>
          <p:cNvSpPr/>
          <p:nvPr/>
        </p:nvSpPr>
        <p:spPr>
          <a:xfrm>
            <a:off x="6343630" y="1660728"/>
            <a:ext cx="615194" cy="604059"/>
          </a:xfrm>
          <a:custGeom>
            <a:avLst/>
            <a:gdLst/>
            <a:ahLst/>
            <a:cxnLst/>
            <a:rect l="l" t="t" r="r" b="b"/>
            <a:pathLst>
              <a:path w="599433" h="583085">
                <a:moveTo>
                  <a:pt x="0" y="0"/>
                </a:moveTo>
                <a:lnTo>
                  <a:pt x="599433" y="0"/>
                </a:lnTo>
                <a:lnTo>
                  <a:pt x="599433" y="583085"/>
                </a:lnTo>
                <a:lnTo>
                  <a:pt x="0" y="5830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9" name="Freeform 49"/>
          <p:cNvSpPr/>
          <p:nvPr/>
        </p:nvSpPr>
        <p:spPr>
          <a:xfrm rot="20675269">
            <a:off x="6037891" y="2695684"/>
            <a:ext cx="422744" cy="249853"/>
          </a:xfrm>
          <a:custGeom>
            <a:avLst/>
            <a:gdLst/>
            <a:ahLst/>
            <a:cxnLst/>
            <a:rect l="l" t="t" r="r" b="b"/>
            <a:pathLst>
              <a:path w="411914" h="241178">
                <a:moveTo>
                  <a:pt x="0" y="0"/>
                </a:moveTo>
                <a:lnTo>
                  <a:pt x="411913" y="0"/>
                </a:lnTo>
                <a:lnTo>
                  <a:pt x="411913" y="241178"/>
                </a:lnTo>
                <a:lnTo>
                  <a:pt x="0" y="241178"/>
                </a:lnTo>
                <a:lnTo>
                  <a:pt x="0" y="0"/>
                </a:lnTo>
                <a:close/>
              </a:path>
            </a:pathLst>
          </a:custGeom>
          <a:blipFill>
            <a:blip r:embed="rId4">
              <a:extLst>
                <a:ext uri="{96DAC541-7B7A-43D3-8B79-37D633B846F1}">
                  <asvg:svgBlip xmlns:asvg="http://schemas.microsoft.com/office/drawing/2016/SVG/main" r:embed="rId5"/>
                </a:ext>
              </a:extLst>
            </a:blip>
            <a:stretch>
              <a:fillRect l="-149971"/>
            </a:stretch>
          </a:blipFill>
        </p:spPr>
      </p:sp>
      <p:sp>
        <p:nvSpPr>
          <p:cNvPr id="50" name="Freeform 50"/>
          <p:cNvSpPr/>
          <p:nvPr/>
        </p:nvSpPr>
        <p:spPr>
          <a:xfrm rot="1820444">
            <a:off x="5737030" y="4792350"/>
            <a:ext cx="403582" cy="249853"/>
          </a:xfrm>
          <a:custGeom>
            <a:avLst/>
            <a:gdLst/>
            <a:ahLst/>
            <a:cxnLst/>
            <a:rect l="l" t="t" r="r" b="b"/>
            <a:pathLst>
              <a:path w="393243" h="241178">
                <a:moveTo>
                  <a:pt x="0" y="0"/>
                </a:moveTo>
                <a:lnTo>
                  <a:pt x="393243" y="0"/>
                </a:lnTo>
                <a:lnTo>
                  <a:pt x="393243" y="241179"/>
                </a:lnTo>
                <a:lnTo>
                  <a:pt x="0" y="241179"/>
                </a:lnTo>
                <a:lnTo>
                  <a:pt x="0" y="0"/>
                </a:lnTo>
                <a:close/>
              </a:path>
            </a:pathLst>
          </a:custGeom>
          <a:blipFill>
            <a:blip r:embed="rId6">
              <a:extLst>
                <a:ext uri="{96DAC541-7B7A-43D3-8B79-37D633B846F1}">
                  <asvg:svgBlip xmlns:asvg="http://schemas.microsoft.com/office/drawing/2016/SVG/main" r:embed="rId7"/>
                </a:ext>
              </a:extLst>
            </a:blip>
            <a:stretch>
              <a:fillRect l="-161840"/>
            </a:stretch>
          </a:blipFill>
        </p:spPr>
      </p:sp>
      <p:sp>
        <p:nvSpPr>
          <p:cNvPr id="51" name="Freeform 51"/>
          <p:cNvSpPr/>
          <p:nvPr/>
        </p:nvSpPr>
        <p:spPr>
          <a:xfrm rot="2932163">
            <a:off x="4738100" y="5606478"/>
            <a:ext cx="439850" cy="247519"/>
          </a:xfrm>
          <a:custGeom>
            <a:avLst/>
            <a:gdLst/>
            <a:ahLst/>
            <a:cxnLst/>
            <a:rect l="l" t="t" r="r" b="b"/>
            <a:pathLst>
              <a:path w="424578" h="241178">
                <a:moveTo>
                  <a:pt x="0" y="0"/>
                </a:moveTo>
                <a:lnTo>
                  <a:pt x="424579" y="0"/>
                </a:lnTo>
                <a:lnTo>
                  <a:pt x="424579" y="241178"/>
                </a:lnTo>
                <a:lnTo>
                  <a:pt x="0" y="241178"/>
                </a:lnTo>
                <a:lnTo>
                  <a:pt x="0" y="0"/>
                </a:lnTo>
                <a:close/>
              </a:path>
            </a:pathLst>
          </a:custGeom>
          <a:blipFill>
            <a:blip r:embed="rId8">
              <a:extLst>
                <a:ext uri="{96DAC541-7B7A-43D3-8B79-37D633B846F1}">
                  <asvg:svgBlip xmlns:asvg="http://schemas.microsoft.com/office/drawing/2016/SVG/main" r:embed="rId9"/>
                </a:ext>
              </a:extLst>
            </a:blip>
            <a:stretch>
              <a:fillRect l="-142515"/>
            </a:stretch>
          </a:blipFill>
        </p:spPr>
      </p:sp>
      <p:sp>
        <p:nvSpPr>
          <p:cNvPr id="52" name="Freeform 52"/>
          <p:cNvSpPr/>
          <p:nvPr/>
        </p:nvSpPr>
        <p:spPr>
          <a:xfrm rot="20088974">
            <a:off x="5480526" y="1839437"/>
            <a:ext cx="443253" cy="249853"/>
          </a:xfrm>
          <a:custGeom>
            <a:avLst/>
            <a:gdLst/>
            <a:ahLst/>
            <a:cxnLst/>
            <a:rect l="l" t="t" r="r" b="b"/>
            <a:pathLst>
              <a:path w="431897" h="241178">
                <a:moveTo>
                  <a:pt x="0" y="0"/>
                </a:moveTo>
                <a:lnTo>
                  <a:pt x="431897" y="0"/>
                </a:lnTo>
                <a:lnTo>
                  <a:pt x="431897" y="241178"/>
                </a:lnTo>
                <a:lnTo>
                  <a:pt x="0" y="241178"/>
                </a:lnTo>
                <a:lnTo>
                  <a:pt x="0" y="0"/>
                </a:lnTo>
                <a:close/>
              </a:path>
            </a:pathLst>
          </a:custGeom>
          <a:blipFill>
            <a:blip r:embed="rId10">
              <a:extLst>
                <a:ext uri="{96DAC541-7B7A-43D3-8B79-37D633B846F1}">
                  <asvg:svgBlip xmlns:asvg="http://schemas.microsoft.com/office/drawing/2016/SVG/main" r:embed="rId11"/>
                </a:ext>
              </a:extLst>
            </a:blip>
            <a:stretch>
              <a:fillRect l="-138405"/>
            </a:stretch>
          </a:blipFill>
        </p:spPr>
      </p:sp>
      <p:sp>
        <p:nvSpPr>
          <p:cNvPr id="53" name="Freeform 53"/>
          <p:cNvSpPr/>
          <p:nvPr/>
        </p:nvSpPr>
        <p:spPr>
          <a:xfrm rot="18409194">
            <a:off x="4735323" y="1162647"/>
            <a:ext cx="452745" cy="247519"/>
          </a:xfrm>
          <a:custGeom>
            <a:avLst/>
            <a:gdLst/>
            <a:ahLst/>
            <a:cxnLst/>
            <a:rect l="l" t="t" r="r" b="b"/>
            <a:pathLst>
              <a:path w="437025" h="241178">
                <a:moveTo>
                  <a:pt x="0" y="0"/>
                </a:moveTo>
                <a:lnTo>
                  <a:pt x="437025" y="0"/>
                </a:lnTo>
                <a:lnTo>
                  <a:pt x="437025" y="241178"/>
                </a:lnTo>
                <a:lnTo>
                  <a:pt x="0" y="241178"/>
                </a:lnTo>
                <a:lnTo>
                  <a:pt x="0" y="0"/>
                </a:lnTo>
                <a:close/>
              </a:path>
            </a:pathLst>
          </a:custGeom>
          <a:blipFill>
            <a:blip r:embed="rId12">
              <a:extLst>
                <a:ext uri="{96DAC541-7B7A-43D3-8B79-37D633B846F1}">
                  <asvg:svgBlip xmlns:asvg="http://schemas.microsoft.com/office/drawing/2016/SVG/main" r:embed="rId13"/>
                </a:ext>
              </a:extLst>
            </a:blip>
            <a:stretch>
              <a:fillRect l="-135608"/>
            </a:stretch>
          </a:blipFill>
        </p:spPr>
      </p:sp>
      <p:sp>
        <p:nvSpPr>
          <p:cNvPr id="54" name="Freeform 54"/>
          <p:cNvSpPr/>
          <p:nvPr/>
        </p:nvSpPr>
        <p:spPr>
          <a:xfrm>
            <a:off x="5075264" y="0"/>
            <a:ext cx="1016870" cy="1030323"/>
          </a:xfrm>
          <a:custGeom>
            <a:avLst/>
            <a:gdLst/>
            <a:ahLst/>
            <a:cxnLst/>
            <a:rect l="l" t="t" r="r" b="b"/>
            <a:pathLst>
              <a:path w="990818" h="994548">
                <a:moveTo>
                  <a:pt x="0" y="0"/>
                </a:moveTo>
                <a:lnTo>
                  <a:pt x="990818" y="0"/>
                </a:lnTo>
                <a:lnTo>
                  <a:pt x="990818" y="994547"/>
                </a:lnTo>
                <a:lnTo>
                  <a:pt x="0" y="994547"/>
                </a:lnTo>
                <a:lnTo>
                  <a:pt x="0" y="0"/>
                </a:lnTo>
                <a:close/>
              </a:path>
            </a:pathLst>
          </a:custGeom>
          <a:blipFill>
            <a:blip r:embed="rId14"/>
            <a:stretch>
              <a:fillRect/>
            </a:stretch>
          </a:blipFill>
        </p:spPr>
      </p:sp>
      <p:sp>
        <p:nvSpPr>
          <p:cNvPr id="55" name="Freeform 55"/>
          <p:cNvSpPr/>
          <p:nvPr/>
        </p:nvSpPr>
        <p:spPr>
          <a:xfrm>
            <a:off x="6082828" y="1130066"/>
            <a:ext cx="958557" cy="967595"/>
          </a:xfrm>
          <a:custGeom>
            <a:avLst/>
            <a:gdLst/>
            <a:ahLst/>
            <a:cxnLst/>
            <a:rect l="l" t="t" r="r" b="b"/>
            <a:pathLst>
              <a:path w="933999" h="933999">
                <a:moveTo>
                  <a:pt x="0" y="0"/>
                </a:moveTo>
                <a:lnTo>
                  <a:pt x="933998" y="0"/>
                </a:lnTo>
                <a:lnTo>
                  <a:pt x="933998" y="933999"/>
                </a:lnTo>
                <a:lnTo>
                  <a:pt x="0" y="933999"/>
                </a:lnTo>
                <a:lnTo>
                  <a:pt x="0" y="0"/>
                </a:lnTo>
                <a:close/>
              </a:path>
            </a:pathLst>
          </a:custGeom>
          <a:blipFill>
            <a:blip r:embed="rId15"/>
            <a:stretch>
              <a:fillRect/>
            </a:stretch>
          </a:blipFill>
        </p:spPr>
      </p:sp>
      <p:grpSp>
        <p:nvGrpSpPr>
          <p:cNvPr id="56" name="Group 56"/>
          <p:cNvGrpSpPr/>
          <p:nvPr/>
        </p:nvGrpSpPr>
        <p:grpSpPr>
          <a:xfrm rot="16200000">
            <a:off x="5646839" y="3854598"/>
            <a:ext cx="249623" cy="247291"/>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BF00"/>
            </a:solidFill>
          </p:spPr>
        </p:sp>
        <p:sp>
          <p:nvSpPr>
            <p:cNvPr id="58" name="TextBox 58"/>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grpSp>
        <p:nvGrpSpPr>
          <p:cNvPr id="59" name="Group 59"/>
          <p:cNvGrpSpPr/>
          <p:nvPr/>
        </p:nvGrpSpPr>
        <p:grpSpPr>
          <a:xfrm>
            <a:off x="7068620" y="3640676"/>
            <a:ext cx="2236152" cy="501516"/>
            <a:chOff x="0" y="0"/>
            <a:chExt cx="1829137" cy="406400"/>
          </a:xfrm>
        </p:grpSpPr>
        <p:sp>
          <p:nvSpPr>
            <p:cNvPr id="60" name="Freeform 60"/>
            <p:cNvSpPr/>
            <p:nvPr/>
          </p:nvSpPr>
          <p:spPr>
            <a:xfrm>
              <a:off x="0" y="0"/>
              <a:ext cx="1829137" cy="406400"/>
            </a:xfrm>
            <a:custGeom>
              <a:avLst/>
              <a:gdLst/>
              <a:ahLst/>
              <a:cxnLst/>
              <a:rect l="l" t="t" r="r" b="b"/>
              <a:pathLst>
                <a:path w="1829137" h="406400">
                  <a:moveTo>
                    <a:pt x="1625937" y="0"/>
                  </a:moveTo>
                  <a:cubicBezTo>
                    <a:pt x="1738161" y="0"/>
                    <a:pt x="1829137" y="90976"/>
                    <a:pt x="1829137" y="203200"/>
                  </a:cubicBezTo>
                  <a:cubicBezTo>
                    <a:pt x="1829137" y="315424"/>
                    <a:pt x="1738161" y="406400"/>
                    <a:pt x="1625937"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000000"/>
              </a:solidFill>
              <a:prstDash val="dash"/>
              <a:miter/>
            </a:ln>
          </p:spPr>
        </p:sp>
        <p:sp>
          <p:nvSpPr>
            <p:cNvPr id="61" name="TextBox 61"/>
            <p:cNvSpPr txBox="1"/>
            <p:nvPr/>
          </p:nvSpPr>
          <p:spPr>
            <a:xfrm>
              <a:off x="0" y="-28575"/>
              <a:ext cx="1829137" cy="434975"/>
            </a:xfrm>
            <a:prstGeom prst="rect">
              <a:avLst/>
            </a:prstGeom>
          </p:spPr>
          <p:txBody>
            <a:bodyPr lIns="42818" tIns="42818" rIns="42818" bIns="42818" rtlCol="0" anchor="ctr"/>
            <a:lstStyle/>
            <a:p>
              <a:pPr algn="ctr">
                <a:lnSpc>
                  <a:spcPts val="2242"/>
                </a:lnSpc>
              </a:pPr>
              <a:endParaRPr sz="1688"/>
            </a:p>
          </p:txBody>
        </p:sp>
      </p:grpSp>
      <p:grpSp>
        <p:nvGrpSpPr>
          <p:cNvPr id="62" name="Group 62"/>
          <p:cNvGrpSpPr/>
          <p:nvPr/>
        </p:nvGrpSpPr>
        <p:grpSpPr>
          <a:xfrm rot="16200000">
            <a:off x="6583113" y="3460456"/>
            <a:ext cx="971013" cy="961943"/>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6F6"/>
            </a:solidFill>
          </p:spPr>
        </p:sp>
        <p:sp>
          <p:nvSpPr>
            <p:cNvPr id="64" name="TextBox 64"/>
            <p:cNvSpPr txBox="1"/>
            <p:nvPr/>
          </p:nvSpPr>
          <p:spPr>
            <a:xfrm>
              <a:off x="76200" y="76200"/>
              <a:ext cx="660400" cy="660400"/>
            </a:xfrm>
            <a:prstGeom prst="rect">
              <a:avLst/>
            </a:prstGeom>
          </p:spPr>
          <p:txBody>
            <a:bodyPr lIns="21533" tIns="21533" rIns="21533" bIns="21533" rtlCol="0" anchor="ctr"/>
            <a:lstStyle/>
            <a:p>
              <a:pPr algn="ctr">
                <a:lnSpc>
                  <a:spcPts val="1165"/>
                </a:lnSpc>
              </a:pPr>
              <a:endParaRPr sz="1688"/>
            </a:p>
          </p:txBody>
        </p:sp>
      </p:grpSp>
      <p:sp>
        <p:nvSpPr>
          <p:cNvPr id="65" name="Freeform 65"/>
          <p:cNvSpPr/>
          <p:nvPr/>
        </p:nvSpPr>
        <p:spPr>
          <a:xfrm rot="21513169">
            <a:off x="5964119" y="3858780"/>
            <a:ext cx="422744" cy="249853"/>
          </a:xfrm>
          <a:custGeom>
            <a:avLst/>
            <a:gdLst/>
            <a:ahLst/>
            <a:cxnLst/>
            <a:rect l="l" t="t" r="r" b="b"/>
            <a:pathLst>
              <a:path w="411914" h="241178">
                <a:moveTo>
                  <a:pt x="0" y="0"/>
                </a:moveTo>
                <a:lnTo>
                  <a:pt x="411914" y="0"/>
                </a:lnTo>
                <a:lnTo>
                  <a:pt x="411914" y="241178"/>
                </a:lnTo>
                <a:lnTo>
                  <a:pt x="0" y="241178"/>
                </a:lnTo>
                <a:lnTo>
                  <a:pt x="0" y="0"/>
                </a:lnTo>
                <a:close/>
              </a:path>
            </a:pathLst>
          </a:custGeom>
          <a:blipFill>
            <a:blip r:embed="rId4">
              <a:extLst>
                <a:ext uri="{96DAC541-7B7A-43D3-8B79-37D633B846F1}">
                  <asvg:svgBlip xmlns:asvg="http://schemas.microsoft.com/office/drawing/2016/SVG/main" r:embed="rId5"/>
                </a:ext>
              </a:extLst>
            </a:blip>
            <a:stretch>
              <a:fillRect l="-149971"/>
            </a:stretch>
          </a:blipFill>
        </p:spPr>
      </p:sp>
      <p:sp>
        <p:nvSpPr>
          <p:cNvPr id="66" name="Freeform 66"/>
          <p:cNvSpPr/>
          <p:nvPr/>
        </p:nvSpPr>
        <p:spPr>
          <a:xfrm>
            <a:off x="6775095" y="2361674"/>
            <a:ext cx="626497" cy="834851"/>
          </a:xfrm>
          <a:custGeom>
            <a:avLst/>
            <a:gdLst/>
            <a:ahLst/>
            <a:cxnLst/>
            <a:rect l="l" t="t" r="r" b="b"/>
            <a:pathLst>
              <a:path w="610446" h="805863">
                <a:moveTo>
                  <a:pt x="0" y="0"/>
                </a:moveTo>
                <a:lnTo>
                  <a:pt x="610446" y="0"/>
                </a:lnTo>
                <a:lnTo>
                  <a:pt x="610446" y="805863"/>
                </a:lnTo>
                <a:lnTo>
                  <a:pt x="0" y="805863"/>
                </a:lnTo>
                <a:lnTo>
                  <a:pt x="0" y="0"/>
                </a:lnTo>
                <a:close/>
              </a:path>
            </a:pathLst>
          </a:custGeom>
          <a:blipFill>
            <a:blip r:embed="rId16"/>
            <a:stretch>
              <a:fillRect/>
            </a:stretch>
          </a:blipFill>
        </p:spPr>
      </p:sp>
      <p:sp>
        <p:nvSpPr>
          <p:cNvPr id="67" name="Freeform 67"/>
          <p:cNvSpPr/>
          <p:nvPr/>
        </p:nvSpPr>
        <p:spPr>
          <a:xfrm>
            <a:off x="6368317" y="3558132"/>
            <a:ext cx="1181014" cy="644984"/>
          </a:xfrm>
          <a:custGeom>
            <a:avLst/>
            <a:gdLst/>
            <a:ahLst/>
            <a:cxnLst/>
            <a:rect l="l" t="t" r="r" b="b"/>
            <a:pathLst>
              <a:path w="1150756" h="622589">
                <a:moveTo>
                  <a:pt x="0" y="0"/>
                </a:moveTo>
                <a:lnTo>
                  <a:pt x="1150756" y="0"/>
                </a:lnTo>
                <a:lnTo>
                  <a:pt x="1150756" y="622589"/>
                </a:lnTo>
                <a:lnTo>
                  <a:pt x="0" y="622589"/>
                </a:lnTo>
                <a:lnTo>
                  <a:pt x="0" y="0"/>
                </a:lnTo>
                <a:close/>
              </a:path>
            </a:pathLst>
          </a:custGeom>
          <a:blipFill>
            <a:blip r:embed="rId17"/>
            <a:stretch>
              <a:fillRect/>
            </a:stretch>
          </a:blipFill>
        </p:spPr>
      </p:sp>
      <p:sp>
        <p:nvSpPr>
          <p:cNvPr id="68" name="Freeform 68"/>
          <p:cNvSpPr/>
          <p:nvPr/>
        </p:nvSpPr>
        <p:spPr>
          <a:xfrm>
            <a:off x="6109279" y="4683491"/>
            <a:ext cx="1083896" cy="699494"/>
          </a:xfrm>
          <a:custGeom>
            <a:avLst/>
            <a:gdLst/>
            <a:ahLst/>
            <a:cxnLst/>
            <a:rect l="l" t="t" r="r" b="b"/>
            <a:pathLst>
              <a:path w="1056127" h="675206">
                <a:moveTo>
                  <a:pt x="0" y="0"/>
                </a:moveTo>
                <a:lnTo>
                  <a:pt x="1056127" y="0"/>
                </a:lnTo>
                <a:lnTo>
                  <a:pt x="1056127" y="675206"/>
                </a:lnTo>
                <a:lnTo>
                  <a:pt x="0" y="675206"/>
                </a:lnTo>
                <a:lnTo>
                  <a:pt x="0" y="0"/>
                </a:lnTo>
                <a:close/>
              </a:path>
            </a:pathLst>
          </a:custGeom>
          <a:blipFill>
            <a:blip r:embed="rId18"/>
            <a:stretch>
              <a:fillRect/>
            </a:stretch>
          </a:blipFill>
        </p:spPr>
      </p:sp>
      <p:sp>
        <p:nvSpPr>
          <p:cNvPr id="69" name="Freeform 69"/>
          <p:cNvSpPr/>
          <p:nvPr/>
        </p:nvSpPr>
        <p:spPr>
          <a:xfrm>
            <a:off x="5169793" y="5794599"/>
            <a:ext cx="698692" cy="906394"/>
          </a:xfrm>
          <a:custGeom>
            <a:avLst/>
            <a:gdLst/>
            <a:ahLst/>
            <a:cxnLst/>
            <a:rect l="l" t="t" r="r" b="b"/>
            <a:pathLst>
              <a:path w="680791" h="874923">
                <a:moveTo>
                  <a:pt x="0" y="0"/>
                </a:moveTo>
                <a:lnTo>
                  <a:pt x="680791" y="0"/>
                </a:lnTo>
                <a:lnTo>
                  <a:pt x="680791" y="874923"/>
                </a:lnTo>
                <a:lnTo>
                  <a:pt x="0" y="874923"/>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71" name="TextBox 71"/>
          <p:cNvSpPr txBox="1"/>
          <p:nvPr/>
        </p:nvSpPr>
        <p:spPr>
          <a:xfrm>
            <a:off x="7226785" y="4984221"/>
            <a:ext cx="1755412" cy="226736"/>
          </a:xfrm>
          <a:prstGeom prst="rect">
            <a:avLst/>
          </a:prstGeom>
        </p:spPr>
        <p:txBody>
          <a:bodyPr lIns="0" tIns="0" rIns="0" bIns="0" rtlCol="0" anchor="t">
            <a:spAutoFit/>
          </a:bodyPr>
          <a:lstStyle/>
          <a:p>
            <a:pPr>
              <a:lnSpc>
                <a:spcPts val="1611"/>
              </a:lnSpc>
              <a:spcBef>
                <a:spcPct val="0"/>
              </a:spcBef>
            </a:pPr>
            <a:r>
              <a:rPr lang="en-US" sz="1534" b="1">
                <a:solidFill>
                  <a:srgbClr val="000000"/>
                </a:solidFill>
                <a:latin typeface="Oswald Bold"/>
                <a:ea typeface="Oswald Bold"/>
                <a:cs typeface="Oswald Bold"/>
                <a:sym typeface="Oswald Bold"/>
              </a:rPr>
              <a:t>05. TensorFlow</a:t>
            </a:r>
          </a:p>
        </p:txBody>
      </p:sp>
      <p:sp>
        <p:nvSpPr>
          <p:cNvPr id="72" name="TextBox 72"/>
          <p:cNvSpPr txBox="1"/>
          <p:nvPr/>
        </p:nvSpPr>
        <p:spPr>
          <a:xfrm>
            <a:off x="6133369" y="6267531"/>
            <a:ext cx="1755412" cy="226736"/>
          </a:xfrm>
          <a:prstGeom prst="rect">
            <a:avLst/>
          </a:prstGeom>
        </p:spPr>
        <p:txBody>
          <a:bodyPr lIns="0" tIns="0" rIns="0" bIns="0" rtlCol="0" anchor="t">
            <a:spAutoFit/>
          </a:bodyPr>
          <a:lstStyle/>
          <a:p>
            <a:pPr>
              <a:lnSpc>
                <a:spcPts val="1611"/>
              </a:lnSpc>
              <a:spcBef>
                <a:spcPct val="0"/>
              </a:spcBef>
            </a:pPr>
            <a:r>
              <a:rPr lang="en-US" sz="1534" b="1">
                <a:solidFill>
                  <a:srgbClr val="000000"/>
                </a:solidFill>
                <a:latin typeface="Oswald Bold"/>
                <a:ea typeface="Oswald Bold"/>
                <a:cs typeface="Oswald Bold"/>
                <a:sym typeface="Oswald Bold"/>
              </a:rPr>
              <a:t>06. Flask</a:t>
            </a:r>
          </a:p>
        </p:txBody>
      </p:sp>
      <p:sp>
        <p:nvSpPr>
          <p:cNvPr id="73" name="TextBox 73"/>
          <p:cNvSpPr txBox="1"/>
          <p:nvPr/>
        </p:nvSpPr>
        <p:spPr>
          <a:xfrm>
            <a:off x="7666939" y="2708566"/>
            <a:ext cx="1637833" cy="226736"/>
          </a:xfrm>
          <a:prstGeom prst="rect">
            <a:avLst/>
          </a:prstGeom>
        </p:spPr>
        <p:txBody>
          <a:bodyPr lIns="0" tIns="0" rIns="0" bIns="0" rtlCol="0" anchor="t">
            <a:spAutoFit/>
          </a:bodyPr>
          <a:lstStyle/>
          <a:p>
            <a:pPr>
              <a:lnSpc>
                <a:spcPts val="1611"/>
              </a:lnSpc>
              <a:spcBef>
                <a:spcPct val="0"/>
              </a:spcBef>
            </a:pPr>
            <a:r>
              <a:rPr lang="en-US" sz="1534" b="1">
                <a:solidFill>
                  <a:srgbClr val="000000"/>
                </a:solidFill>
                <a:latin typeface="Oswald Bold"/>
                <a:ea typeface="Oswald Bold"/>
                <a:cs typeface="Oswald Bold"/>
                <a:sym typeface="Oswald Bold"/>
              </a:rPr>
              <a:t>03. OpenCV</a:t>
            </a:r>
          </a:p>
        </p:txBody>
      </p:sp>
      <p:sp>
        <p:nvSpPr>
          <p:cNvPr id="74" name="TextBox 74"/>
          <p:cNvSpPr txBox="1"/>
          <p:nvPr/>
        </p:nvSpPr>
        <p:spPr>
          <a:xfrm>
            <a:off x="7205775" y="1521538"/>
            <a:ext cx="1564310" cy="226736"/>
          </a:xfrm>
          <a:prstGeom prst="rect">
            <a:avLst/>
          </a:prstGeom>
        </p:spPr>
        <p:txBody>
          <a:bodyPr lIns="0" tIns="0" rIns="0" bIns="0" rtlCol="0" anchor="t">
            <a:spAutoFit/>
          </a:bodyPr>
          <a:lstStyle/>
          <a:p>
            <a:pPr>
              <a:lnSpc>
                <a:spcPts val="1611"/>
              </a:lnSpc>
              <a:spcBef>
                <a:spcPct val="0"/>
              </a:spcBef>
            </a:pPr>
            <a:r>
              <a:rPr lang="en-US" sz="1534" b="1" dirty="0">
                <a:solidFill>
                  <a:srgbClr val="000000"/>
                </a:solidFill>
                <a:latin typeface="Oswald Bold"/>
                <a:ea typeface="Oswald Bold"/>
                <a:cs typeface="Oswald Bold"/>
                <a:sym typeface="Oswald Bold"/>
              </a:rPr>
              <a:t>02. matplotlib</a:t>
            </a:r>
          </a:p>
        </p:txBody>
      </p:sp>
      <p:sp>
        <p:nvSpPr>
          <p:cNvPr id="75" name="TextBox 75"/>
          <p:cNvSpPr txBox="1"/>
          <p:nvPr/>
        </p:nvSpPr>
        <p:spPr>
          <a:xfrm>
            <a:off x="6152867" y="355457"/>
            <a:ext cx="1755412" cy="226736"/>
          </a:xfrm>
          <a:prstGeom prst="rect">
            <a:avLst/>
          </a:prstGeom>
        </p:spPr>
        <p:txBody>
          <a:bodyPr lIns="0" tIns="0" rIns="0" bIns="0" rtlCol="0" anchor="t">
            <a:spAutoFit/>
          </a:bodyPr>
          <a:lstStyle/>
          <a:p>
            <a:pPr>
              <a:lnSpc>
                <a:spcPts val="1611"/>
              </a:lnSpc>
              <a:spcBef>
                <a:spcPct val="0"/>
              </a:spcBef>
            </a:pPr>
            <a:r>
              <a:rPr lang="en-US" sz="1534" b="1" dirty="0">
                <a:solidFill>
                  <a:srgbClr val="000000"/>
                </a:solidFill>
                <a:latin typeface="Oswald Bold"/>
                <a:ea typeface="Oswald Bold"/>
                <a:cs typeface="Oswald Bold"/>
                <a:sym typeface="Oswald Bold"/>
              </a:rPr>
              <a:t>01. Pandas</a:t>
            </a:r>
          </a:p>
        </p:txBody>
      </p:sp>
      <p:sp>
        <p:nvSpPr>
          <p:cNvPr id="76" name="TextBox 76"/>
          <p:cNvSpPr txBox="1"/>
          <p:nvPr/>
        </p:nvSpPr>
        <p:spPr>
          <a:xfrm>
            <a:off x="7666939" y="3867064"/>
            <a:ext cx="1637833" cy="205184"/>
          </a:xfrm>
          <a:prstGeom prst="rect">
            <a:avLst/>
          </a:prstGeom>
        </p:spPr>
        <p:txBody>
          <a:bodyPr lIns="0" tIns="0" rIns="0" bIns="0" rtlCol="0" anchor="t">
            <a:spAutoFit/>
          </a:bodyPr>
          <a:lstStyle/>
          <a:p>
            <a:pPr>
              <a:lnSpc>
                <a:spcPts val="1611"/>
              </a:lnSpc>
              <a:spcBef>
                <a:spcPct val="0"/>
              </a:spcBef>
            </a:pPr>
            <a:r>
              <a:rPr lang="en-US" sz="1534" b="1" dirty="0">
                <a:solidFill>
                  <a:srgbClr val="000000"/>
                </a:solidFill>
                <a:latin typeface="Oswald Bold"/>
                <a:ea typeface="Oswald Bold"/>
                <a:cs typeface="Oswald Bold"/>
                <a:sym typeface="Oswald Bold"/>
              </a:rPr>
              <a:t>04.  Scikit-Learn</a:t>
            </a:r>
          </a:p>
        </p:txBody>
      </p:sp>
      <p:sp>
        <p:nvSpPr>
          <p:cNvPr id="79" name="TextBox 78">
            <a:extLst>
              <a:ext uri="{FF2B5EF4-FFF2-40B4-BE49-F238E27FC236}">
                <a16:creationId xmlns:a16="http://schemas.microsoft.com/office/drawing/2014/main" id="{253D0CC8-E5CA-7DED-A295-BB93A09CBD37}"/>
              </a:ext>
            </a:extLst>
          </p:cNvPr>
          <p:cNvSpPr txBox="1"/>
          <p:nvPr/>
        </p:nvSpPr>
        <p:spPr>
          <a:xfrm>
            <a:off x="2371907" y="2723592"/>
            <a:ext cx="3019969" cy="1938992"/>
          </a:xfrm>
          <a:prstGeom prst="rect">
            <a:avLst/>
          </a:prstGeom>
          <a:noFill/>
        </p:spPr>
        <p:txBody>
          <a:bodyPr wrap="square">
            <a:spAutoFit/>
          </a:bodyPr>
          <a:lstStyle/>
          <a:p>
            <a:pPr algn="ctr"/>
            <a:r>
              <a:rPr lang="en-US" sz="4000" b="1" dirty="0">
                <a:solidFill>
                  <a:srgbClr val="404040"/>
                </a:solidFill>
                <a:latin typeface="Public Sans Bold"/>
                <a:ea typeface="Public Sans Bold"/>
                <a:cs typeface="Public Sans Bold"/>
                <a:sym typeface="Public Sans Bold"/>
              </a:rPr>
              <a:t>b. Libraries and Frameworks </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500" fill="hold"/>
                                        <p:tgtEl>
                                          <p:spTgt spid="75"/>
                                        </p:tgtEl>
                                        <p:attrNameLst>
                                          <p:attrName>ppt_x</p:attrName>
                                        </p:attrNameLst>
                                      </p:cBhvr>
                                      <p:tavLst>
                                        <p:tav tm="0">
                                          <p:val>
                                            <p:strVal val="0-#ppt_w/2"/>
                                          </p:val>
                                        </p:tav>
                                        <p:tav tm="100000">
                                          <p:val>
                                            <p:strVal val="#ppt_x"/>
                                          </p:val>
                                        </p:tav>
                                      </p:tavLst>
                                    </p:anim>
                                    <p:anim calcmode="lin" valueType="num">
                                      <p:cBhvr additive="base">
                                        <p:cTn id="8" dur="500" fill="hold"/>
                                        <p:tgtEl>
                                          <p:spTgt spid="75"/>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500" fill="hold"/>
                                        <p:tgtEl>
                                          <p:spTgt spid="54"/>
                                        </p:tgtEl>
                                        <p:attrNameLst>
                                          <p:attrName>ppt_x</p:attrName>
                                        </p:attrNameLst>
                                      </p:cBhvr>
                                      <p:tavLst>
                                        <p:tav tm="0">
                                          <p:val>
                                            <p:strVal val="0-#ppt_w/2"/>
                                          </p:val>
                                        </p:tav>
                                        <p:tav tm="100000">
                                          <p:val>
                                            <p:strVal val="#ppt_x"/>
                                          </p:val>
                                        </p:tav>
                                      </p:tavLst>
                                    </p:anim>
                                    <p:anim calcmode="lin" valueType="num">
                                      <p:cBhvr additive="base">
                                        <p:cTn id="12" dur="500" fill="hold"/>
                                        <p:tgtEl>
                                          <p:spTgt spid="54"/>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additive="base">
                                        <p:cTn id="15" dur="500" fill="hold"/>
                                        <p:tgtEl>
                                          <p:spTgt spid="24"/>
                                        </p:tgtEl>
                                        <p:attrNameLst>
                                          <p:attrName>ppt_x</p:attrName>
                                        </p:attrNameLst>
                                      </p:cBhvr>
                                      <p:tavLst>
                                        <p:tav tm="0">
                                          <p:val>
                                            <p:strVal val="0-#ppt_w/2"/>
                                          </p:val>
                                        </p:tav>
                                        <p:tav tm="100000">
                                          <p:val>
                                            <p:strVal val="#ppt_x"/>
                                          </p:val>
                                        </p:tav>
                                      </p:tavLst>
                                    </p:anim>
                                    <p:anim calcmode="lin" valueType="num">
                                      <p:cBhvr additive="base">
                                        <p:cTn id="16" dur="500" fill="hold"/>
                                        <p:tgtEl>
                                          <p:spTgt spid="24"/>
                                        </p:tgtEl>
                                        <p:attrNameLst>
                                          <p:attrName>ppt_y</p:attrName>
                                        </p:attrNameLst>
                                      </p:cBhvr>
                                      <p:tavLst>
                                        <p:tav tm="0">
                                          <p:val>
                                            <p:strVal val="1+#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0-#ppt_w/2"/>
                                          </p:val>
                                        </p:tav>
                                        <p:tav tm="100000">
                                          <p:val>
                                            <p:strVal val="#ppt_x"/>
                                          </p:val>
                                        </p:tav>
                                      </p:tavLst>
                                    </p:anim>
                                    <p:anim calcmode="lin" valueType="num">
                                      <p:cBhvr additive="base">
                                        <p:cTn id="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2"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0-#ppt_w/2"/>
                                          </p:val>
                                        </p:tav>
                                        <p:tav tm="100000">
                                          <p:val>
                                            <p:strVal val="#ppt_x"/>
                                          </p:val>
                                        </p:tav>
                                      </p:tavLst>
                                    </p:anim>
                                    <p:anim calcmode="lin" valueType="num">
                                      <p:cBhvr additive="base">
                                        <p:cTn id="26" dur="500" fill="hold"/>
                                        <p:tgtEl>
                                          <p:spTgt spid="27"/>
                                        </p:tgtEl>
                                        <p:attrNameLst>
                                          <p:attrName>ppt_y</p:attrName>
                                        </p:attrNameLst>
                                      </p:cBhvr>
                                      <p:tavLst>
                                        <p:tav tm="0">
                                          <p:val>
                                            <p:strVal val="1+#ppt_h/2"/>
                                          </p:val>
                                        </p:tav>
                                        <p:tav tm="100000">
                                          <p:val>
                                            <p:strVal val="#ppt_y"/>
                                          </p:val>
                                        </p:tav>
                                      </p:tavLst>
                                    </p:anim>
                                  </p:childTnLst>
                                </p:cTn>
                              </p:par>
                              <p:par>
                                <p:cTn id="27" presetID="2" presetClass="entr" presetSubtype="12" fill="hold" nodeType="withEffect">
                                  <p:stCondLst>
                                    <p:cond delay="0"/>
                                  </p:stCondLst>
                                  <p:childTnLst>
                                    <p:set>
                                      <p:cBhvr>
                                        <p:cTn id="28" dur="1" fill="hold">
                                          <p:stCondLst>
                                            <p:cond delay="0"/>
                                          </p:stCondLst>
                                        </p:cTn>
                                        <p:tgtEl>
                                          <p:spTgt spid="55"/>
                                        </p:tgtEl>
                                        <p:attrNameLst>
                                          <p:attrName>style.visibility</p:attrName>
                                        </p:attrNameLst>
                                      </p:cBhvr>
                                      <p:to>
                                        <p:strVal val="visible"/>
                                      </p:to>
                                    </p:set>
                                    <p:anim calcmode="lin" valueType="num">
                                      <p:cBhvr additive="base">
                                        <p:cTn id="29" dur="500" fill="hold"/>
                                        <p:tgtEl>
                                          <p:spTgt spid="55"/>
                                        </p:tgtEl>
                                        <p:attrNameLst>
                                          <p:attrName>ppt_x</p:attrName>
                                        </p:attrNameLst>
                                      </p:cBhvr>
                                      <p:tavLst>
                                        <p:tav tm="0">
                                          <p:val>
                                            <p:strVal val="0-#ppt_w/2"/>
                                          </p:val>
                                        </p:tav>
                                        <p:tav tm="100000">
                                          <p:val>
                                            <p:strVal val="#ppt_x"/>
                                          </p:val>
                                        </p:tav>
                                      </p:tavLst>
                                    </p:anim>
                                    <p:anim calcmode="lin" valueType="num">
                                      <p:cBhvr additive="base">
                                        <p:cTn id="30" dur="500" fill="hold"/>
                                        <p:tgtEl>
                                          <p:spTgt spid="55"/>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0"/>
                                  </p:stCondLst>
                                  <p:childTnLst>
                                    <p:set>
                                      <p:cBhvr>
                                        <p:cTn id="32" dur="1" fill="hold">
                                          <p:stCondLst>
                                            <p:cond delay="0"/>
                                          </p:stCondLst>
                                        </p:cTn>
                                        <p:tgtEl>
                                          <p:spTgt spid="74"/>
                                        </p:tgtEl>
                                        <p:attrNameLst>
                                          <p:attrName>style.visibility</p:attrName>
                                        </p:attrNameLst>
                                      </p:cBhvr>
                                      <p:to>
                                        <p:strVal val="visible"/>
                                      </p:to>
                                    </p:set>
                                    <p:anim calcmode="lin" valueType="num">
                                      <p:cBhvr additive="base">
                                        <p:cTn id="33" dur="500" fill="hold"/>
                                        <p:tgtEl>
                                          <p:spTgt spid="74"/>
                                        </p:tgtEl>
                                        <p:attrNameLst>
                                          <p:attrName>ppt_x</p:attrName>
                                        </p:attrNameLst>
                                      </p:cBhvr>
                                      <p:tavLst>
                                        <p:tav tm="0">
                                          <p:val>
                                            <p:strVal val="0-#ppt_w/2"/>
                                          </p:val>
                                        </p:tav>
                                        <p:tav tm="100000">
                                          <p:val>
                                            <p:strVal val="#ppt_x"/>
                                          </p:val>
                                        </p:tav>
                                      </p:tavLst>
                                    </p:anim>
                                    <p:anim calcmode="lin" valueType="num">
                                      <p:cBhvr additive="base">
                                        <p:cTn id="34" dur="500" fill="hold"/>
                                        <p:tgtEl>
                                          <p:spTgt spid="74"/>
                                        </p:tgtEl>
                                        <p:attrNameLst>
                                          <p:attrName>ppt_y</p:attrName>
                                        </p:attrNameLst>
                                      </p:cBhvr>
                                      <p:tavLst>
                                        <p:tav tm="0">
                                          <p:val>
                                            <p:strVal val="1+#ppt_h/2"/>
                                          </p:val>
                                        </p:tav>
                                        <p:tav tm="100000">
                                          <p:val>
                                            <p:strVal val="#ppt_y"/>
                                          </p:val>
                                        </p:tav>
                                      </p:tavLst>
                                    </p:anim>
                                  </p:childTnLst>
                                </p:cTn>
                              </p:par>
                              <p:par>
                                <p:cTn id="35" presetID="2" presetClass="entr" presetSubtype="12" fill="hold" nodeType="withEffect">
                                  <p:stCondLst>
                                    <p:cond delay="0"/>
                                  </p:stCondLst>
                                  <p:childTnLst>
                                    <p:set>
                                      <p:cBhvr>
                                        <p:cTn id="36" dur="1" fill="hold">
                                          <p:stCondLst>
                                            <p:cond delay="0"/>
                                          </p:stCondLst>
                                        </p:cTn>
                                        <p:tgtEl>
                                          <p:spTgt spid="52"/>
                                        </p:tgtEl>
                                        <p:attrNameLst>
                                          <p:attrName>style.visibility</p:attrName>
                                        </p:attrNameLst>
                                      </p:cBhvr>
                                      <p:to>
                                        <p:strVal val="visible"/>
                                      </p:to>
                                    </p:set>
                                    <p:anim calcmode="lin" valueType="num">
                                      <p:cBhvr additive="base">
                                        <p:cTn id="37" dur="500" fill="hold"/>
                                        <p:tgtEl>
                                          <p:spTgt spid="52"/>
                                        </p:tgtEl>
                                        <p:attrNameLst>
                                          <p:attrName>ppt_x</p:attrName>
                                        </p:attrNameLst>
                                      </p:cBhvr>
                                      <p:tavLst>
                                        <p:tav tm="0">
                                          <p:val>
                                            <p:strVal val="0-#ppt_w/2"/>
                                          </p:val>
                                        </p:tav>
                                        <p:tav tm="100000">
                                          <p:val>
                                            <p:strVal val="#ppt_x"/>
                                          </p:val>
                                        </p:tav>
                                      </p:tavLst>
                                    </p:anim>
                                    <p:anim calcmode="lin" valueType="num">
                                      <p:cBhvr additive="base">
                                        <p:cTn id="3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66"/>
                                        </p:tgtEl>
                                        <p:attrNameLst>
                                          <p:attrName>style.visibility</p:attrName>
                                        </p:attrNameLst>
                                      </p:cBhvr>
                                      <p:to>
                                        <p:strVal val="visible"/>
                                      </p:to>
                                    </p:set>
                                    <p:anim calcmode="lin" valueType="num">
                                      <p:cBhvr additive="base">
                                        <p:cTn id="43" dur="500" fill="hold"/>
                                        <p:tgtEl>
                                          <p:spTgt spid="66"/>
                                        </p:tgtEl>
                                        <p:attrNameLst>
                                          <p:attrName>ppt_x</p:attrName>
                                        </p:attrNameLst>
                                      </p:cBhvr>
                                      <p:tavLst>
                                        <p:tav tm="0">
                                          <p:val>
                                            <p:strVal val="0-#ppt_w/2"/>
                                          </p:val>
                                        </p:tav>
                                        <p:tav tm="100000">
                                          <p:val>
                                            <p:strVal val="#ppt_x"/>
                                          </p:val>
                                        </p:tav>
                                      </p:tavLst>
                                    </p:anim>
                                    <p:anim calcmode="lin" valueType="num">
                                      <p:cBhvr additive="base">
                                        <p:cTn id="44" dur="500" fill="hold"/>
                                        <p:tgtEl>
                                          <p:spTgt spid="66"/>
                                        </p:tgtEl>
                                        <p:attrNameLst>
                                          <p:attrName>ppt_y</p:attrName>
                                        </p:attrNameLst>
                                      </p:cBhvr>
                                      <p:tavLst>
                                        <p:tav tm="0">
                                          <p:val>
                                            <p:strVal val="#ppt_y"/>
                                          </p:val>
                                        </p:tav>
                                        <p:tav tm="100000">
                                          <p:val>
                                            <p:strVal val="#ppt_y"/>
                                          </p:val>
                                        </p:tav>
                                      </p:tavLst>
                                    </p:anim>
                                  </p:childTnLst>
                                </p:cTn>
                              </p:par>
                              <p:par>
                                <p:cTn id="45" presetID="2" presetClass="entr" presetSubtype="8"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0-#ppt_w/2"/>
                                          </p:val>
                                        </p:tav>
                                        <p:tav tm="100000">
                                          <p:val>
                                            <p:strVal val="#ppt_x"/>
                                          </p:val>
                                        </p:tav>
                                      </p:tavLst>
                                    </p:anim>
                                    <p:anim calcmode="lin" valueType="num">
                                      <p:cBhvr additive="base">
                                        <p:cTn id="48" dur="500" fill="hold"/>
                                        <p:tgtEl>
                                          <p:spTgt spid="33"/>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anim calcmode="lin" valueType="num">
                                      <p:cBhvr additive="base">
                                        <p:cTn id="51" dur="500" fill="hold"/>
                                        <p:tgtEl>
                                          <p:spTgt spid="73"/>
                                        </p:tgtEl>
                                        <p:attrNameLst>
                                          <p:attrName>ppt_x</p:attrName>
                                        </p:attrNameLst>
                                      </p:cBhvr>
                                      <p:tavLst>
                                        <p:tav tm="0">
                                          <p:val>
                                            <p:strVal val="0-#ppt_w/2"/>
                                          </p:val>
                                        </p:tav>
                                        <p:tav tm="100000">
                                          <p:val>
                                            <p:strVal val="#ppt_x"/>
                                          </p:val>
                                        </p:tav>
                                      </p:tavLst>
                                    </p:anim>
                                    <p:anim calcmode="lin" valueType="num">
                                      <p:cBhvr additive="base">
                                        <p:cTn id="52" dur="500" fill="hold"/>
                                        <p:tgtEl>
                                          <p:spTgt spid="73"/>
                                        </p:tgtEl>
                                        <p:attrNameLst>
                                          <p:attrName>ppt_y</p:attrName>
                                        </p:attrNameLst>
                                      </p:cBhvr>
                                      <p:tavLst>
                                        <p:tav tm="0">
                                          <p:val>
                                            <p:strVal val="#ppt_y"/>
                                          </p:val>
                                        </p:tav>
                                        <p:tav tm="100000">
                                          <p:val>
                                            <p:strVal val="#ppt_y"/>
                                          </p:val>
                                        </p:tav>
                                      </p:tavLst>
                                    </p:anim>
                                  </p:childTnLst>
                                </p:cTn>
                              </p:par>
                              <p:par>
                                <p:cTn id="53" presetID="2" presetClass="entr" presetSubtype="8"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anim calcmode="lin" valueType="num">
                                      <p:cBhvr additive="base">
                                        <p:cTn id="55" dur="500" fill="hold"/>
                                        <p:tgtEl>
                                          <p:spTgt spid="30"/>
                                        </p:tgtEl>
                                        <p:attrNameLst>
                                          <p:attrName>ppt_x</p:attrName>
                                        </p:attrNameLst>
                                      </p:cBhvr>
                                      <p:tavLst>
                                        <p:tav tm="0">
                                          <p:val>
                                            <p:strVal val="0-#ppt_w/2"/>
                                          </p:val>
                                        </p:tav>
                                        <p:tav tm="100000">
                                          <p:val>
                                            <p:strVal val="#ppt_x"/>
                                          </p:val>
                                        </p:tav>
                                      </p:tavLst>
                                    </p:anim>
                                    <p:anim calcmode="lin" valueType="num">
                                      <p:cBhvr additive="base">
                                        <p:cTn id="56" dur="500" fill="hold"/>
                                        <p:tgtEl>
                                          <p:spTgt spid="30"/>
                                        </p:tgtEl>
                                        <p:attrNameLst>
                                          <p:attrName>ppt_y</p:attrName>
                                        </p:attrNameLst>
                                      </p:cBhvr>
                                      <p:tavLst>
                                        <p:tav tm="0">
                                          <p:val>
                                            <p:strVal val="#ppt_y"/>
                                          </p:val>
                                        </p:tav>
                                        <p:tav tm="100000">
                                          <p:val>
                                            <p:strVal val="#ppt_y"/>
                                          </p:val>
                                        </p:tav>
                                      </p:tavLst>
                                    </p:anim>
                                  </p:childTnLst>
                                </p:cTn>
                              </p:par>
                              <p:par>
                                <p:cTn id="57" presetID="2" presetClass="entr" presetSubtype="8" fill="hold" nodeType="withEffect">
                                  <p:stCondLst>
                                    <p:cond delay="0"/>
                                  </p:stCondLst>
                                  <p:childTnLst>
                                    <p:set>
                                      <p:cBhvr>
                                        <p:cTn id="58" dur="1" fill="hold">
                                          <p:stCondLst>
                                            <p:cond delay="0"/>
                                          </p:stCondLst>
                                        </p:cTn>
                                        <p:tgtEl>
                                          <p:spTgt spid="49"/>
                                        </p:tgtEl>
                                        <p:attrNameLst>
                                          <p:attrName>style.visibility</p:attrName>
                                        </p:attrNameLst>
                                      </p:cBhvr>
                                      <p:to>
                                        <p:strVal val="visible"/>
                                      </p:to>
                                    </p:set>
                                    <p:anim calcmode="lin" valueType="num">
                                      <p:cBhvr additive="base">
                                        <p:cTn id="59" dur="500" fill="hold"/>
                                        <p:tgtEl>
                                          <p:spTgt spid="49"/>
                                        </p:tgtEl>
                                        <p:attrNameLst>
                                          <p:attrName>ppt_x</p:attrName>
                                        </p:attrNameLst>
                                      </p:cBhvr>
                                      <p:tavLst>
                                        <p:tav tm="0">
                                          <p:val>
                                            <p:strVal val="0-#ppt_w/2"/>
                                          </p:val>
                                        </p:tav>
                                        <p:tav tm="100000">
                                          <p:val>
                                            <p:strVal val="#ppt_x"/>
                                          </p:val>
                                        </p:tav>
                                      </p:tavLst>
                                    </p:anim>
                                    <p:anim calcmode="lin" valueType="num">
                                      <p:cBhvr additive="base">
                                        <p:cTn id="60"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nodeType="clickEffect">
                                  <p:stCondLst>
                                    <p:cond delay="0"/>
                                  </p:stCondLst>
                                  <p:childTnLst>
                                    <p:set>
                                      <p:cBhvr>
                                        <p:cTn id="64" dur="1" fill="hold">
                                          <p:stCondLst>
                                            <p:cond delay="0"/>
                                          </p:stCondLst>
                                        </p:cTn>
                                        <p:tgtEl>
                                          <p:spTgt spid="62"/>
                                        </p:tgtEl>
                                        <p:attrNameLst>
                                          <p:attrName>style.visibility</p:attrName>
                                        </p:attrNameLst>
                                      </p:cBhvr>
                                      <p:to>
                                        <p:strVal val="visible"/>
                                      </p:to>
                                    </p:set>
                                    <p:anim calcmode="lin" valueType="num">
                                      <p:cBhvr additive="base">
                                        <p:cTn id="65" dur="500" fill="hold"/>
                                        <p:tgtEl>
                                          <p:spTgt spid="62"/>
                                        </p:tgtEl>
                                        <p:attrNameLst>
                                          <p:attrName>ppt_x</p:attrName>
                                        </p:attrNameLst>
                                      </p:cBhvr>
                                      <p:tavLst>
                                        <p:tav tm="0">
                                          <p:val>
                                            <p:strVal val="0-#ppt_w/2"/>
                                          </p:val>
                                        </p:tav>
                                        <p:tav tm="100000">
                                          <p:val>
                                            <p:strVal val="#ppt_x"/>
                                          </p:val>
                                        </p:tav>
                                      </p:tavLst>
                                    </p:anim>
                                    <p:anim calcmode="lin" valueType="num">
                                      <p:cBhvr additive="base">
                                        <p:cTn id="66" dur="500" fill="hold"/>
                                        <p:tgtEl>
                                          <p:spTgt spid="62"/>
                                        </p:tgtEl>
                                        <p:attrNameLst>
                                          <p:attrName>ppt_y</p:attrName>
                                        </p:attrNameLst>
                                      </p:cBhvr>
                                      <p:tavLst>
                                        <p:tav tm="0">
                                          <p:val>
                                            <p:strVal val="#ppt_y"/>
                                          </p:val>
                                        </p:tav>
                                        <p:tav tm="100000">
                                          <p:val>
                                            <p:strVal val="#ppt_y"/>
                                          </p:val>
                                        </p:tav>
                                      </p:tavLst>
                                    </p:anim>
                                  </p:childTnLst>
                                </p:cTn>
                              </p:par>
                              <p:par>
                                <p:cTn id="67" presetID="2" presetClass="entr" presetSubtype="8" fill="hold" nodeType="withEffect">
                                  <p:stCondLst>
                                    <p:cond delay="0"/>
                                  </p:stCondLst>
                                  <p:childTnLst>
                                    <p:set>
                                      <p:cBhvr>
                                        <p:cTn id="68" dur="1" fill="hold">
                                          <p:stCondLst>
                                            <p:cond delay="0"/>
                                          </p:stCondLst>
                                        </p:cTn>
                                        <p:tgtEl>
                                          <p:spTgt spid="67"/>
                                        </p:tgtEl>
                                        <p:attrNameLst>
                                          <p:attrName>style.visibility</p:attrName>
                                        </p:attrNameLst>
                                      </p:cBhvr>
                                      <p:to>
                                        <p:strVal val="visible"/>
                                      </p:to>
                                    </p:set>
                                    <p:anim calcmode="lin" valueType="num">
                                      <p:cBhvr additive="base">
                                        <p:cTn id="69" dur="500" fill="hold"/>
                                        <p:tgtEl>
                                          <p:spTgt spid="67"/>
                                        </p:tgtEl>
                                        <p:attrNameLst>
                                          <p:attrName>ppt_x</p:attrName>
                                        </p:attrNameLst>
                                      </p:cBhvr>
                                      <p:tavLst>
                                        <p:tav tm="0">
                                          <p:val>
                                            <p:strVal val="0-#ppt_w/2"/>
                                          </p:val>
                                        </p:tav>
                                        <p:tav tm="100000">
                                          <p:val>
                                            <p:strVal val="#ppt_x"/>
                                          </p:val>
                                        </p:tav>
                                      </p:tavLst>
                                    </p:anim>
                                    <p:anim calcmode="lin" valueType="num">
                                      <p:cBhvr additive="base">
                                        <p:cTn id="70" dur="500" fill="hold"/>
                                        <p:tgtEl>
                                          <p:spTgt spid="67"/>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76"/>
                                        </p:tgtEl>
                                        <p:attrNameLst>
                                          <p:attrName>style.visibility</p:attrName>
                                        </p:attrNameLst>
                                      </p:cBhvr>
                                      <p:to>
                                        <p:strVal val="visible"/>
                                      </p:to>
                                    </p:set>
                                    <p:anim calcmode="lin" valueType="num">
                                      <p:cBhvr additive="base">
                                        <p:cTn id="73" dur="500" fill="hold"/>
                                        <p:tgtEl>
                                          <p:spTgt spid="76"/>
                                        </p:tgtEl>
                                        <p:attrNameLst>
                                          <p:attrName>ppt_x</p:attrName>
                                        </p:attrNameLst>
                                      </p:cBhvr>
                                      <p:tavLst>
                                        <p:tav tm="0">
                                          <p:val>
                                            <p:strVal val="0-#ppt_w/2"/>
                                          </p:val>
                                        </p:tav>
                                        <p:tav tm="100000">
                                          <p:val>
                                            <p:strVal val="#ppt_x"/>
                                          </p:val>
                                        </p:tav>
                                      </p:tavLst>
                                    </p:anim>
                                    <p:anim calcmode="lin" valueType="num">
                                      <p:cBhvr additive="base">
                                        <p:cTn id="74" dur="500" fill="hold"/>
                                        <p:tgtEl>
                                          <p:spTgt spid="76"/>
                                        </p:tgtEl>
                                        <p:attrNameLst>
                                          <p:attrName>ppt_y</p:attrName>
                                        </p:attrNameLst>
                                      </p:cBhvr>
                                      <p:tavLst>
                                        <p:tav tm="0">
                                          <p:val>
                                            <p:strVal val="#ppt_y"/>
                                          </p:val>
                                        </p:tav>
                                        <p:tav tm="100000">
                                          <p:val>
                                            <p:strVal val="#ppt_y"/>
                                          </p:val>
                                        </p:tav>
                                      </p:tavLst>
                                    </p:anim>
                                  </p:childTnLst>
                                </p:cTn>
                              </p:par>
                              <p:par>
                                <p:cTn id="75" presetID="2" presetClass="entr" presetSubtype="8" fill="hold" nodeType="withEffect">
                                  <p:stCondLst>
                                    <p:cond delay="0"/>
                                  </p:stCondLst>
                                  <p:childTnLst>
                                    <p:set>
                                      <p:cBhvr>
                                        <p:cTn id="76" dur="1" fill="hold">
                                          <p:stCondLst>
                                            <p:cond delay="0"/>
                                          </p:stCondLst>
                                        </p:cTn>
                                        <p:tgtEl>
                                          <p:spTgt spid="59"/>
                                        </p:tgtEl>
                                        <p:attrNameLst>
                                          <p:attrName>style.visibility</p:attrName>
                                        </p:attrNameLst>
                                      </p:cBhvr>
                                      <p:to>
                                        <p:strVal val="visible"/>
                                      </p:to>
                                    </p:set>
                                    <p:anim calcmode="lin" valueType="num">
                                      <p:cBhvr additive="base">
                                        <p:cTn id="77" dur="500" fill="hold"/>
                                        <p:tgtEl>
                                          <p:spTgt spid="59"/>
                                        </p:tgtEl>
                                        <p:attrNameLst>
                                          <p:attrName>ppt_x</p:attrName>
                                        </p:attrNameLst>
                                      </p:cBhvr>
                                      <p:tavLst>
                                        <p:tav tm="0">
                                          <p:val>
                                            <p:strVal val="0-#ppt_w/2"/>
                                          </p:val>
                                        </p:tav>
                                        <p:tav tm="100000">
                                          <p:val>
                                            <p:strVal val="#ppt_x"/>
                                          </p:val>
                                        </p:tav>
                                      </p:tavLst>
                                    </p:anim>
                                    <p:anim calcmode="lin" valueType="num">
                                      <p:cBhvr additive="base">
                                        <p:cTn id="78" dur="500" fill="hold"/>
                                        <p:tgtEl>
                                          <p:spTgt spid="59"/>
                                        </p:tgtEl>
                                        <p:attrNameLst>
                                          <p:attrName>ppt_y</p:attrName>
                                        </p:attrNameLst>
                                      </p:cBhvr>
                                      <p:tavLst>
                                        <p:tav tm="0">
                                          <p:val>
                                            <p:strVal val="#ppt_y"/>
                                          </p:val>
                                        </p:tav>
                                        <p:tav tm="100000">
                                          <p:val>
                                            <p:strVal val="#ppt_y"/>
                                          </p:val>
                                        </p:tav>
                                      </p:tavLst>
                                    </p:anim>
                                  </p:childTnLst>
                                </p:cTn>
                              </p:par>
                              <p:par>
                                <p:cTn id="79" presetID="2" presetClass="entr" presetSubtype="8" fill="hold" nodeType="withEffect">
                                  <p:stCondLst>
                                    <p:cond delay="0"/>
                                  </p:stCondLst>
                                  <p:childTnLst>
                                    <p:set>
                                      <p:cBhvr>
                                        <p:cTn id="80" dur="1" fill="hold">
                                          <p:stCondLst>
                                            <p:cond delay="0"/>
                                          </p:stCondLst>
                                        </p:cTn>
                                        <p:tgtEl>
                                          <p:spTgt spid="65"/>
                                        </p:tgtEl>
                                        <p:attrNameLst>
                                          <p:attrName>style.visibility</p:attrName>
                                        </p:attrNameLst>
                                      </p:cBhvr>
                                      <p:to>
                                        <p:strVal val="visible"/>
                                      </p:to>
                                    </p:set>
                                    <p:anim calcmode="lin" valueType="num">
                                      <p:cBhvr additive="base">
                                        <p:cTn id="81" dur="500" fill="hold"/>
                                        <p:tgtEl>
                                          <p:spTgt spid="65"/>
                                        </p:tgtEl>
                                        <p:attrNameLst>
                                          <p:attrName>ppt_x</p:attrName>
                                        </p:attrNameLst>
                                      </p:cBhvr>
                                      <p:tavLst>
                                        <p:tav tm="0">
                                          <p:val>
                                            <p:strVal val="0-#ppt_w/2"/>
                                          </p:val>
                                        </p:tav>
                                        <p:tav tm="100000">
                                          <p:val>
                                            <p:strVal val="#ppt_x"/>
                                          </p:val>
                                        </p:tav>
                                      </p:tavLst>
                                    </p:anim>
                                    <p:anim calcmode="lin" valueType="num">
                                      <p:cBhvr additive="base">
                                        <p:cTn id="82"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9" fill="hold" nodeType="clickEffect">
                                  <p:stCondLst>
                                    <p:cond delay="0"/>
                                  </p:stCondLst>
                                  <p:childTnLst>
                                    <p:set>
                                      <p:cBhvr>
                                        <p:cTn id="86" dur="1" fill="hold">
                                          <p:stCondLst>
                                            <p:cond delay="0"/>
                                          </p:stCondLst>
                                        </p:cTn>
                                        <p:tgtEl>
                                          <p:spTgt spid="68"/>
                                        </p:tgtEl>
                                        <p:attrNameLst>
                                          <p:attrName>style.visibility</p:attrName>
                                        </p:attrNameLst>
                                      </p:cBhvr>
                                      <p:to>
                                        <p:strVal val="visible"/>
                                      </p:to>
                                    </p:set>
                                    <p:anim calcmode="lin" valueType="num">
                                      <p:cBhvr additive="base">
                                        <p:cTn id="87" dur="500" fill="hold"/>
                                        <p:tgtEl>
                                          <p:spTgt spid="68"/>
                                        </p:tgtEl>
                                        <p:attrNameLst>
                                          <p:attrName>ppt_x</p:attrName>
                                        </p:attrNameLst>
                                      </p:cBhvr>
                                      <p:tavLst>
                                        <p:tav tm="0">
                                          <p:val>
                                            <p:strVal val="0-#ppt_w/2"/>
                                          </p:val>
                                        </p:tav>
                                        <p:tav tm="100000">
                                          <p:val>
                                            <p:strVal val="#ppt_x"/>
                                          </p:val>
                                        </p:tav>
                                      </p:tavLst>
                                    </p:anim>
                                    <p:anim calcmode="lin" valueType="num">
                                      <p:cBhvr additive="base">
                                        <p:cTn id="88" dur="500" fill="hold"/>
                                        <p:tgtEl>
                                          <p:spTgt spid="68"/>
                                        </p:tgtEl>
                                        <p:attrNameLst>
                                          <p:attrName>ppt_y</p:attrName>
                                        </p:attrNameLst>
                                      </p:cBhvr>
                                      <p:tavLst>
                                        <p:tav tm="0">
                                          <p:val>
                                            <p:strVal val="0-#ppt_h/2"/>
                                          </p:val>
                                        </p:tav>
                                        <p:tav tm="100000">
                                          <p:val>
                                            <p:strVal val="#ppt_y"/>
                                          </p:val>
                                        </p:tav>
                                      </p:tavLst>
                                    </p:anim>
                                  </p:childTnLst>
                                </p:cTn>
                              </p:par>
                              <p:par>
                                <p:cTn id="89" presetID="2" presetClass="entr" presetSubtype="9" fill="hold" nodeType="withEffect">
                                  <p:stCondLst>
                                    <p:cond delay="0"/>
                                  </p:stCondLst>
                                  <p:childTnLst>
                                    <p:set>
                                      <p:cBhvr>
                                        <p:cTn id="90" dur="1" fill="hold">
                                          <p:stCondLst>
                                            <p:cond delay="0"/>
                                          </p:stCondLst>
                                        </p:cTn>
                                        <p:tgtEl>
                                          <p:spTgt spid="39"/>
                                        </p:tgtEl>
                                        <p:attrNameLst>
                                          <p:attrName>style.visibility</p:attrName>
                                        </p:attrNameLst>
                                      </p:cBhvr>
                                      <p:to>
                                        <p:strVal val="visible"/>
                                      </p:to>
                                    </p:set>
                                    <p:anim calcmode="lin" valueType="num">
                                      <p:cBhvr additive="base">
                                        <p:cTn id="91" dur="500" fill="hold"/>
                                        <p:tgtEl>
                                          <p:spTgt spid="39"/>
                                        </p:tgtEl>
                                        <p:attrNameLst>
                                          <p:attrName>ppt_x</p:attrName>
                                        </p:attrNameLst>
                                      </p:cBhvr>
                                      <p:tavLst>
                                        <p:tav tm="0">
                                          <p:val>
                                            <p:strVal val="0-#ppt_w/2"/>
                                          </p:val>
                                        </p:tav>
                                        <p:tav tm="100000">
                                          <p:val>
                                            <p:strVal val="#ppt_x"/>
                                          </p:val>
                                        </p:tav>
                                      </p:tavLst>
                                    </p:anim>
                                    <p:anim calcmode="lin" valueType="num">
                                      <p:cBhvr additive="base">
                                        <p:cTn id="92" dur="500" fill="hold"/>
                                        <p:tgtEl>
                                          <p:spTgt spid="39"/>
                                        </p:tgtEl>
                                        <p:attrNameLst>
                                          <p:attrName>ppt_y</p:attrName>
                                        </p:attrNameLst>
                                      </p:cBhvr>
                                      <p:tavLst>
                                        <p:tav tm="0">
                                          <p:val>
                                            <p:strVal val="0-#ppt_h/2"/>
                                          </p:val>
                                        </p:tav>
                                        <p:tav tm="100000">
                                          <p:val>
                                            <p:strVal val="#ppt_y"/>
                                          </p:val>
                                        </p:tav>
                                      </p:tavLst>
                                    </p:anim>
                                  </p:childTnLst>
                                </p:cTn>
                              </p:par>
                              <p:par>
                                <p:cTn id="93" presetID="2" presetClass="entr" presetSubtype="9" fill="hold" grpId="0" nodeType="withEffect">
                                  <p:stCondLst>
                                    <p:cond delay="0"/>
                                  </p:stCondLst>
                                  <p:childTnLst>
                                    <p:set>
                                      <p:cBhvr>
                                        <p:cTn id="94" dur="1" fill="hold">
                                          <p:stCondLst>
                                            <p:cond delay="0"/>
                                          </p:stCondLst>
                                        </p:cTn>
                                        <p:tgtEl>
                                          <p:spTgt spid="71"/>
                                        </p:tgtEl>
                                        <p:attrNameLst>
                                          <p:attrName>style.visibility</p:attrName>
                                        </p:attrNameLst>
                                      </p:cBhvr>
                                      <p:to>
                                        <p:strVal val="visible"/>
                                      </p:to>
                                    </p:set>
                                    <p:anim calcmode="lin" valueType="num">
                                      <p:cBhvr additive="base">
                                        <p:cTn id="95" dur="500" fill="hold"/>
                                        <p:tgtEl>
                                          <p:spTgt spid="71"/>
                                        </p:tgtEl>
                                        <p:attrNameLst>
                                          <p:attrName>ppt_x</p:attrName>
                                        </p:attrNameLst>
                                      </p:cBhvr>
                                      <p:tavLst>
                                        <p:tav tm="0">
                                          <p:val>
                                            <p:strVal val="0-#ppt_w/2"/>
                                          </p:val>
                                        </p:tav>
                                        <p:tav tm="100000">
                                          <p:val>
                                            <p:strVal val="#ppt_x"/>
                                          </p:val>
                                        </p:tav>
                                      </p:tavLst>
                                    </p:anim>
                                    <p:anim calcmode="lin" valueType="num">
                                      <p:cBhvr additive="base">
                                        <p:cTn id="96" dur="500" fill="hold"/>
                                        <p:tgtEl>
                                          <p:spTgt spid="71"/>
                                        </p:tgtEl>
                                        <p:attrNameLst>
                                          <p:attrName>ppt_y</p:attrName>
                                        </p:attrNameLst>
                                      </p:cBhvr>
                                      <p:tavLst>
                                        <p:tav tm="0">
                                          <p:val>
                                            <p:strVal val="0-#ppt_h/2"/>
                                          </p:val>
                                        </p:tav>
                                        <p:tav tm="100000">
                                          <p:val>
                                            <p:strVal val="#ppt_y"/>
                                          </p:val>
                                        </p:tav>
                                      </p:tavLst>
                                    </p:anim>
                                  </p:childTnLst>
                                </p:cTn>
                              </p:par>
                              <p:par>
                                <p:cTn id="97" presetID="2" presetClass="entr" presetSubtype="9" fill="hold" nodeType="withEffect">
                                  <p:stCondLst>
                                    <p:cond delay="0"/>
                                  </p:stCondLst>
                                  <p:childTnLst>
                                    <p:set>
                                      <p:cBhvr>
                                        <p:cTn id="98" dur="1" fill="hold">
                                          <p:stCondLst>
                                            <p:cond delay="0"/>
                                          </p:stCondLst>
                                        </p:cTn>
                                        <p:tgtEl>
                                          <p:spTgt spid="36"/>
                                        </p:tgtEl>
                                        <p:attrNameLst>
                                          <p:attrName>style.visibility</p:attrName>
                                        </p:attrNameLst>
                                      </p:cBhvr>
                                      <p:to>
                                        <p:strVal val="visible"/>
                                      </p:to>
                                    </p:set>
                                    <p:anim calcmode="lin" valueType="num">
                                      <p:cBhvr additive="base">
                                        <p:cTn id="99" dur="500" fill="hold"/>
                                        <p:tgtEl>
                                          <p:spTgt spid="36"/>
                                        </p:tgtEl>
                                        <p:attrNameLst>
                                          <p:attrName>ppt_x</p:attrName>
                                        </p:attrNameLst>
                                      </p:cBhvr>
                                      <p:tavLst>
                                        <p:tav tm="0">
                                          <p:val>
                                            <p:strVal val="0-#ppt_w/2"/>
                                          </p:val>
                                        </p:tav>
                                        <p:tav tm="100000">
                                          <p:val>
                                            <p:strVal val="#ppt_x"/>
                                          </p:val>
                                        </p:tav>
                                      </p:tavLst>
                                    </p:anim>
                                    <p:anim calcmode="lin" valueType="num">
                                      <p:cBhvr additive="base">
                                        <p:cTn id="100" dur="500" fill="hold"/>
                                        <p:tgtEl>
                                          <p:spTgt spid="36"/>
                                        </p:tgtEl>
                                        <p:attrNameLst>
                                          <p:attrName>ppt_y</p:attrName>
                                        </p:attrNameLst>
                                      </p:cBhvr>
                                      <p:tavLst>
                                        <p:tav tm="0">
                                          <p:val>
                                            <p:strVal val="0-#ppt_h/2"/>
                                          </p:val>
                                        </p:tav>
                                        <p:tav tm="100000">
                                          <p:val>
                                            <p:strVal val="#ppt_y"/>
                                          </p:val>
                                        </p:tav>
                                      </p:tavLst>
                                    </p:anim>
                                  </p:childTnLst>
                                </p:cTn>
                              </p:par>
                              <p:par>
                                <p:cTn id="101" presetID="2" presetClass="entr" presetSubtype="9" fill="hold" nodeType="withEffect">
                                  <p:stCondLst>
                                    <p:cond delay="0"/>
                                  </p:stCondLst>
                                  <p:childTnLst>
                                    <p:set>
                                      <p:cBhvr>
                                        <p:cTn id="102" dur="1" fill="hold">
                                          <p:stCondLst>
                                            <p:cond delay="0"/>
                                          </p:stCondLst>
                                        </p:cTn>
                                        <p:tgtEl>
                                          <p:spTgt spid="50"/>
                                        </p:tgtEl>
                                        <p:attrNameLst>
                                          <p:attrName>style.visibility</p:attrName>
                                        </p:attrNameLst>
                                      </p:cBhvr>
                                      <p:to>
                                        <p:strVal val="visible"/>
                                      </p:to>
                                    </p:set>
                                    <p:anim calcmode="lin" valueType="num">
                                      <p:cBhvr additive="base">
                                        <p:cTn id="103" dur="500" fill="hold"/>
                                        <p:tgtEl>
                                          <p:spTgt spid="50"/>
                                        </p:tgtEl>
                                        <p:attrNameLst>
                                          <p:attrName>ppt_x</p:attrName>
                                        </p:attrNameLst>
                                      </p:cBhvr>
                                      <p:tavLst>
                                        <p:tav tm="0">
                                          <p:val>
                                            <p:strVal val="0-#ppt_w/2"/>
                                          </p:val>
                                        </p:tav>
                                        <p:tav tm="100000">
                                          <p:val>
                                            <p:strVal val="#ppt_x"/>
                                          </p:val>
                                        </p:tav>
                                      </p:tavLst>
                                    </p:anim>
                                    <p:anim calcmode="lin" valueType="num">
                                      <p:cBhvr additive="base">
                                        <p:cTn id="104" dur="500" fill="hold"/>
                                        <p:tgtEl>
                                          <p:spTgt spid="50"/>
                                        </p:tgtEl>
                                        <p:attrNameLst>
                                          <p:attrName>ppt_y</p:attrName>
                                        </p:attrNameLst>
                                      </p:cBhvr>
                                      <p:tavLst>
                                        <p:tav tm="0">
                                          <p:val>
                                            <p:strVal val="0-#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1" fill="hold" nodeType="clickEffect">
                                  <p:stCondLst>
                                    <p:cond delay="0"/>
                                  </p:stCondLst>
                                  <p:childTnLst>
                                    <p:set>
                                      <p:cBhvr>
                                        <p:cTn id="108" dur="1" fill="hold">
                                          <p:stCondLst>
                                            <p:cond delay="0"/>
                                          </p:stCondLst>
                                        </p:cTn>
                                        <p:tgtEl>
                                          <p:spTgt spid="51"/>
                                        </p:tgtEl>
                                        <p:attrNameLst>
                                          <p:attrName>style.visibility</p:attrName>
                                        </p:attrNameLst>
                                      </p:cBhvr>
                                      <p:to>
                                        <p:strVal val="visible"/>
                                      </p:to>
                                    </p:set>
                                    <p:anim calcmode="lin" valueType="num">
                                      <p:cBhvr additive="base">
                                        <p:cTn id="109" dur="500" fill="hold"/>
                                        <p:tgtEl>
                                          <p:spTgt spid="51"/>
                                        </p:tgtEl>
                                        <p:attrNameLst>
                                          <p:attrName>ppt_x</p:attrName>
                                        </p:attrNameLst>
                                      </p:cBhvr>
                                      <p:tavLst>
                                        <p:tav tm="0">
                                          <p:val>
                                            <p:strVal val="#ppt_x"/>
                                          </p:val>
                                        </p:tav>
                                        <p:tav tm="100000">
                                          <p:val>
                                            <p:strVal val="#ppt_x"/>
                                          </p:val>
                                        </p:tav>
                                      </p:tavLst>
                                    </p:anim>
                                    <p:anim calcmode="lin" valueType="num">
                                      <p:cBhvr additive="base">
                                        <p:cTn id="110" dur="500" fill="hold"/>
                                        <p:tgtEl>
                                          <p:spTgt spid="51"/>
                                        </p:tgtEl>
                                        <p:attrNameLst>
                                          <p:attrName>ppt_y</p:attrName>
                                        </p:attrNameLst>
                                      </p:cBhvr>
                                      <p:tavLst>
                                        <p:tav tm="0">
                                          <p:val>
                                            <p:strVal val="0-#ppt_h/2"/>
                                          </p:val>
                                        </p:tav>
                                        <p:tav tm="100000">
                                          <p:val>
                                            <p:strVal val="#ppt_y"/>
                                          </p:val>
                                        </p:tav>
                                      </p:tavLst>
                                    </p:anim>
                                  </p:childTnLst>
                                </p:cTn>
                              </p:par>
                              <p:par>
                                <p:cTn id="111" presetID="2" presetClass="entr" presetSubtype="1" fill="hold" nodeType="withEffect">
                                  <p:stCondLst>
                                    <p:cond delay="0"/>
                                  </p:stCondLst>
                                  <p:childTnLst>
                                    <p:set>
                                      <p:cBhvr>
                                        <p:cTn id="112" dur="1" fill="hold">
                                          <p:stCondLst>
                                            <p:cond delay="0"/>
                                          </p:stCondLst>
                                        </p:cTn>
                                        <p:tgtEl>
                                          <p:spTgt spid="45"/>
                                        </p:tgtEl>
                                        <p:attrNameLst>
                                          <p:attrName>style.visibility</p:attrName>
                                        </p:attrNameLst>
                                      </p:cBhvr>
                                      <p:to>
                                        <p:strVal val="visible"/>
                                      </p:to>
                                    </p:set>
                                    <p:anim calcmode="lin" valueType="num">
                                      <p:cBhvr additive="base">
                                        <p:cTn id="113" dur="500" fill="hold"/>
                                        <p:tgtEl>
                                          <p:spTgt spid="45"/>
                                        </p:tgtEl>
                                        <p:attrNameLst>
                                          <p:attrName>ppt_x</p:attrName>
                                        </p:attrNameLst>
                                      </p:cBhvr>
                                      <p:tavLst>
                                        <p:tav tm="0">
                                          <p:val>
                                            <p:strVal val="#ppt_x"/>
                                          </p:val>
                                        </p:tav>
                                        <p:tav tm="100000">
                                          <p:val>
                                            <p:strVal val="#ppt_x"/>
                                          </p:val>
                                        </p:tav>
                                      </p:tavLst>
                                    </p:anim>
                                    <p:anim calcmode="lin" valueType="num">
                                      <p:cBhvr additive="base">
                                        <p:cTn id="114" dur="500" fill="hold"/>
                                        <p:tgtEl>
                                          <p:spTgt spid="45"/>
                                        </p:tgtEl>
                                        <p:attrNameLst>
                                          <p:attrName>ppt_y</p:attrName>
                                        </p:attrNameLst>
                                      </p:cBhvr>
                                      <p:tavLst>
                                        <p:tav tm="0">
                                          <p:val>
                                            <p:strVal val="0-#ppt_h/2"/>
                                          </p:val>
                                        </p:tav>
                                        <p:tav tm="100000">
                                          <p:val>
                                            <p:strVal val="#ppt_y"/>
                                          </p:val>
                                        </p:tav>
                                      </p:tavLst>
                                    </p:anim>
                                  </p:childTnLst>
                                </p:cTn>
                              </p:par>
                              <p:par>
                                <p:cTn id="115" presetID="2" presetClass="entr" presetSubtype="1" fill="hold" grpId="0" nodeType="withEffect">
                                  <p:stCondLst>
                                    <p:cond delay="0"/>
                                  </p:stCondLst>
                                  <p:childTnLst>
                                    <p:set>
                                      <p:cBhvr>
                                        <p:cTn id="116" dur="1" fill="hold">
                                          <p:stCondLst>
                                            <p:cond delay="0"/>
                                          </p:stCondLst>
                                        </p:cTn>
                                        <p:tgtEl>
                                          <p:spTgt spid="72"/>
                                        </p:tgtEl>
                                        <p:attrNameLst>
                                          <p:attrName>style.visibility</p:attrName>
                                        </p:attrNameLst>
                                      </p:cBhvr>
                                      <p:to>
                                        <p:strVal val="visible"/>
                                      </p:to>
                                    </p:set>
                                    <p:anim calcmode="lin" valueType="num">
                                      <p:cBhvr additive="base">
                                        <p:cTn id="117" dur="500" fill="hold"/>
                                        <p:tgtEl>
                                          <p:spTgt spid="72"/>
                                        </p:tgtEl>
                                        <p:attrNameLst>
                                          <p:attrName>ppt_x</p:attrName>
                                        </p:attrNameLst>
                                      </p:cBhvr>
                                      <p:tavLst>
                                        <p:tav tm="0">
                                          <p:val>
                                            <p:strVal val="#ppt_x"/>
                                          </p:val>
                                        </p:tav>
                                        <p:tav tm="100000">
                                          <p:val>
                                            <p:strVal val="#ppt_x"/>
                                          </p:val>
                                        </p:tav>
                                      </p:tavLst>
                                    </p:anim>
                                    <p:anim calcmode="lin" valueType="num">
                                      <p:cBhvr additive="base">
                                        <p:cTn id="118" dur="500" fill="hold"/>
                                        <p:tgtEl>
                                          <p:spTgt spid="72"/>
                                        </p:tgtEl>
                                        <p:attrNameLst>
                                          <p:attrName>ppt_y</p:attrName>
                                        </p:attrNameLst>
                                      </p:cBhvr>
                                      <p:tavLst>
                                        <p:tav tm="0">
                                          <p:val>
                                            <p:strVal val="0-#ppt_h/2"/>
                                          </p:val>
                                        </p:tav>
                                        <p:tav tm="100000">
                                          <p:val>
                                            <p:strVal val="#ppt_y"/>
                                          </p:val>
                                        </p:tav>
                                      </p:tavLst>
                                    </p:anim>
                                  </p:childTnLst>
                                </p:cTn>
                              </p:par>
                              <p:par>
                                <p:cTn id="119" presetID="2" presetClass="entr" presetSubtype="1" fill="hold" nodeType="withEffect">
                                  <p:stCondLst>
                                    <p:cond delay="0"/>
                                  </p:stCondLst>
                                  <p:childTnLst>
                                    <p:set>
                                      <p:cBhvr>
                                        <p:cTn id="120" dur="1" fill="hold">
                                          <p:stCondLst>
                                            <p:cond delay="0"/>
                                          </p:stCondLst>
                                        </p:cTn>
                                        <p:tgtEl>
                                          <p:spTgt spid="42"/>
                                        </p:tgtEl>
                                        <p:attrNameLst>
                                          <p:attrName>style.visibility</p:attrName>
                                        </p:attrNameLst>
                                      </p:cBhvr>
                                      <p:to>
                                        <p:strVal val="visible"/>
                                      </p:to>
                                    </p:set>
                                    <p:anim calcmode="lin" valueType="num">
                                      <p:cBhvr additive="base">
                                        <p:cTn id="121" dur="500" fill="hold"/>
                                        <p:tgtEl>
                                          <p:spTgt spid="42"/>
                                        </p:tgtEl>
                                        <p:attrNameLst>
                                          <p:attrName>ppt_x</p:attrName>
                                        </p:attrNameLst>
                                      </p:cBhvr>
                                      <p:tavLst>
                                        <p:tav tm="0">
                                          <p:val>
                                            <p:strVal val="#ppt_x"/>
                                          </p:val>
                                        </p:tav>
                                        <p:tav tm="100000">
                                          <p:val>
                                            <p:strVal val="#ppt_x"/>
                                          </p:val>
                                        </p:tav>
                                      </p:tavLst>
                                    </p:anim>
                                    <p:anim calcmode="lin" valueType="num">
                                      <p:cBhvr additive="base">
                                        <p:cTn id="122" dur="500" fill="hold"/>
                                        <p:tgtEl>
                                          <p:spTgt spid="42"/>
                                        </p:tgtEl>
                                        <p:attrNameLst>
                                          <p:attrName>ppt_y</p:attrName>
                                        </p:attrNameLst>
                                      </p:cBhvr>
                                      <p:tavLst>
                                        <p:tav tm="0">
                                          <p:val>
                                            <p:strVal val="0-#ppt_h/2"/>
                                          </p:val>
                                        </p:tav>
                                        <p:tav tm="100000">
                                          <p:val>
                                            <p:strVal val="#ppt_y"/>
                                          </p:val>
                                        </p:tav>
                                      </p:tavLst>
                                    </p:anim>
                                  </p:childTnLst>
                                </p:cTn>
                              </p:par>
                              <p:par>
                                <p:cTn id="123" presetID="2" presetClass="entr" presetSubtype="1" fill="hold" nodeType="withEffect">
                                  <p:stCondLst>
                                    <p:cond delay="0"/>
                                  </p:stCondLst>
                                  <p:childTnLst>
                                    <p:set>
                                      <p:cBhvr>
                                        <p:cTn id="124" dur="1" fill="hold">
                                          <p:stCondLst>
                                            <p:cond delay="0"/>
                                          </p:stCondLst>
                                        </p:cTn>
                                        <p:tgtEl>
                                          <p:spTgt spid="69"/>
                                        </p:tgtEl>
                                        <p:attrNameLst>
                                          <p:attrName>style.visibility</p:attrName>
                                        </p:attrNameLst>
                                      </p:cBhvr>
                                      <p:to>
                                        <p:strVal val="visible"/>
                                      </p:to>
                                    </p:set>
                                    <p:anim calcmode="lin" valueType="num">
                                      <p:cBhvr additive="base">
                                        <p:cTn id="125" dur="500" fill="hold"/>
                                        <p:tgtEl>
                                          <p:spTgt spid="69"/>
                                        </p:tgtEl>
                                        <p:attrNameLst>
                                          <p:attrName>ppt_x</p:attrName>
                                        </p:attrNameLst>
                                      </p:cBhvr>
                                      <p:tavLst>
                                        <p:tav tm="0">
                                          <p:val>
                                            <p:strVal val="#ppt_x"/>
                                          </p:val>
                                        </p:tav>
                                        <p:tav tm="100000">
                                          <p:val>
                                            <p:strVal val="#ppt_x"/>
                                          </p:val>
                                        </p:tav>
                                      </p:tavLst>
                                    </p:anim>
                                    <p:anim calcmode="lin" valueType="num">
                                      <p:cBhvr additive="base">
                                        <p:cTn id="126" dur="500" fill="hold"/>
                                        <p:tgtEl>
                                          <p:spTgt spid="6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P spid="73" grpId="0"/>
      <p:bldP spid="74" grpId="0"/>
      <p:bldP spid="75" grpId="0"/>
      <p:bldP spid="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968EED3-221C-EFE0-5A30-A6945D8A9268}"/>
              </a:ext>
            </a:extLst>
          </p:cNvPr>
          <p:cNvSpPr txBox="1"/>
          <p:nvPr/>
        </p:nvSpPr>
        <p:spPr>
          <a:xfrm>
            <a:off x="3047434" y="384451"/>
            <a:ext cx="6109396" cy="360227"/>
          </a:xfrm>
          <a:prstGeom prst="rect">
            <a:avLst/>
          </a:prstGeom>
          <a:noFill/>
        </p:spPr>
        <p:txBody>
          <a:bodyPr wrap="square">
            <a:spAutoFit/>
          </a:bodyPr>
          <a:lstStyle/>
          <a:p>
            <a:pPr algn="ctr">
              <a:lnSpc>
                <a:spcPts val="1799"/>
              </a:lnSpc>
            </a:pPr>
            <a:r>
              <a:rPr lang="en-US" sz="2800" b="1" dirty="0">
                <a:solidFill>
                  <a:srgbClr val="404040"/>
                </a:solidFill>
                <a:latin typeface="Public Sans Bold"/>
                <a:ea typeface="Public Sans Bold"/>
                <a:cs typeface="Public Sans Bold"/>
                <a:sym typeface="Public Sans Bold"/>
              </a:rPr>
              <a:t>c. Development Environment  </a:t>
            </a:r>
          </a:p>
        </p:txBody>
      </p:sp>
      <p:sp>
        <p:nvSpPr>
          <p:cNvPr id="20" name="Freeform: Shape 19">
            <a:extLst>
              <a:ext uri="{FF2B5EF4-FFF2-40B4-BE49-F238E27FC236}">
                <a16:creationId xmlns:a16="http://schemas.microsoft.com/office/drawing/2014/main" id="{45369C3A-55D5-286E-D904-3DDF1C819C82}"/>
              </a:ext>
            </a:extLst>
          </p:cNvPr>
          <p:cNvSpPr/>
          <p:nvPr/>
        </p:nvSpPr>
        <p:spPr>
          <a:xfrm>
            <a:off x="5953625" y="2909599"/>
            <a:ext cx="284749" cy="1038801"/>
          </a:xfrm>
          <a:custGeom>
            <a:avLst/>
            <a:gdLst>
              <a:gd name="connsiteX0" fmla="*/ 110533 w 221065"/>
              <a:gd name="connsiteY0" fmla="*/ 0 h 790314"/>
              <a:gd name="connsiteX1" fmla="*/ 157103 w 221065"/>
              <a:gd name="connsiteY1" fmla="*/ 84211 h 790314"/>
              <a:gd name="connsiteX2" fmla="*/ 221065 w 221065"/>
              <a:gd name="connsiteY2" fmla="*/ 395157 h 790314"/>
              <a:gd name="connsiteX3" fmla="*/ 157103 w 221065"/>
              <a:gd name="connsiteY3" fmla="*/ 706103 h 790314"/>
              <a:gd name="connsiteX4" fmla="*/ 110533 w 221065"/>
              <a:gd name="connsiteY4" fmla="*/ 790314 h 790314"/>
              <a:gd name="connsiteX5" fmla="*/ 63962 w 221065"/>
              <a:gd name="connsiteY5" fmla="*/ 706103 h 790314"/>
              <a:gd name="connsiteX6" fmla="*/ 0 w 221065"/>
              <a:gd name="connsiteY6" fmla="*/ 395157 h 790314"/>
              <a:gd name="connsiteX7" fmla="*/ 63962 w 221065"/>
              <a:gd name="connsiteY7" fmla="*/ 84211 h 790314"/>
              <a:gd name="connsiteX8" fmla="*/ 110533 w 221065"/>
              <a:gd name="connsiteY8" fmla="*/ 0 h 790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065" h="790314">
                <a:moveTo>
                  <a:pt x="110533" y="0"/>
                </a:moveTo>
                <a:lnTo>
                  <a:pt x="157103" y="84211"/>
                </a:lnTo>
                <a:cubicBezTo>
                  <a:pt x="198290" y="179784"/>
                  <a:pt x="221065" y="284860"/>
                  <a:pt x="221065" y="395157"/>
                </a:cubicBezTo>
                <a:cubicBezTo>
                  <a:pt x="221065" y="505454"/>
                  <a:pt x="198290" y="610531"/>
                  <a:pt x="157103" y="706103"/>
                </a:cubicBezTo>
                <a:lnTo>
                  <a:pt x="110533" y="790314"/>
                </a:lnTo>
                <a:lnTo>
                  <a:pt x="63962" y="706103"/>
                </a:lnTo>
                <a:cubicBezTo>
                  <a:pt x="22775" y="610531"/>
                  <a:pt x="0" y="505454"/>
                  <a:pt x="0" y="395157"/>
                </a:cubicBezTo>
                <a:cubicBezTo>
                  <a:pt x="0" y="284860"/>
                  <a:pt x="22775" y="179784"/>
                  <a:pt x="63962" y="84211"/>
                </a:cubicBezTo>
                <a:lnTo>
                  <a:pt x="110533" y="0"/>
                </a:lnTo>
                <a:close/>
              </a:path>
            </a:pathLst>
          </a:cu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9" name="Freeform: Shape 18">
            <a:extLst>
              <a:ext uri="{FF2B5EF4-FFF2-40B4-BE49-F238E27FC236}">
                <a16:creationId xmlns:a16="http://schemas.microsoft.com/office/drawing/2014/main" id="{69594B33-AC62-6C8A-E72A-0CEC104A496D}"/>
              </a:ext>
            </a:extLst>
          </p:cNvPr>
          <p:cNvSpPr/>
          <p:nvPr/>
        </p:nvSpPr>
        <p:spPr>
          <a:xfrm>
            <a:off x="4141595" y="2378987"/>
            <a:ext cx="1954405" cy="2100025"/>
          </a:xfrm>
          <a:custGeom>
            <a:avLst/>
            <a:gdLst>
              <a:gd name="connsiteX0" fmla="*/ 813917 w 1517302"/>
              <a:gd name="connsiteY0" fmla="*/ 0 h 1597688"/>
              <a:gd name="connsiteX1" fmla="*/ 1488830 w 1517302"/>
              <a:gd name="connsiteY1" fmla="*/ 352203 h 1597688"/>
              <a:gd name="connsiteX2" fmla="*/ 1517302 w 1517302"/>
              <a:gd name="connsiteY2" fmla="*/ 403687 h 1597688"/>
              <a:gd name="connsiteX3" fmla="*/ 1470731 w 1517302"/>
              <a:gd name="connsiteY3" fmla="*/ 487898 h 1597688"/>
              <a:gd name="connsiteX4" fmla="*/ 1406769 w 1517302"/>
              <a:gd name="connsiteY4" fmla="*/ 798844 h 1597688"/>
              <a:gd name="connsiteX5" fmla="*/ 1470731 w 1517302"/>
              <a:gd name="connsiteY5" fmla="*/ 1109790 h 1597688"/>
              <a:gd name="connsiteX6" fmla="*/ 1517302 w 1517302"/>
              <a:gd name="connsiteY6" fmla="*/ 1194001 h 1597688"/>
              <a:gd name="connsiteX7" fmla="*/ 1488830 w 1517302"/>
              <a:gd name="connsiteY7" fmla="*/ 1245485 h 1597688"/>
              <a:gd name="connsiteX8" fmla="*/ 813917 w 1517302"/>
              <a:gd name="connsiteY8" fmla="*/ 1597688 h 1597688"/>
              <a:gd name="connsiteX9" fmla="*/ 0 w 1517302"/>
              <a:gd name="connsiteY9" fmla="*/ 798844 h 1597688"/>
              <a:gd name="connsiteX10" fmla="*/ 813917 w 1517302"/>
              <a:gd name="connsiteY10" fmla="*/ 0 h 1597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302" h="1597688">
                <a:moveTo>
                  <a:pt x="813917" y="0"/>
                </a:moveTo>
                <a:cubicBezTo>
                  <a:pt x="1094863" y="0"/>
                  <a:pt x="1342563" y="139709"/>
                  <a:pt x="1488830" y="352203"/>
                </a:cubicBezTo>
                <a:lnTo>
                  <a:pt x="1517302" y="403687"/>
                </a:lnTo>
                <a:lnTo>
                  <a:pt x="1470731" y="487898"/>
                </a:lnTo>
                <a:cubicBezTo>
                  <a:pt x="1429544" y="583471"/>
                  <a:pt x="1406769" y="688547"/>
                  <a:pt x="1406769" y="798844"/>
                </a:cubicBezTo>
                <a:cubicBezTo>
                  <a:pt x="1406769" y="909141"/>
                  <a:pt x="1429544" y="1014218"/>
                  <a:pt x="1470731" y="1109790"/>
                </a:cubicBezTo>
                <a:lnTo>
                  <a:pt x="1517302" y="1194001"/>
                </a:lnTo>
                <a:lnTo>
                  <a:pt x="1488830" y="1245485"/>
                </a:lnTo>
                <a:cubicBezTo>
                  <a:pt x="1342563" y="1457979"/>
                  <a:pt x="1094863" y="1597688"/>
                  <a:pt x="813917" y="1597688"/>
                </a:cubicBezTo>
                <a:cubicBezTo>
                  <a:pt x="364403" y="1597688"/>
                  <a:pt x="0" y="1240033"/>
                  <a:pt x="0" y="798844"/>
                </a:cubicBezTo>
                <a:cubicBezTo>
                  <a:pt x="0" y="357655"/>
                  <a:pt x="364403" y="0"/>
                  <a:pt x="813917" y="0"/>
                </a:cubicBezTo>
                <a:close/>
              </a:path>
            </a:pathLst>
          </a:cu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b="1" dirty="0">
              <a:solidFill>
                <a:srgbClr val="000000"/>
              </a:solidFill>
              <a:latin typeface="Oswald Bold"/>
              <a:ea typeface="Oswald Bold"/>
              <a:cs typeface="Oswald Bold"/>
              <a:sym typeface="Oswald Bold"/>
            </a:endParaRPr>
          </a:p>
          <a:p>
            <a:pPr algn="ctr"/>
            <a:r>
              <a:rPr lang="en-US" sz="1800" b="1" dirty="0">
                <a:solidFill>
                  <a:srgbClr val="000000"/>
                </a:solidFill>
                <a:latin typeface="Oswald Bold"/>
                <a:ea typeface="Oswald Bold"/>
                <a:cs typeface="Oswald Bold"/>
                <a:sym typeface="Oswald Bold"/>
              </a:rPr>
              <a:t>01. Jupyter notebook</a:t>
            </a:r>
          </a:p>
          <a:p>
            <a:pPr algn="ctr"/>
            <a:endParaRPr lang="en-GB" dirty="0"/>
          </a:p>
        </p:txBody>
      </p:sp>
      <p:sp>
        <p:nvSpPr>
          <p:cNvPr id="18" name="Freeform: Shape 17">
            <a:extLst>
              <a:ext uri="{FF2B5EF4-FFF2-40B4-BE49-F238E27FC236}">
                <a16:creationId xmlns:a16="http://schemas.microsoft.com/office/drawing/2014/main" id="{ECD44121-F0C1-FB7E-0848-00DE2B49DC53}"/>
              </a:ext>
            </a:extLst>
          </p:cNvPr>
          <p:cNvSpPr/>
          <p:nvPr/>
        </p:nvSpPr>
        <p:spPr>
          <a:xfrm>
            <a:off x="6096000" y="2378987"/>
            <a:ext cx="1954404" cy="2100025"/>
          </a:xfrm>
          <a:custGeom>
            <a:avLst/>
            <a:gdLst>
              <a:gd name="connsiteX0" fmla="*/ 703384 w 1517301"/>
              <a:gd name="connsiteY0" fmla="*/ 0 h 1597688"/>
              <a:gd name="connsiteX1" fmla="*/ 1517301 w 1517301"/>
              <a:gd name="connsiteY1" fmla="*/ 798844 h 1597688"/>
              <a:gd name="connsiteX2" fmla="*/ 703384 w 1517301"/>
              <a:gd name="connsiteY2" fmla="*/ 1597688 h 1597688"/>
              <a:gd name="connsiteX3" fmla="*/ 28471 w 1517301"/>
              <a:gd name="connsiteY3" fmla="*/ 1245485 h 1597688"/>
              <a:gd name="connsiteX4" fmla="*/ 0 w 1517301"/>
              <a:gd name="connsiteY4" fmla="*/ 1194001 h 1597688"/>
              <a:gd name="connsiteX5" fmla="*/ 46570 w 1517301"/>
              <a:gd name="connsiteY5" fmla="*/ 1109790 h 1597688"/>
              <a:gd name="connsiteX6" fmla="*/ 110532 w 1517301"/>
              <a:gd name="connsiteY6" fmla="*/ 798844 h 1597688"/>
              <a:gd name="connsiteX7" fmla="*/ 46570 w 1517301"/>
              <a:gd name="connsiteY7" fmla="*/ 487898 h 1597688"/>
              <a:gd name="connsiteX8" fmla="*/ 0 w 1517301"/>
              <a:gd name="connsiteY8" fmla="*/ 403687 h 1597688"/>
              <a:gd name="connsiteX9" fmla="*/ 28471 w 1517301"/>
              <a:gd name="connsiteY9" fmla="*/ 352203 h 1597688"/>
              <a:gd name="connsiteX10" fmla="*/ 703384 w 1517301"/>
              <a:gd name="connsiteY10" fmla="*/ 0 h 1597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301" h="1597688">
                <a:moveTo>
                  <a:pt x="703384" y="0"/>
                </a:moveTo>
                <a:cubicBezTo>
                  <a:pt x="1152898" y="0"/>
                  <a:pt x="1517301" y="357655"/>
                  <a:pt x="1517301" y="798844"/>
                </a:cubicBezTo>
                <a:cubicBezTo>
                  <a:pt x="1517301" y="1240033"/>
                  <a:pt x="1152898" y="1597688"/>
                  <a:pt x="703384" y="1597688"/>
                </a:cubicBezTo>
                <a:cubicBezTo>
                  <a:pt x="422438" y="1597688"/>
                  <a:pt x="174738" y="1457979"/>
                  <a:pt x="28471" y="1245485"/>
                </a:cubicBezTo>
                <a:lnTo>
                  <a:pt x="0" y="1194001"/>
                </a:lnTo>
                <a:lnTo>
                  <a:pt x="46570" y="1109790"/>
                </a:lnTo>
                <a:cubicBezTo>
                  <a:pt x="87757" y="1014218"/>
                  <a:pt x="110532" y="909141"/>
                  <a:pt x="110532" y="798844"/>
                </a:cubicBezTo>
                <a:cubicBezTo>
                  <a:pt x="110532" y="688547"/>
                  <a:pt x="87757" y="583471"/>
                  <a:pt x="46570" y="487898"/>
                </a:cubicBezTo>
                <a:lnTo>
                  <a:pt x="0" y="403687"/>
                </a:lnTo>
                <a:lnTo>
                  <a:pt x="28471" y="352203"/>
                </a:lnTo>
                <a:cubicBezTo>
                  <a:pt x="174738" y="139709"/>
                  <a:pt x="422438" y="0"/>
                  <a:pt x="703384"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b="1" dirty="0">
              <a:solidFill>
                <a:srgbClr val="000000"/>
              </a:solidFill>
              <a:latin typeface="Oswald Bold"/>
              <a:ea typeface="Oswald Bold"/>
              <a:cs typeface="Oswald Bold"/>
              <a:sym typeface="Oswald Bold"/>
            </a:endParaRPr>
          </a:p>
          <a:p>
            <a:pPr algn="ctr"/>
            <a:r>
              <a:rPr lang="en-US" sz="1800" b="1" dirty="0">
                <a:solidFill>
                  <a:srgbClr val="000000"/>
                </a:solidFill>
                <a:latin typeface="Oswald Bold"/>
                <a:ea typeface="Oswald Bold"/>
                <a:cs typeface="Oswald Bold"/>
                <a:sym typeface="Oswald Bold"/>
              </a:rPr>
              <a:t>02. Visual Studio Code</a:t>
            </a:r>
          </a:p>
          <a:p>
            <a:pPr algn="ctr"/>
            <a:endParaRPr lang="en-GB" dirty="0"/>
          </a:p>
        </p:txBody>
      </p:sp>
      <p:cxnSp>
        <p:nvCxnSpPr>
          <p:cNvPr id="23" name="Straight Arrow Connector 22">
            <a:extLst>
              <a:ext uri="{FF2B5EF4-FFF2-40B4-BE49-F238E27FC236}">
                <a16:creationId xmlns:a16="http://schemas.microsoft.com/office/drawing/2014/main" id="{DF23BAD4-4CD4-BDFD-3FA4-606D56268205}"/>
              </a:ext>
            </a:extLst>
          </p:cNvPr>
          <p:cNvCxnSpPr>
            <a:stCxn id="19" idx="9"/>
          </p:cNvCxnSpPr>
          <p:nvPr/>
        </p:nvCxnSpPr>
        <p:spPr>
          <a:xfrm flipH="1" flipV="1">
            <a:off x="3155182" y="3428999"/>
            <a:ext cx="98641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5648CA6-00B5-618F-BD76-F7DB3C71B545}"/>
              </a:ext>
            </a:extLst>
          </p:cNvPr>
          <p:cNvCxnSpPr>
            <a:cxnSpLocks/>
            <a:stCxn id="18" idx="1"/>
          </p:cNvCxnSpPr>
          <p:nvPr/>
        </p:nvCxnSpPr>
        <p:spPr>
          <a:xfrm flipV="1">
            <a:off x="8050404" y="3428999"/>
            <a:ext cx="9529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AECABCDD-5D79-58AE-5249-3F11AAEDB003}"/>
              </a:ext>
            </a:extLst>
          </p:cNvPr>
          <p:cNvSpPr/>
          <p:nvPr/>
        </p:nvSpPr>
        <p:spPr>
          <a:xfrm>
            <a:off x="464273" y="1647929"/>
            <a:ext cx="2583161" cy="4009291"/>
          </a:xfrm>
          <a:prstGeom prst="roundRect">
            <a:avLst/>
          </a:prstGeom>
          <a:noFill/>
          <a:ln>
            <a:solidFill>
              <a:srgbClr val="DCEAF7"/>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Chosen for its interactive coding and visualization capabilities, Jupyter Notebook lets us see model results instantly and adjust code in real time—making it an invaluable tool during experimentation.</a:t>
            </a:r>
            <a:endParaRPr lang="en-GB" dirty="0">
              <a:solidFill>
                <a:schemeClr val="tx1"/>
              </a:solidFill>
            </a:endParaRPr>
          </a:p>
        </p:txBody>
      </p:sp>
      <p:sp>
        <p:nvSpPr>
          <p:cNvPr id="28" name="Rectangle: Rounded Corners 27">
            <a:extLst>
              <a:ext uri="{FF2B5EF4-FFF2-40B4-BE49-F238E27FC236}">
                <a16:creationId xmlns:a16="http://schemas.microsoft.com/office/drawing/2014/main" id="{68392B26-588E-FE52-F80D-C1088B3D7B2E}"/>
              </a:ext>
            </a:extLst>
          </p:cNvPr>
          <p:cNvSpPr/>
          <p:nvPr/>
        </p:nvSpPr>
        <p:spPr>
          <a:xfrm>
            <a:off x="9144566" y="1569217"/>
            <a:ext cx="2732802" cy="4009291"/>
          </a:xfrm>
          <a:prstGeom prst="roundRect">
            <a:avLst/>
          </a:prstGeom>
          <a:noFill/>
          <a:ln>
            <a:solidFill>
              <a:srgbClr val="83CBE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 powerful extensions, debugging, and file management, VS Code keeps our code organized and deployment-ready, making it ideal for building, testing, and managing every part of the project.</a:t>
            </a:r>
            <a:endParaRPr lang="en-GB" dirty="0">
              <a:solidFill>
                <a:schemeClr val="tx1"/>
              </a:solidFill>
            </a:endParaRPr>
          </a:p>
        </p:txBody>
      </p:sp>
    </p:spTree>
    <p:extLst>
      <p:ext uri="{BB962C8B-B14F-4D97-AF65-F5344CB8AC3E}">
        <p14:creationId xmlns:p14="http://schemas.microsoft.com/office/powerpoint/2010/main" val="25127855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1+#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1+#ppt_w/2"/>
                                          </p:val>
                                        </p:tav>
                                        <p:tav tm="100000">
                                          <p:val>
                                            <p:strVal val="#ppt_x"/>
                                          </p:val>
                                        </p:tav>
                                      </p:tavLst>
                                    </p:anim>
                                    <p:anim calcmode="lin" valueType="num">
                                      <p:cBhvr additive="base">
                                        <p:cTn id="16" dur="500" fill="hold"/>
                                        <p:tgtEl>
                                          <p:spTgt spid="2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1+#ppt_w/2"/>
                                          </p:val>
                                        </p:tav>
                                        <p:tav tm="100000">
                                          <p:val>
                                            <p:strVal val="#ppt_x"/>
                                          </p:val>
                                        </p:tav>
                                      </p:tavLst>
                                    </p:anim>
                                    <p:anim calcmode="lin" valueType="num">
                                      <p:cBhvr additive="base">
                                        <p:cTn id="2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0-#ppt_w/2"/>
                                          </p:val>
                                        </p:tav>
                                        <p:tav tm="100000">
                                          <p:val>
                                            <p:strVal val="#ppt_x"/>
                                          </p:val>
                                        </p:tav>
                                      </p:tavLst>
                                    </p:anim>
                                    <p:anim calcmode="lin" valueType="num">
                                      <p:cBhvr additive="base">
                                        <p:cTn id="30" dur="500" fill="hold"/>
                                        <p:tgtEl>
                                          <p:spTgt spid="28"/>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0-#ppt_w/2"/>
                                          </p:val>
                                        </p:tav>
                                        <p:tav tm="100000">
                                          <p:val>
                                            <p:strVal val="#ppt_x"/>
                                          </p:val>
                                        </p:tav>
                                      </p:tavLst>
                                    </p:anim>
                                    <p:anim calcmode="lin" valueType="num">
                                      <p:cBhvr additive="base">
                                        <p:cTn id="34"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834BC-4C67-7350-90DD-E52A274FBB2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6D1BF7F-71FB-2F60-4658-39C521A1DE97}"/>
              </a:ext>
            </a:extLst>
          </p:cNvPr>
          <p:cNvSpPr txBox="1"/>
          <p:nvPr/>
        </p:nvSpPr>
        <p:spPr>
          <a:xfrm>
            <a:off x="3047434" y="384451"/>
            <a:ext cx="6109396" cy="360227"/>
          </a:xfrm>
          <a:prstGeom prst="rect">
            <a:avLst/>
          </a:prstGeom>
          <a:noFill/>
        </p:spPr>
        <p:txBody>
          <a:bodyPr wrap="square">
            <a:spAutoFit/>
          </a:bodyPr>
          <a:lstStyle/>
          <a:p>
            <a:pPr algn="ctr">
              <a:lnSpc>
                <a:spcPts val="1799"/>
              </a:lnSpc>
            </a:pPr>
            <a:r>
              <a:rPr lang="en-US" sz="2800" b="1" dirty="0">
                <a:solidFill>
                  <a:srgbClr val="404040"/>
                </a:solidFill>
                <a:latin typeface="Public Sans Bold"/>
                <a:ea typeface="Public Sans Bold"/>
                <a:cs typeface="Public Sans Bold"/>
                <a:sym typeface="Public Sans Bold"/>
              </a:rPr>
              <a:t>d. Version Control</a:t>
            </a:r>
          </a:p>
        </p:txBody>
      </p:sp>
      <p:sp>
        <p:nvSpPr>
          <p:cNvPr id="20" name="Freeform: Shape 19">
            <a:extLst>
              <a:ext uri="{FF2B5EF4-FFF2-40B4-BE49-F238E27FC236}">
                <a16:creationId xmlns:a16="http://schemas.microsoft.com/office/drawing/2014/main" id="{905CF2EC-C4C8-9279-A8E8-50412C3E892A}"/>
              </a:ext>
            </a:extLst>
          </p:cNvPr>
          <p:cNvSpPr/>
          <p:nvPr/>
        </p:nvSpPr>
        <p:spPr>
          <a:xfrm>
            <a:off x="5953625" y="2909599"/>
            <a:ext cx="284749" cy="1038801"/>
          </a:xfrm>
          <a:custGeom>
            <a:avLst/>
            <a:gdLst>
              <a:gd name="connsiteX0" fmla="*/ 110533 w 221065"/>
              <a:gd name="connsiteY0" fmla="*/ 0 h 790314"/>
              <a:gd name="connsiteX1" fmla="*/ 157103 w 221065"/>
              <a:gd name="connsiteY1" fmla="*/ 84211 h 790314"/>
              <a:gd name="connsiteX2" fmla="*/ 221065 w 221065"/>
              <a:gd name="connsiteY2" fmla="*/ 395157 h 790314"/>
              <a:gd name="connsiteX3" fmla="*/ 157103 w 221065"/>
              <a:gd name="connsiteY3" fmla="*/ 706103 h 790314"/>
              <a:gd name="connsiteX4" fmla="*/ 110533 w 221065"/>
              <a:gd name="connsiteY4" fmla="*/ 790314 h 790314"/>
              <a:gd name="connsiteX5" fmla="*/ 63962 w 221065"/>
              <a:gd name="connsiteY5" fmla="*/ 706103 h 790314"/>
              <a:gd name="connsiteX6" fmla="*/ 0 w 221065"/>
              <a:gd name="connsiteY6" fmla="*/ 395157 h 790314"/>
              <a:gd name="connsiteX7" fmla="*/ 63962 w 221065"/>
              <a:gd name="connsiteY7" fmla="*/ 84211 h 790314"/>
              <a:gd name="connsiteX8" fmla="*/ 110533 w 221065"/>
              <a:gd name="connsiteY8" fmla="*/ 0 h 790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1065" h="790314">
                <a:moveTo>
                  <a:pt x="110533" y="0"/>
                </a:moveTo>
                <a:lnTo>
                  <a:pt x="157103" y="84211"/>
                </a:lnTo>
                <a:cubicBezTo>
                  <a:pt x="198290" y="179784"/>
                  <a:pt x="221065" y="284860"/>
                  <a:pt x="221065" y="395157"/>
                </a:cubicBezTo>
                <a:cubicBezTo>
                  <a:pt x="221065" y="505454"/>
                  <a:pt x="198290" y="610531"/>
                  <a:pt x="157103" y="706103"/>
                </a:cubicBezTo>
                <a:lnTo>
                  <a:pt x="110533" y="790314"/>
                </a:lnTo>
                <a:lnTo>
                  <a:pt x="63962" y="706103"/>
                </a:lnTo>
                <a:cubicBezTo>
                  <a:pt x="22775" y="610531"/>
                  <a:pt x="0" y="505454"/>
                  <a:pt x="0" y="395157"/>
                </a:cubicBezTo>
                <a:cubicBezTo>
                  <a:pt x="0" y="284860"/>
                  <a:pt x="22775" y="179784"/>
                  <a:pt x="63962" y="84211"/>
                </a:cubicBezTo>
                <a:lnTo>
                  <a:pt x="110533" y="0"/>
                </a:lnTo>
                <a:close/>
              </a:path>
            </a:pathLst>
          </a:cu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9" name="Freeform: Shape 18">
            <a:extLst>
              <a:ext uri="{FF2B5EF4-FFF2-40B4-BE49-F238E27FC236}">
                <a16:creationId xmlns:a16="http://schemas.microsoft.com/office/drawing/2014/main" id="{44BB899C-3C0C-731B-5E15-840704709FE1}"/>
              </a:ext>
            </a:extLst>
          </p:cNvPr>
          <p:cNvSpPr/>
          <p:nvPr/>
        </p:nvSpPr>
        <p:spPr>
          <a:xfrm>
            <a:off x="4141595" y="2378987"/>
            <a:ext cx="1954405" cy="2100025"/>
          </a:xfrm>
          <a:custGeom>
            <a:avLst/>
            <a:gdLst>
              <a:gd name="connsiteX0" fmla="*/ 813917 w 1517302"/>
              <a:gd name="connsiteY0" fmla="*/ 0 h 1597688"/>
              <a:gd name="connsiteX1" fmla="*/ 1488830 w 1517302"/>
              <a:gd name="connsiteY1" fmla="*/ 352203 h 1597688"/>
              <a:gd name="connsiteX2" fmla="*/ 1517302 w 1517302"/>
              <a:gd name="connsiteY2" fmla="*/ 403687 h 1597688"/>
              <a:gd name="connsiteX3" fmla="*/ 1470731 w 1517302"/>
              <a:gd name="connsiteY3" fmla="*/ 487898 h 1597688"/>
              <a:gd name="connsiteX4" fmla="*/ 1406769 w 1517302"/>
              <a:gd name="connsiteY4" fmla="*/ 798844 h 1597688"/>
              <a:gd name="connsiteX5" fmla="*/ 1470731 w 1517302"/>
              <a:gd name="connsiteY5" fmla="*/ 1109790 h 1597688"/>
              <a:gd name="connsiteX6" fmla="*/ 1517302 w 1517302"/>
              <a:gd name="connsiteY6" fmla="*/ 1194001 h 1597688"/>
              <a:gd name="connsiteX7" fmla="*/ 1488830 w 1517302"/>
              <a:gd name="connsiteY7" fmla="*/ 1245485 h 1597688"/>
              <a:gd name="connsiteX8" fmla="*/ 813917 w 1517302"/>
              <a:gd name="connsiteY8" fmla="*/ 1597688 h 1597688"/>
              <a:gd name="connsiteX9" fmla="*/ 0 w 1517302"/>
              <a:gd name="connsiteY9" fmla="*/ 798844 h 1597688"/>
              <a:gd name="connsiteX10" fmla="*/ 813917 w 1517302"/>
              <a:gd name="connsiteY10" fmla="*/ 0 h 1597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302" h="1597688">
                <a:moveTo>
                  <a:pt x="813917" y="0"/>
                </a:moveTo>
                <a:cubicBezTo>
                  <a:pt x="1094863" y="0"/>
                  <a:pt x="1342563" y="139709"/>
                  <a:pt x="1488830" y="352203"/>
                </a:cubicBezTo>
                <a:lnTo>
                  <a:pt x="1517302" y="403687"/>
                </a:lnTo>
                <a:lnTo>
                  <a:pt x="1470731" y="487898"/>
                </a:lnTo>
                <a:cubicBezTo>
                  <a:pt x="1429544" y="583471"/>
                  <a:pt x="1406769" y="688547"/>
                  <a:pt x="1406769" y="798844"/>
                </a:cubicBezTo>
                <a:cubicBezTo>
                  <a:pt x="1406769" y="909141"/>
                  <a:pt x="1429544" y="1014218"/>
                  <a:pt x="1470731" y="1109790"/>
                </a:cubicBezTo>
                <a:lnTo>
                  <a:pt x="1517302" y="1194001"/>
                </a:lnTo>
                <a:lnTo>
                  <a:pt x="1488830" y="1245485"/>
                </a:lnTo>
                <a:cubicBezTo>
                  <a:pt x="1342563" y="1457979"/>
                  <a:pt x="1094863" y="1597688"/>
                  <a:pt x="813917" y="1597688"/>
                </a:cubicBezTo>
                <a:cubicBezTo>
                  <a:pt x="364403" y="1597688"/>
                  <a:pt x="0" y="1240033"/>
                  <a:pt x="0" y="798844"/>
                </a:cubicBezTo>
                <a:cubicBezTo>
                  <a:pt x="0" y="357655"/>
                  <a:pt x="364403" y="0"/>
                  <a:pt x="813917" y="0"/>
                </a:cubicBezTo>
                <a:close/>
              </a:path>
            </a:pathLst>
          </a:cu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1800" b="1" dirty="0">
                <a:solidFill>
                  <a:srgbClr val="000000"/>
                </a:solidFill>
                <a:latin typeface="Oswald Bold"/>
                <a:ea typeface="Oswald Bold"/>
                <a:cs typeface="Oswald Bold"/>
                <a:sym typeface="Oswald Bold"/>
              </a:rPr>
              <a:t>01. Git</a:t>
            </a:r>
          </a:p>
        </p:txBody>
      </p:sp>
      <p:sp>
        <p:nvSpPr>
          <p:cNvPr id="18" name="Freeform: Shape 17">
            <a:extLst>
              <a:ext uri="{FF2B5EF4-FFF2-40B4-BE49-F238E27FC236}">
                <a16:creationId xmlns:a16="http://schemas.microsoft.com/office/drawing/2014/main" id="{6A883EFC-058C-9C23-31E3-78D799B3B90A}"/>
              </a:ext>
            </a:extLst>
          </p:cNvPr>
          <p:cNvSpPr/>
          <p:nvPr/>
        </p:nvSpPr>
        <p:spPr>
          <a:xfrm>
            <a:off x="6096000" y="2402834"/>
            <a:ext cx="1954404" cy="2100025"/>
          </a:xfrm>
          <a:custGeom>
            <a:avLst/>
            <a:gdLst>
              <a:gd name="connsiteX0" fmla="*/ 703384 w 1517301"/>
              <a:gd name="connsiteY0" fmla="*/ 0 h 1597688"/>
              <a:gd name="connsiteX1" fmla="*/ 1517301 w 1517301"/>
              <a:gd name="connsiteY1" fmla="*/ 798844 h 1597688"/>
              <a:gd name="connsiteX2" fmla="*/ 703384 w 1517301"/>
              <a:gd name="connsiteY2" fmla="*/ 1597688 h 1597688"/>
              <a:gd name="connsiteX3" fmla="*/ 28471 w 1517301"/>
              <a:gd name="connsiteY3" fmla="*/ 1245485 h 1597688"/>
              <a:gd name="connsiteX4" fmla="*/ 0 w 1517301"/>
              <a:gd name="connsiteY4" fmla="*/ 1194001 h 1597688"/>
              <a:gd name="connsiteX5" fmla="*/ 46570 w 1517301"/>
              <a:gd name="connsiteY5" fmla="*/ 1109790 h 1597688"/>
              <a:gd name="connsiteX6" fmla="*/ 110532 w 1517301"/>
              <a:gd name="connsiteY6" fmla="*/ 798844 h 1597688"/>
              <a:gd name="connsiteX7" fmla="*/ 46570 w 1517301"/>
              <a:gd name="connsiteY7" fmla="*/ 487898 h 1597688"/>
              <a:gd name="connsiteX8" fmla="*/ 0 w 1517301"/>
              <a:gd name="connsiteY8" fmla="*/ 403687 h 1597688"/>
              <a:gd name="connsiteX9" fmla="*/ 28471 w 1517301"/>
              <a:gd name="connsiteY9" fmla="*/ 352203 h 1597688"/>
              <a:gd name="connsiteX10" fmla="*/ 703384 w 1517301"/>
              <a:gd name="connsiteY10" fmla="*/ 0 h 1597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7301" h="1597688">
                <a:moveTo>
                  <a:pt x="703384" y="0"/>
                </a:moveTo>
                <a:cubicBezTo>
                  <a:pt x="1152898" y="0"/>
                  <a:pt x="1517301" y="357655"/>
                  <a:pt x="1517301" y="798844"/>
                </a:cubicBezTo>
                <a:cubicBezTo>
                  <a:pt x="1517301" y="1240033"/>
                  <a:pt x="1152898" y="1597688"/>
                  <a:pt x="703384" y="1597688"/>
                </a:cubicBezTo>
                <a:cubicBezTo>
                  <a:pt x="422438" y="1597688"/>
                  <a:pt x="174738" y="1457979"/>
                  <a:pt x="28471" y="1245485"/>
                </a:cubicBezTo>
                <a:lnTo>
                  <a:pt x="0" y="1194001"/>
                </a:lnTo>
                <a:lnTo>
                  <a:pt x="46570" y="1109790"/>
                </a:lnTo>
                <a:cubicBezTo>
                  <a:pt x="87757" y="1014218"/>
                  <a:pt x="110532" y="909141"/>
                  <a:pt x="110532" y="798844"/>
                </a:cubicBezTo>
                <a:cubicBezTo>
                  <a:pt x="110532" y="688547"/>
                  <a:pt x="87757" y="583471"/>
                  <a:pt x="46570" y="487898"/>
                </a:cubicBezTo>
                <a:lnTo>
                  <a:pt x="0" y="403687"/>
                </a:lnTo>
                <a:lnTo>
                  <a:pt x="28471" y="352203"/>
                </a:lnTo>
                <a:cubicBezTo>
                  <a:pt x="174738" y="139709"/>
                  <a:pt x="422438" y="0"/>
                  <a:pt x="703384" y="0"/>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b="1" dirty="0">
              <a:solidFill>
                <a:srgbClr val="000000"/>
              </a:solidFill>
              <a:latin typeface="Oswald Bold"/>
              <a:ea typeface="Oswald Bold"/>
              <a:cs typeface="Oswald Bold"/>
              <a:sym typeface="Oswald Bold"/>
            </a:endParaRPr>
          </a:p>
          <a:p>
            <a:pPr algn="ctr"/>
            <a:r>
              <a:rPr lang="en-US" sz="1800" b="1" dirty="0">
                <a:solidFill>
                  <a:srgbClr val="000000"/>
                </a:solidFill>
                <a:latin typeface="Oswald Bold"/>
                <a:ea typeface="Oswald Bold"/>
                <a:cs typeface="Oswald Bold"/>
                <a:sym typeface="Oswald Bold"/>
              </a:rPr>
              <a:t>02. GitHub</a:t>
            </a:r>
          </a:p>
          <a:p>
            <a:pPr algn="ctr"/>
            <a:endParaRPr lang="en-GB" dirty="0"/>
          </a:p>
        </p:txBody>
      </p:sp>
      <p:cxnSp>
        <p:nvCxnSpPr>
          <p:cNvPr id="23" name="Straight Arrow Connector 22">
            <a:extLst>
              <a:ext uri="{FF2B5EF4-FFF2-40B4-BE49-F238E27FC236}">
                <a16:creationId xmlns:a16="http://schemas.microsoft.com/office/drawing/2014/main" id="{B4954B85-7C5A-74C6-5549-2A80E4F67FAE}"/>
              </a:ext>
            </a:extLst>
          </p:cNvPr>
          <p:cNvCxnSpPr>
            <a:stCxn id="19" idx="9"/>
          </p:cNvCxnSpPr>
          <p:nvPr/>
        </p:nvCxnSpPr>
        <p:spPr>
          <a:xfrm flipH="1" flipV="1">
            <a:off x="3155182" y="3428999"/>
            <a:ext cx="98641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799B022-CEE3-7C33-754B-AF697C5C3F4A}"/>
              </a:ext>
            </a:extLst>
          </p:cNvPr>
          <p:cNvCxnSpPr>
            <a:cxnSpLocks/>
            <a:stCxn id="18" idx="1"/>
          </p:cNvCxnSpPr>
          <p:nvPr/>
        </p:nvCxnSpPr>
        <p:spPr>
          <a:xfrm flipV="1">
            <a:off x="8050404" y="3452846"/>
            <a:ext cx="9529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61F41979-86C2-61DC-0EBD-B4E75348DF21}"/>
              </a:ext>
            </a:extLst>
          </p:cNvPr>
          <p:cNvSpPr/>
          <p:nvPr/>
        </p:nvSpPr>
        <p:spPr>
          <a:xfrm>
            <a:off x="464273" y="1647929"/>
            <a:ext cx="2583161" cy="4009291"/>
          </a:xfrm>
          <a:prstGeom prst="roundRect">
            <a:avLst/>
          </a:prstGeom>
          <a:noFill/>
          <a:ln>
            <a:solidFill>
              <a:srgbClr val="DCEAF7"/>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Monitor modifications to our codebase, experiment with different versions, and safely revert to previous states if necessary. This ensured our work was always backed up and manageable.</a:t>
            </a:r>
            <a:endParaRPr lang="en-GB" dirty="0">
              <a:solidFill>
                <a:schemeClr val="tx1"/>
              </a:solidFill>
            </a:endParaRPr>
          </a:p>
        </p:txBody>
      </p:sp>
      <p:sp>
        <p:nvSpPr>
          <p:cNvPr id="28" name="Rectangle: Rounded Corners 27">
            <a:extLst>
              <a:ext uri="{FF2B5EF4-FFF2-40B4-BE49-F238E27FC236}">
                <a16:creationId xmlns:a16="http://schemas.microsoft.com/office/drawing/2014/main" id="{E35146A6-BD04-3761-D5A1-90F380FD44C7}"/>
              </a:ext>
            </a:extLst>
          </p:cNvPr>
          <p:cNvSpPr/>
          <p:nvPr/>
        </p:nvSpPr>
        <p:spPr>
          <a:xfrm>
            <a:off x="9144566" y="1593064"/>
            <a:ext cx="2583161" cy="4009291"/>
          </a:xfrm>
          <a:prstGeom prst="roundRect">
            <a:avLst/>
          </a:prstGeom>
          <a:noFill/>
          <a:ln>
            <a:solidFill>
              <a:srgbClr val="83CBE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As a collaboration platform, GitHub provides a centralized place for sharing code, managing versions, and coordinating project updates, making teamwork and remote access seamless and efficient.</a:t>
            </a:r>
            <a:endParaRPr lang="en-GB" dirty="0">
              <a:solidFill>
                <a:schemeClr val="tx1"/>
              </a:solidFill>
            </a:endParaRPr>
          </a:p>
        </p:txBody>
      </p:sp>
      <p:pic>
        <p:nvPicPr>
          <p:cNvPr id="2" name="Picture 1" descr="A person holding a file box&#10;&#10;Description automatically generated">
            <a:extLst>
              <a:ext uri="{FF2B5EF4-FFF2-40B4-BE49-F238E27FC236}">
                <a16:creationId xmlns:a16="http://schemas.microsoft.com/office/drawing/2014/main" id="{C851CD69-66DF-ADD0-4ABD-38539B562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5506" y="-74185"/>
            <a:ext cx="5345269" cy="7054061"/>
          </a:xfrm>
          <a:prstGeom prst="rect">
            <a:avLst/>
          </a:prstGeom>
          <a:ln>
            <a:noFill/>
          </a:ln>
          <a:effectLst>
            <a:softEdge rad="112500"/>
          </a:effectLst>
        </p:spPr>
      </p:pic>
      <p:sp>
        <p:nvSpPr>
          <p:cNvPr id="4" name="TextBox 3">
            <a:extLst>
              <a:ext uri="{FF2B5EF4-FFF2-40B4-BE49-F238E27FC236}">
                <a16:creationId xmlns:a16="http://schemas.microsoft.com/office/drawing/2014/main" id="{3C4D9D8B-DA7C-595C-6F2E-91F04FB5F6C5}"/>
              </a:ext>
            </a:extLst>
          </p:cNvPr>
          <p:cNvSpPr txBox="1"/>
          <p:nvPr/>
        </p:nvSpPr>
        <p:spPr>
          <a:xfrm>
            <a:off x="2651928" y="996248"/>
            <a:ext cx="8842548" cy="400110"/>
          </a:xfrm>
          <a:prstGeom prst="rect">
            <a:avLst/>
          </a:prstGeom>
          <a:noFill/>
        </p:spPr>
        <p:txBody>
          <a:bodyPr wrap="square">
            <a:spAutoFit/>
          </a:bodyPr>
          <a:lstStyle/>
          <a:p>
            <a:r>
              <a:rPr lang="en-US" sz="2000" dirty="0"/>
              <a:t>For managing code changes and ensuring efficient collaboration</a:t>
            </a:r>
            <a:endParaRPr lang="en-GB" sz="2000" dirty="0"/>
          </a:p>
        </p:txBody>
      </p:sp>
    </p:spTree>
    <p:extLst>
      <p:ext uri="{BB962C8B-B14F-4D97-AF65-F5344CB8AC3E}">
        <p14:creationId xmlns:p14="http://schemas.microsoft.com/office/powerpoint/2010/main" val="33994016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fill="hold"/>
                                        <p:tgtEl>
                                          <p:spTgt spid="20"/>
                                        </p:tgtEl>
                                        <p:attrNameLst>
                                          <p:attrName>ppt_x</p:attrName>
                                        </p:attrNameLst>
                                      </p:cBhvr>
                                      <p:tavLst>
                                        <p:tav tm="0">
                                          <p:val>
                                            <p:strVal val="1+#ppt_w/2"/>
                                          </p:val>
                                        </p:tav>
                                        <p:tav tm="100000">
                                          <p:val>
                                            <p:strVal val="#ppt_x"/>
                                          </p:val>
                                        </p:tav>
                                      </p:tavLst>
                                    </p:anim>
                                    <p:anim calcmode="lin" valueType="num">
                                      <p:cBhvr additive="base">
                                        <p:cTn id="12" dur="500" fill="hold"/>
                                        <p:tgtEl>
                                          <p:spTgt spid="2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1+#ppt_w/2"/>
                                          </p:val>
                                        </p:tav>
                                        <p:tav tm="100000">
                                          <p:val>
                                            <p:strVal val="#ppt_x"/>
                                          </p:val>
                                        </p:tav>
                                      </p:tavLst>
                                    </p:anim>
                                    <p:anim calcmode="lin" valueType="num">
                                      <p:cBhvr additive="base">
                                        <p:cTn id="16" dur="500" fill="hold"/>
                                        <p:tgtEl>
                                          <p:spTgt spid="23"/>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1+#ppt_w/2"/>
                                          </p:val>
                                        </p:tav>
                                        <p:tav tm="100000">
                                          <p:val>
                                            <p:strVal val="#ppt_x"/>
                                          </p:val>
                                        </p:tav>
                                      </p:tavLst>
                                    </p:anim>
                                    <p:anim calcmode="lin" valueType="num">
                                      <p:cBhvr additive="base">
                                        <p:cTn id="2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500" fill="hold"/>
                                        <p:tgtEl>
                                          <p:spTgt spid="24"/>
                                        </p:tgtEl>
                                        <p:attrNameLst>
                                          <p:attrName>ppt_x</p:attrName>
                                        </p:attrNameLst>
                                      </p:cBhvr>
                                      <p:tavLst>
                                        <p:tav tm="0">
                                          <p:val>
                                            <p:strVal val="0-#ppt_w/2"/>
                                          </p:val>
                                        </p:tav>
                                        <p:tav tm="100000">
                                          <p:val>
                                            <p:strVal val="#ppt_x"/>
                                          </p:val>
                                        </p:tav>
                                      </p:tavLst>
                                    </p:anim>
                                    <p:anim calcmode="lin" valueType="num">
                                      <p:cBhvr additive="base">
                                        <p:cTn id="30" dur="500" fill="hold"/>
                                        <p:tgtEl>
                                          <p:spTgt spid="24"/>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 calcmode="lin" valueType="num">
                                      <p:cBhvr additive="base">
                                        <p:cTn id="33" dur="500" fill="hold"/>
                                        <p:tgtEl>
                                          <p:spTgt spid="28"/>
                                        </p:tgtEl>
                                        <p:attrNameLst>
                                          <p:attrName>ppt_x</p:attrName>
                                        </p:attrNameLst>
                                      </p:cBhvr>
                                      <p:tavLst>
                                        <p:tav tm="0">
                                          <p:val>
                                            <p:strVal val="0-#ppt_w/2"/>
                                          </p:val>
                                        </p:tav>
                                        <p:tav tm="100000">
                                          <p:val>
                                            <p:strVal val="#ppt_x"/>
                                          </p:val>
                                        </p:tav>
                                      </p:tavLst>
                                    </p:anim>
                                    <p:anim calcmode="lin" valueType="num">
                                      <p:cBhvr additive="base">
                                        <p:cTn id="34"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7592CF-E913-99A6-2DD2-9C4C84FB2B85}"/>
              </a:ext>
            </a:extLst>
          </p:cNvPr>
          <p:cNvSpPr txBox="1"/>
          <p:nvPr/>
        </p:nvSpPr>
        <p:spPr>
          <a:xfrm>
            <a:off x="712699" y="256233"/>
            <a:ext cx="6094324" cy="477054"/>
          </a:xfrm>
          <a:prstGeom prst="rect">
            <a:avLst/>
          </a:prstGeom>
          <a:noFill/>
        </p:spPr>
        <p:txBody>
          <a:bodyPr wrap="square">
            <a:spAutoFit/>
          </a:bodyPr>
          <a:lstStyle/>
          <a:p>
            <a:pPr algn="ctr">
              <a:lnSpc>
                <a:spcPts val="3000"/>
              </a:lnSpc>
            </a:pPr>
            <a:r>
              <a:rPr lang="en-US" sz="2800" b="1" dirty="0">
                <a:solidFill>
                  <a:srgbClr val="404040"/>
                </a:solidFill>
                <a:latin typeface="Public Sans Bold"/>
                <a:ea typeface="Public Sans Bold"/>
                <a:cs typeface="Public Sans Bold"/>
                <a:sym typeface="Public Sans Bold"/>
              </a:rPr>
              <a:t>4. From data Collection to Modeling </a:t>
            </a:r>
          </a:p>
        </p:txBody>
      </p:sp>
      <p:sp>
        <p:nvSpPr>
          <p:cNvPr id="5" name="TextBox 4">
            <a:extLst>
              <a:ext uri="{FF2B5EF4-FFF2-40B4-BE49-F238E27FC236}">
                <a16:creationId xmlns:a16="http://schemas.microsoft.com/office/drawing/2014/main" id="{F3D3686B-538D-C8F6-9B40-320B3F9CDE71}"/>
              </a:ext>
            </a:extLst>
          </p:cNvPr>
          <p:cNvSpPr txBox="1"/>
          <p:nvPr/>
        </p:nvSpPr>
        <p:spPr>
          <a:xfrm>
            <a:off x="2347179" y="1376149"/>
            <a:ext cx="2911510" cy="523220"/>
          </a:xfrm>
          <a:prstGeom prst="rect">
            <a:avLst/>
          </a:prstGeom>
          <a:noFill/>
        </p:spPr>
        <p:txBody>
          <a:bodyPr wrap="square">
            <a:spAutoFit/>
          </a:bodyPr>
          <a:lstStyle/>
          <a:p>
            <a:r>
              <a:rPr lang="en-GB" sz="2800" b="1" dirty="0">
                <a:solidFill>
                  <a:srgbClr val="404040"/>
                </a:solidFill>
                <a:latin typeface="Public Sans Bold"/>
              </a:rPr>
              <a:t>data collection</a:t>
            </a:r>
          </a:p>
        </p:txBody>
      </p:sp>
      <p:sp>
        <p:nvSpPr>
          <p:cNvPr id="6" name="Rectangle: Rounded Corners 5">
            <a:extLst>
              <a:ext uri="{FF2B5EF4-FFF2-40B4-BE49-F238E27FC236}">
                <a16:creationId xmlns:a16="http://schemas.microsoft.com/office/drawing/2014/main" id="{17611203-4967-68E9-3EB6-8D26E4627E90}"/>
              </a:ext>
            </a:extLst>
          </p:cNvPr>
          <p:cNvSpPr/>
          <p:nvPr/>
        </p:nvSpPr>
        <p:spPr>
          <a:xfrm>
            <a:off x="712699" y="2542232"/>
            <a:ext cx="6180470" cy="4059535"/>
          </a:xfrm>
          <a:prstGeom prst="roundRect">
            <a:avLst/>
          </a:prstGeom>
          <a:noFill/>
          <a:ln>
            <a:solidFill>
              <a:srgbClr val="D5DCF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800" dirty="0">
                <a:solidFill>
                  <a:schemeClr val="tx1"/>
                </a:solidFill>
              </a:rPr>
              <a:t>In our project, we utilized both structured and unstructured data, including image datasets and tabular data, to build and train our models for disease detection. This involved collecting various datasets from Kaggle, which provided high-quality data for our analysis and modeling. </a:t>
            </a:r>
            <a:endParaRPr lang="en-GB" sz="2800" dirty="0">
              <a:solidFill>
                <a:schemeClr val="tx1"/>
              </a:solidFill>
            </a:endParaRPr>
          </a:p>
        </p:txBody>
      </p:sp>
      <p:pic>
        <p:nvPicPr>
          <p:cNvPr id="8" name="Picture 7" descr="A person holding a file box&#10;&#10;Description automatically generated">
            <a:extLst>
              <a:ext uri="{FF2B5EF4-FFF2-40B4-BE49-F238E27FC236}">
                <a16:creationId xmlns:a16="http://schemas.microsoft.com/office/drawing/2014/main" id="{3D61E6EA-174D-61E7-285B-7AA4F7B08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2186" y="-98031"/>
            <a:ext cx="5345269" cy="7054061"/>
          </a:xfrm>
          <a:prstGeom prst="rect">
            <a:avLst/>
          </a:prstGeom>
          <a:ln>
            <a:noFill/>
          </a:ln>
          <a:effectLst>
            <a:softEdge rad="112500"/>
          </a:effectLst>
        </p:spPr>
      </p:pic>
    </p:spTree>
    <p:extLst>
      <p:ext uri="{BB962C8B-B14F-4D97-AF65-F5344CB8AC3E}">
        <p14:creationId xmlns:p14="http://schemas.microsoft.com/office/powerpoint/2010/main" val="19769364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4255" y="3214598"/>
            <a:ext cx="1812054" cy="2945041"/>
            <a:chOff x="0" y="0"/>
            <a:chExt cx="639707" cy="1029619"/>
          </a:xfrm>
        </p:grpSpPr>
        <p:sp>
          <p:nvSpPr>
            <p:cNvPr id="3" name="Freeform 3"/>
            <p:cNvSpPr/>
            <p:nvPr/>
          </p:nvSpPr>
          <p:spPr>
            <a:xfrm>
              <a:off x="0" y="0"/>
              <a:ext cx="639707" cy="1029619"/>
            </a:xfrm>
            <a:custGeom>
              <a:avLst/>
              <a:gdLst/>
              <a:ahLst/>
              <a:cxnLst/>
              <a:rect l="l" t="t" r="r" b="b"/>
              <a:pathLst>
                <a:path w="639707" h="1029619">
                  <a:moveTo>
                    <a:pt x="207121" y="0"/>
                  </a:moveTo>
                  <a:lnTo>
                    <a:pt x="432586" y="0"/>
                  </a:lnTo>
                  <a:cubicBezTo>
                    <a:pt x="546976" y="0"/>
                    <a:pt x="639707" y="92731"/>
                    <a:pt x="639707" y="207121"/>
                  </a:cubicBezTo>
                  <a:lnTo>
                    <a:pt x="639707" y="822498"/>
                  </a:lnTo>
                  <a:cubicBezTo>
                    <a:pt x="639707" y="936887"/>
                    <a:pt x="546976" y="1029619"/>
                    <a:pt x="432586" y="1029619"/>
                  </a:cubicBezTo>
                  <a:lnTo>
                    <a:pt x="207121" y="1029619"/>
                  </a:lnTo>
                  <a:cubicBezTo>
                    <a:pt x="92731" y="1029619"/>
                    <a:pt x="0" y="936887"/>
                    <a:pt x="0" y="822498"/>
                  </a:cubicBezTo>
                  <a:lnTo>
                    <a:pt x="0" y="207121"/>
                  </a:lnTo>
                  <a:cubicBezTo>
                    <a:pt x="0" y="92731"/>
                    <a:pt x="92731" y="0"/>
                    <a:pt x="207121" y="0"/>
                  </a:cubicBezTo>
                  <a:close/>
                </a:path>
              </a:pathLst>
            </a:custGeom>
            <a:solidFill>
              <a:srgbClr val="FFFFFF"/>
            </a:solidFill>
            <a:ln w="19050" cap="rnd">
              <a:solidFill>
                <a:srgbClr val="000000"/>
              </a:solidFill>
              <a:prstDash val="solid"/>
              <a:round/>
            </a:ln>
          </p:spPr>
        </p:sp>
        <p:sp>
          <p:nvSpPr>
            <p:cNvPr id="4" name="TextBox 4"/>
            <p:cNvSpPr txBox="1"/>
            <p:nvPr/>
          </p:nvSpPr>
          <p:spPr>
            <a:xfrm>
              <a:off x="0" y="-38100"/>
              <a:ext cx="639707" cy="1067719"/>
            </a:xfrm>
            <a:prstGeom prst="rect">
              <a:avLst/>
            </a:prstGeom>
          </p:spPr>
          <p:txBody>
            <a:bodyPr lIns="23462" tIns="23462" rIns="23462" bIns="23462" rtlCol="0" anchor="ctr"/>
            <a:lstStyle/>
            <a:p>
              <a:pPr algn="ctr">
                <a:lnSpc>
                  <a:spcPts val="1221"/>
                </a:lnSpc>
                <a:spcBef>
                  <a:spcPct val="0"/>
                </a:spcBef>
              </a:pPr>
              <a:endParaRPr sz="1688"/>
            </a:p>
          </p:txBody>
        </p:sp>
      </p:grpSp>
      <p:grpSp>
        <p:nvGrpSpPr>
          <p:cNvPr id="5" name="Group 5"/>
          <p:cNvGrpSpPr/>
          <p:nvPr/>
        </p:nvGrpSpPr>
        <p:grpSpPr>
          <a:xfrm>
            <a:off x="884255" y="2733142"/>
            <a:ext cx="1812054" cy="687343"/>
            <a:chOff x="0" y="0"/>
            <a:chExt cx="639707" cy="240303"/>
          </a:xfrm>
        </p:grpSpPr>
        <p:sp>
          <p:nvSpPr>
            <p:cNvPr id="6" name="Freeform 6"/>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CFF4FF"/>
            </a:solidFill>
            <a:ln cap="rnd">
              <a:noFill/>
              <a:prstDash val="solid"/>
              <a:round/>
            </a:ln>
          </p:spPr>
        </p:sp>
        <p:sp>
          <p:nvSpPr>
            <p:cNvPr id="7" name="TextBox 7"/>
            <p:cNvSpPr txBox="1"/>
            <p:nvPr/>
          </p:nvSpPr>
          <p:spPr>
            <a:xfrm>
              <a:off x="0" y="-28575"/>
              <a:ext cx="639707" cy="268878"/>
            </a:xfrm>
            <a:prstGeom prst="rect">
              <a:avLst/>
            </a:prstGeom>
          </p:spPr>
          <p:txBody>
            <a:bodyPr lIns="23462" tIns="23462" rIns="23462" bIns="23462" rtlCol="0" anchor="ctr"/>
            <a:lstStyle/>
            <a:p>
              <a:pPr algn="ctr">
                <a:lnSpc>
                  <a:spcPts val="1256"/>
                </a:lnSpc>
                <a:spcBef>
                  <a:spcPct val="0"/>
                </a:spcBef>
              </a:pPr>
              <a:endParaRPr sz="1688"/>
            </a:p>
          </p:txBody>
        </p:sp>
      </p:grpSp>
      <p:grpSp>
        <p:nvGrpSpPr>
          <p:cNvPr id="8" name="Group 8"/>
          <p:cNvGrpSpPr/>
          <p:nvPr/>
        </p:nvGrpSpPr>
        <p:grpSpPr>
          <a:xfrm>
            <a:off x="3990046" y="703384"/>
            <a:ext cx="4237782" cy="687521"/>
            <a:chOff x="0" y="0"/>
            <a:chExt cx="1540563" cy="247516"/>
          </a:xfrm>
        </p:grpSpPr>
        <p:sp>
          <p:nvSpPr>
            <p:cNvPr id="9" name="Freeform 9"/>
            <p:cNvSpPr/>
            <p:nvPr/>
          </p:nvSpPr>
          <p:spPr>
            <a:xfrm>
              <a:off x="0" y="0"/>
              <a:ext cx="1540563" cy="247516"/>
            </a:xfrm>
            <a:custGeom>
              <a:avLst/>
              <a:gdLst/>
              <a:ahLst/>
              <a:cxnLst/>
              <a:rect l="l" t="t" r="r" b="b"/>
              <a:pathLst>
                <a:path w="1540563" h="247516">
                  <a:moveTo>
                    <a:pt x="78020" y="0"/>
                  </a:moveTo>
                  <a:lnTo>
                    <a:pt x="1462543" y="0"/>
                  </a:lnTo>
                  <a:cubicBezTo>
                    <a:pt x="1505632" y="0"/>
                    <a:pt x="1540563" y="34931"/>
                    <a:pt x="1540563" y="78020"/>
                  </a:cubicBezTo>
                  <a:lnTo>
                    <a:pt x="1540563" y="169495"/>
                  </a:lnTo>
                  <a:cubicBezTo>
                    <a:pt x="1540563" y="212585"/>
                    <a:pt x="1505632" y="247516"/>
                    <a:pt x="1462543" y="247516"/>
                  </a:cubicBezTo>
                  <a:lnTo>
                    <a:pt x="78020" y="247516"/>
                  </a:lnTo>
                  <a:cubicBezTo>
                    <a:pt x="34931" y="247516"/>
                    <a:pt x="0" y="212585"/>
                    <a:pt x="0" y="169495"/>
                  </a:cubicBezTo>
                  <a:lnTo>
                    <a:pt x="0" y="78020"/>
                  </a:lnTo>
                  <a:cubicBezTo>
                    <a:pt x="0" y="34931"/>
                    <a:pt x="34931" y="0"/>
                    <a:pt x="78020" y="0"/>
                  </a:cubicBezTo>
                  <a:close/>
                </a:path>
              </a:pathLst>
            </a:custGeom>
            <a:solidFill>
              <a:srgbClr val="FFD9DE"/>
            </a:solidFill>
            <a:ln cap="rnd">
              <a:noFill/>
              <a:prstDash val="solid"/>
              <a:round/>
            </a:ln>
          </p:spPr>
        </p:sp>
        <p:sp>
          <p:nvSpPr>
            <p:cNvPr id="10" name="TextBox 10"/>
            <p:cNvSpPr txBox="1"/>
            <p:nvPr/>
          </p:nvSpPr>
          <p:spPr>
            <a:xfrm>
              <a:off x="0" y="-28575"/>
              <a:ext cx="1540563" cy="276091"/>
            </a:xfrm>
            <a:prstGeom prst="rect">
              <a:avLst/>
            </a:prstGeom>
          </p:spPr>
          <p:txBody>
            <a:bodyPr lIns="22794" tIns="22794" rIns="22794" bIns="22794" rtlCol="0" anchor="ctr"/>
            <a:lstStyle/>
            <a:p>
              <a:pPr algn="ctr">
                <a:lnSpc>
                  <a:spcPts val="1256"/>
                </a:lnSpc>
                <a:spcBef>
                  <a:spcPct val="0"/>
                </a:spcBef>
              </a:pPr>
              <a:endParaRPr sz="1688"/>
            </a:p>
          </p:txBody>
        </p:sp>
      </p:grpSp>
      <p:grpSp>
        <p:nvGrpSpPr>
          <p:cNvPr id="12" name="Group 12"/>
          <p:cNvGrpSpPr/>
          <p:nvPr/>
        </p:nvGrpSpPr>
        <p:grpSpPr>
          <a:xfrm>
            <a:off x="3038201" y="3214511"/>
            <a:ext cx="1812054" cy="2945041"/>
            <a:chOff x="0" y="0"/>
            <a:chExt cx="639707" cy="1029619"/>
          </a:xfrm>
        </p:grpSpPr>
        <p:sp>
          <p:nvSpPr>
            <p:cNvPr id="13" name="Freeform 13"/>
            <p:cNvSpPr/>
            <p:nvPr/>
          </p:nvSpPr>
          <p:spPr>
            <a:xfrm>
              <a:off x="0" y="0"/>
              <a:ext cx="639707" cy="1029619"/>
            </a:xfrm>
            <a:custGeom>
              <a:avLst/>
              <a:gdLst/>
              <a:ahLst/>
              <a:cxnLst/>
              <a:rect l="l" t="t" r="r" b="b"/>
              <a:pathLst>
                <a:path w="639707" h="1029619">
                  <a:moveTo>
                    <a:pt x="213194" y="0"/>
                  </a:moveTo>
                  <a:lnTo>
                    <a:pt x="426513" y="0"/>
                  </a:lnTo>
                  <a:cubicBezTo>
                    <a:pt x="483055" y="0"/>
                    <a:pt x="537282" y="22461"/>
                    <a:pt x="577264" y="62443"/>
                  </a:cubicBezTo>
                  <a:cubicBezTo>
                    <a:pt x="617246" y="102425"/>
                    <a:pt x="639707" y="156652"/>
                    <a:pt x="639707" y="213194"/>
                  </a:cubicBezTo>
                  <a:lnTo>
                    <a:pt x="639707" y="816424"/>
                  </a:lnTo>
                  <a:cubicBezTo>
                    <a:pt x="639707" y="872967"/>
                    <a:pt x="617246" y="927194"/>
                    <a:pt x="577264" y="967175"/>
                  </a:cubicBezTo>
                  <a:cubicBezTo>
                    <a:pt x="537282" y="1007157"/>
                    <a:pt x="483055" y="1029619"/>
                    <a:pt x="426513" y="1029619"/>
                  </a:cubicBezTo>
                  <a:lnTo>
                    <a:pt x="213194" y="1029619"/>
                  </a:lnTo>
                  <a:cubicBezTo>
                    <a:pt x="156652" y="1029619"/>
                    <a:pt x="102425" y="1007157"/>
                    <a:pt x="62443" y="967175"/>
                  </a:cubicBezTo>
                  <a:cubicBezTo>
                    <a:pt x="22461" y="927194"/>
                    <a:pt x="0" y="872967"/>
                    <a:pt x="0" y="816424"/>
                  </a:cubicBezTo>
                  <a:lnTo>
                    <a:pt x="0" y="213194"/>
                  </a:lnTo>
                  <a:cubicBezTo>
                    <a:pt x="0" y="156652"/>
                    <a:pt x="22461" y="102425"/>
                    <a:pt x="62443" y="62443"/>
                  </a:cubicBezTo>
                  <a:cubicBezTo>
                    <a:pt x="102425" y="22461"/>
                    <a:pt x="156652" y="0"/>
                    <a:pt x="213194" y="0"/>
                  </a:cubicBezTo>
                  <a:close/>
                </a:path>
              </a:pathLst>
            </a:custGeom>
            <a:solidFill>
              <a:srgbClr val="FFFFFF"/>
            </a:solidFill>
            <a:ln w="19050" cap="rnd">
              <a:solidFill>
                <a:srgbClr val="000000"/>
              </a:solidFill>
              <a:prstDash val="solid"/>
              <a:round/>
            </a:ln>
          </p:spPr>
        </p:sp>
        <p:sp>
          <p:nvSpPr>
            <p:cNvPr id="14" name="TextBox 14"/>
            <p:cNvSpPr txBox="1"/>
            <p:nvPr/>
          </p:nvSpPr>
          <p:spPr>
            <a:xfrm>
              <a:off x="0" y="-28575"/>
              <a:ext cx="639707" cy="1058194"/>
            </a:xfrm>
            <a:prstGeom prst="rect">
              <a:avLst/>
            </a:prstGeom>
          </p:spPr>
          <p:txBody>
            <a:bodyPr lIns="22794" tIns="22794" rIns="22794" bIns="22794" rtlCol="0" anchor="ctr"/>
            <a:lstStyle/>
            <a:p>
              <a:pPr algn="ctr">
                <a:lnSpc>
                  <a:spcPts val="1256"/>
                </a:lnSpc>
                <a:spcBef>
                  <a:spcPct val="0"/>
                </a:spcBef>
              </a:pPr>
              <a:endParaRPr sz="1688"/>
            </a:p>
          </p:txBody>
        </p:sp>
      </p:grpSp>
      <p:grpSp>
        <p:nvGrpSpPr>
          <p:cNvPr id="15" name="Group 15"/>
          <p:cNvGrpSpPr/>
          <p:nvPr/>
        </p:nvGrpSpPr>
        <p:grpSpPr>
          <a:xfrm>
            <a:off x="3038201" y="2651324"/>
            <a:ext cx="1824809" cy="769076"/>
            <a:chOff x="0" y="-28575"/>
            <a:chExt cx="644210" cy="268878"/>
          </a:xfrm>
        </p:grpSpPr>
        <p:sp>
          <p:nvSpPr>
            <p:cNvPr id="16" name="Freeform 16"/>
            <p:cNvSpPr/>
            <p:nvPr/>
          </p:nvSpPr>
          <p:spPr>
            <a:xfrm>
              <a:off x="0" y="0"/>
              <a:ext cx="644210"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E3E5FF"/>
            </a:solidFill>
            <a:ln cap="rnd">
              <a:noFill/>
              <a:prstDash val="solid"/>
              <a:round/>
            </a:ln>
          </p:spPr>
        </p:sp>
        <p:sp>
          <p:nvSpPr>
            <p:cNvPr id="17" name="TextBox 17"/>
            <p:cNvSpPr txBox="1"/>
            <p:nvPr/>
          </p:nvSpPr>
          <p:spPr>
            <a:xfrm>
              <a:off x="0" y="-28575"/>
              <a:ext cx="639707" cy="268878"/>
            </a:xfrm>
            <a:prstGeom prst="rect">
              <a:avLst/>
            </a:prstGeom>
          </p:spPr>
          <p:txBody>
            <a:bodyPr lIns="22794" tIns="22794" rIns="22794" bIns="22794" rtlCol="0" anchor="ctr"/>
            <a:lstStyle/>
            <a:p>
              <a:pPr algn="ctr">
                <a:lnSpc>
                  <a:spcPts val="1294"/>
                </a:lnSpc>
                <a:spcBef>
                  <a:spcPct val="0"/>
                </a:spcBef>
              </a:pPr>
              <a:endParaRPr sz="1688"/>
            </a:p>
          </p:txBody>
        </p:sp>
      </p:grpSp>
      <p:grpSp>
        <p:nvGrpSpPr>
          <p:cNvPr id="19" name="Group 19"/>
          <p:cNvGrpSpPr/>
          <p:nvPr/>
        </p:nvGrpSpPr>
        <p:grpSpPr>
          <a:xfrm>
            <a:off x="5128480" y="3213955"/>
            <a:ext cx="1812054" cy="2945041"/>
            <a:chOff x="0" y="0"/>
            <a:chExt cx="639707" cy="1029619"/>
          </a:xfrm>
        </p:grpSpPr>
        <p:sp>
          <p:nvSpPr>
            <p:cNvPr id="20" name="Freeform 20"/>
            <p:cNvSpPr/>
            <p:nvPr/>
          </p:nvSpPr>
          <p:spPr>
            <a:xfrm>
              <a:off x="0" y="0"/>
              <a:ext cx="639707" cy="1029619"/>
            </a:xfrm>
            <a:custGeom>
              <a:avLst/>
              <a:gdLst/>
              <a:ahLst/>
              <a:cxnLst/>
              <a:rect l="l" t="t" r="r" b="b"/>
              <a:pathLst>
                <a:path w="639707" h="1029619">
                  <a:moveTo>
                    <a:pt x="213194" y="0"/>
                  </a:moveTo>
                  <a:lnTo>
                    <a:pt x="426513" y="0"/>
                  </a:lnTo>
                  <a:cubicBezTo>
                    <a:pt x="483055" y="0"/>
                    <a:pt x="537282" y="22461"/>
                    <a:pt x="577264" y="62443"/>
                  </a:cubicBezTo>
                  <a:cubicBezTo>
                    <a:pt x="617246" y="102425"/>
                    <a:pt x="639707" y="156652"/>
                    <a:pt x="639707" y="213194"/>
                  </a:cubicBezTo>
                  <a:lnTo>
                    <a:pt x="639707" y="816424"/>
                  </a:lnTo>
                  <a:cubicBezTo>
                    <a:pt x="639707" y="872967"/>
                    <a:pt x="617246" y="927194"/>
                    <a:pt x="577264" y="967175"/>
                  </a:cubicBezTo>
                  <a:cubicBezTo>
                    <a:pt x="537282" y="1007157"/>
                    <a:pt x="483055" y="1029619"/>
                    <a:pt x="426513" y="1029619"/>
                  </a:cubicBezTo>
                  <a:lnTo>
                    <a:pt x="213194" y="1029619"/>
                  </a:lnTo>
                  <a:cubicBezTo>
                    <a:pt x="156652" y="1029619"/>
                    <a:pt x="102425" y="1007157"/>
                    <a:pt x="62443" y="967175"/>
                  </a:cubicBezTo>
                  <a:cubicBezTo>
                    <a:pt x="22461" y="927194"/>
                    <a:pt x="0" y="872967"/>
                    <a:pt x="0" y="816424"/>
                  </a:cubicBezTo>
                  <a:lnTo>
                    <a:pt x="0" y="213194"/>
                  </a:lnTo>
                  <a:cubicBezTo>
                    <a:pt x="0" y="156652"/>
                    <a:pt x="22461" y="102425"/>
                    <a:pt x="62443" y="62443"/>
                  </a:cubicBezTo>
                  <a:cubicBezTo>
                    <a:pt x="102425" y="22461"/>
                    <a:pt x="156652" y="0"/>
                    <a:pt x="213194" y="0"/>
                  </a:cubicBezTo>
                  <a:close/>
                </a:path>
              </a:pathLst>
            </a:custGeom>
            <a:solidFill>
              <a:srgbClr val="FFFFFF"/>
            </a:solidFill>
            <a:ln w="19050" cap="rnd">
              <a:solidFill>
                <a:srgbClr val="000000"/>
              </a:solidFill>
              <a:prstDash val="solid"/>
              <a:round/>
            </a:ln>
          </p:spPr>
        </p:sp>
        <p:sp>
          <p:nvSpPr>
            <p:cNvPr id="21" name="TextBox 21"/>
            <p:cNvSpPr txBox="1"/>
            <p:nvPr/>
          </p:nvSpPr>
          <p:spPr>
            <a:xfrm>
              <a:off x="0" y="-28575"/>
              <a:ext cx="639707" cy="1058194"/>
            </a:xfrm>
            <a:prstGeom prst="rect">
              <a:avLst/>
            </a:prstGeom>
          </p:spPr>
          <p:txBody>
            <a:bodyPr lIns="22794" tIns="22794" rIns="22794" bIns="22794" rtlCol="0" anchor="ctr"/>
            <a:lstStyle/>
            <a:p>
              <a:pPr algn="ctr">
                <a:lnSpc>
                  <a:spcPts val="1256"/>
                </a:lnSpc>
                <a:spcBef>
                  <a:spcPct val="0"/>
                </a:spcBef>
              </a:pPr>
              <a:endParaRPr sz="1688"/>
            </a:p>
          </p:txBody>
        </p:sp>
      </p:grpSp>
      <p:grpSp>
        <p:nvGrpSpPr>
          <p:cNvPr id="22" name="Group 22"/>
          <p:cNvGrpSpPr/>
          <p:nvPr/>
        </p:nvGrpSpPr>
        <p:grpSpPr>
          <a:xfrm>
            <a:off x="5128480" y="2732501"/>
            <a:ext cx="1812054" cy="687343"/>
            <a:chOff x="0" y="0"/>
            <a:chExt cx="639707" cy="240303"/>
          </a:xfrm>
        </p:grpSpPr>
        <p:sp>
          <p:nvSpPr>
            <p:cNvPr id="23" name="Freeform 23"/>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D6F1E4"/>
            </a:solidFill>
            <a:ln cap="rnd">
              <a:noFill/>
              <a:prstDash val="solid"/>
              <a:round/>
            </a:ln>
          </p:spPr>
        </p:sp>
        <p:sp>
          <p:nvSpPr>
            <p:cNvPr id="24" name="TextBox 24"/>
            <p:cNvSpPr txBox="1"/>
            <p:nvPr/>
          </p:nvSpPr>
          <p:spPr>
            <a:xfrm>
              <a:off x="0" y="-28575"/>
              <a:ext cx="639707" cy="268878"/>
            </a:xfrm>
            <a:prstGeom prst="rect">
              <a:avLst/>
            </a:prstGeom>
          </p:spPr>
          <p:txBody>
            <a:bodyPr lIns="22794" tIns="22794" rIns="22794" bIns="22794" rtlCol="0" anchor="ctr"/>
            <a:lstStyle/>
            <a:p>
              <a:pPr algn="ctr">
                <a:lnSpc>
                  <a:spcPts val="1294"/>
                </a:lnSpc>
                <a:spcBef>
                  <a:spcPct val="0"/>
                </a:spcBef>
              </a:pPr>
              <a:endParaRPr sz="1688"/>
            </a:p>
          </p:txBody>
        </p:sp>
      </p:grpSp>
      <p:grpSp>
        <p:nvGrpSpPr>
          <p:cNvPr id="25" name="Group 25"/>
          <p:cNvGrpSpPr/>
          <p:nvPr/>
        </p:nvGrpSpPr>
        <p:grpSpPr>
          <a:xfrm>
            <a:off x="7241082" y="3214131"/>
            <a:ext cx="1812054" cy="2945041"/>
            <a:chOff x="0" y="0"/>
            <a:chExt cx="639707" cy="1029619"/>
          </a:xfrm>
        </p:grpSpPr>
        <p:sp>
          <p:nvSpPr>
            <p:cNvPr id="26" name="Freeform 26"/>
            <p:cNvSpPr/>
            <p:nvPr/>
          </p:nvSpPr>
          <p:spPr>
            <a:xfrm>
              <a:off x="0" y="0"/>
              <a:ext cx="639707" cy="1029619"/>
            </a:xfrm>
            <a:custGeom>
              <a:avLst/>
              <a:gdLst/>
              <a:ahLst/>
              <a:cxnLst/>
              <a:rect l="l" t="t" r="r" b="b"/>
              <a:pathLst>
                <a:path w="639707" h="1029619">
                  <a:moveTo>
                    <a:pt x="207121" y="0"/>
                  </a:moveTo>
                  <a:lnTo>
                    <a:pt x="432586" y="0"/>
                  </a:lnTo>
                  <a:cubicBezTo>
                    <a:pt x="546976" y="0"/>
                    <a:pt x="639707" y="92731"/>
                    <a:pt x="639707" y="207121"/>
                  </a:cubicBezTo>
                  <a:lnTo>
                    <a:pt x="639707" y="822498"/>
                  </a:lnTo>
                  <a:cubicBezTo>
                    <a:pt x="639707" y="936887"/>
                    <a:pt x="546976" y="1029619"/>
                    <a:pt x="432586" y="1029619"/>
                  </a:cubicBezTo>
                  <a:lnTo>
                    <a:pt x="207121" y="1029619"/>
                  </a:lnTo>
                  <a:cubicBezTo>
                    <a:pt x="92731" y="1029619"/>
                    <a:pt x="0" y="936887"/>
                    <a:pt x="0" y="822498"/>
                  </a:cubicBezTo>
                  <a:lnTo>
                    <a:pt x="0" y="207121"/>
                  </a:lnTo>
                  <a:cubicBezTo>
                    <a:pt x="0" y="92731"/>
                    <a:pt x="92731" y="0"/>
                    <a:pt x="207121" y="0"/>
                  </a:cubicBezTo>
                  <a:close/>
                </a:path>
              </a:pathLst>
            </a:custGeom>
            <a:solidFill>
              <a:srgbClr val="FFFFFF"/>
            </a:solidFill>
            <a:ln w="19050" cap="rnd">
              <a:solidFill>
                <a:srgbClr val="000000"/>
              </a:solidFill>
              <a:prstDash val="solid"/>
              <a:round/>
            </a:ln>
          </p:spPr>
        </p:sp>
        <p:sp>
          <p:nvSpPr>
            <p:cNvPr id="27" name="TextBox 27"/>
            <p:cNvSpPr txBox="1"/>
            <p:nvPr/>
          </p:nvSpPr>
          <p:spPr>
            <a:xfrm>
              <a:off x="0" y="-38100"/>
              <a:ext cx="639707" cy="1067719"/>
            </a:xfrm>
            <a:prstGeom prst="rect">
              <a:avLst/>
            </a:prstGeom>
          </p:spPr>
          <p:txBody>
            <a:bodyPr lIns="23462" tIns="23462" rIns="23462" bIns="23462" rtlCol="0" anchor="ctr"/>
            <a:lstStyle/>
            <a:p>
              <a:pPr algn="ctr">
                <a:lnSpc>
                  <a:spcPts val="1221"/>
                </a:lnSpc>
                <a:spcBef>
                  <a:spcPct val="0"/>
                </a:spcBef>
              </a:pPr>
              <a:endParaRPr sz="1688"/>
            </a:p>
          </p:txBody>
        </p:sp>
      </p:grpSp>
      <p:grpSp>
        <p:nvGrpSpPr>
          <p:cNvPr id="28" name="Group 28"/>
          <p:cNvGrpSpPr/>
          <p:nvPr/>
        </p:nvGrpSpPr>
        <p:grpSpPr>
          <a:xfrm>
            <a:off x="7241082" y="2732674"/>
            <a:ext cx="1812054" cy="687343"/>
            <a:chOff x="0" y="0"/>
            <a:chExt cx="639707" cy="240303"/>
          </a:xfrm>
        </p:grpSpPr>
        <p:sp>
          <p:nvSpPr>
            <p:cNvPr id="29" name="Freeform 29"/>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FFECC1"/>
            </a:solidFill>
            <a:ln cap="rnd">
              <a:noFill/>
              <a:prstDash val="solid"/>
              <a:round/>
            </a:ln>
          </p:spPr>
        </p:sp>
        <p:sp>
          <p:nvSpPr>
            <p:cNvPr id="30" name="TextBox 30"/>
            <p:cNvSpPr txBox="1"/>
            <p:nvPr/>
          </p:nvSpPr>
          <p:spPr>
            <a:xfrm>
              <a:off x="0" y="-28575"/>
              <a:ext cx="639707" cy="268878"/>
            </a:xfrm>
            <a:prstGeom prst="rect">
              <a:avLst/>
            </a:prstGeom>
          </p:spPr>
          <p:txBody>
            <a:bodyPr lIns="23462" tIns="23462" rIns="23462" bIns="23462" rtlCol="0" anchor="ctr"/>
            <a:lstStyle/>
            <a:p>
              <a:pPr algn="ctr">
                <a:lnSpc>
                  <a:spcPts val="1294"/>
                </a:lnSpc>
                <a:spcBef>
                  <a:spcPct val="0"/>
                </a:spcBef>
              </a:pPr>
              <a:endParaRPr sz="1688"/>
            </a:p>
          </p:txBody>
        </p:sp>
      </p:grpSp>
      <p:grpSp>
        <p:nvGrpSpPr>
          <p:cNvPr id="31" name="Group 31"/>
          <p:cNvGrpSpPr/>
          <p:nvPr/>
        </p:nvGrpSpPr>
        <p:grpSpPr>
          <a:xfrm>
            <a:off x="9361712" y="3213955"/>
            <a:ext cx="1812054" cy="2945041"/>
            <a:chOff x="0" y="0"/>
            <a:chExt cx="639707" cy="1029619"/>
          </a:xfrm>
        </p:grpSpPr>
        <p:sp>
          <p:nvSpPr>
            <p:cNvPr id="32" name="Freeform 32"/>
            <p:cNvSpPr/>
            <p:nvPr/>
          </p:nvSpPr>
          <p:spPr>
            <a:xfrm>
              <a:off x="0" y="0"/>
              <a:ext cx="639707" cy="1029619"/>
            </a:xfrm>
            <a:custGeom>
              <a:avLst/>
              <a:gdLst/>
              <a:ahLst/>
              <a:cxnLst/>
              <a:rect l="l" t="t" r="r" b="b"/>
              <a:pathLst>
                <a:path w="639707" h="1029619">
                  <a:moveTo>
                    <a:pt x="207121" y="0"/>
                  </a:moveTo>
                  <a:lnTo>
                    <a:pt x="432586" y="0"/>
                  </a:lnTo>
                  <a:cubicBezTo>
                    <a:pt x="546976" y="0"/>
                    <a:pt x="639707" y="92731"/>
                    <a:pt x="639707" y="207121"/>
                  </a:cubicBezTo>
                  <a:lnTo>
                    <a:pt x="639707" y="822498"/>
                  </a:lnTo>
                  <a:cubicBezTo>
                    <a:pt x="639707" y="936887"/>
                    <a:pt x="546976" y="1029619"/>
                    <a:pt x="432586" y="1029619"/>
                  </a:cubicBezTo>
                  <a:lnTo>
                    <a:pt x="207121" y="1029619"/>
                  </a:lnTo>
                  <a:cubicBezTo>
                    <a:pt x="92731" y="1029619"/>
                    <a:pt x="0" y="936887"/>
                    <a:pt x="0" y="822498"/>
                  </a:cubicBezTo>
                  <a:lnTo>
                    <a:pt x="0" y="207121"/>
                  </a:lnTo>
                  <a:cubicBezTo>
                    <a:pt x="0" y="92731"/>
                    <a:pt x="92731" y="0"/>
                    <a:pt x="207121" y="0"/>
                  </a:cubicBezTo>
                  <a:close/>
                </a:path>
              </a:pathLst>
            </a:custGeom>
            <a:solidFill>
              <a:srgbClr val="FFFFFF"/>
            </a:solidFill>
            <a:ln w="19050" cap="rnd">
              <a:solidFill>
                <a:srgbClr val="000000"/>
              </a:solidFill>
              <a:prstDash val="solid"/>
              <a:round/>
            </a:ln>
          </p:spPr>
        </p:sp>
        <p:sp>
          <p:nvSpPr>
            <p:cNvPr id="33" name="TextBox 33"/>
            <p:cNvSpPr txBox="1"/>
            <p:nvPr/>
          </p:nvSpPr>
          <p:spPr>
            <a:xfrm>
              <a:off x="0" y="-28575"/>
              <a:ext cx="639707" cy="1058194"/>
            </a:xfrm>
            <a:prstGeom prst="rect">
              <a:avLst/>
            </a:prstGeom>
          </p:spPr>
          <p:txBody>
            <a:bodyPr lIns="23462" tIns="23462" rIns="23462" bIns="23462" rtlCol="0" anchor="ctr"/>
            <a:lstStyle/>
            <a:p>
              <a:pPr algn="ctr">
                <a:lnSpc>
                  <a:spcPts val="1256"/>
                </a:lnSpc>
                <a:spcBef>
                  <a:spcPct val="0"/>
                </a:spcBef>
              </a:pPr>
              <a:endParaRPr sz="1688"/>
            </a:p>
          </p:txBody>
        </p:sp>
      </p:grpSp>
      <p:grpSp>
        <p:nvGrpSpPr>
          <p:cNvPr id="34" name="Group 34"/>
          <p:cNvGrpSpPr/>
          <p:nvPr/>
        </p:nvGrpSpPr>
        <p:grpSpPr>
          <a:xfrm>
            <a:off x="9361712" y="2732501"/>
            <a:ext cx="1812054" cy="687343"/>
            <a:chOff x="0" y="0"/>
            <a:chExt cx="639707" cy="240303"/>
          </a:xfrm>
        </p:grpSpPr>
        <p:sp>
          <p:nvSpPr>
            <p:cNvPr id="35" name="Freeform 35"/>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FFD9B6"/>
            </a:solidFill>
            <a:ln cap="rnd">
              <a:noFill/>
              <a:prstDash val="solid"/>
              <a:round/>
            </a:ln>
          </p:spPr>
        </p:sp>
        <p:sp>
          <p:nvSpPr>
            <p:cNvPr id="36" name="TextBox 36"/>
            <p:cNvSpPr txBox="1"/>
            <p:nvPr/>
          </p:nvSpPr>
          <p:spPr>
            <a:xfrm>
              <a:off x="0" y="-28575"/>
              <a:ext cx="639707" cy="268878"/>
            </a:xfrm>
            <a:prstGeom prst="rect">
              <a:avLst/>
            </a:prstGeom>
          </p:spPr>
          <p:txBody>
            <a:bodyPr lIns="23462" tIns="23462" rIns="23462" bIns="23462" rtlCol="0" anchor="ctr"/>
            <a:lstStyle/>
            <a:p>
              <a:pPr algn="ctr">
                <a:lnSpc>
                  <a:spcPts val="1294"/>
                </a:lnSpc>
                <a:spcBef>
                  <a:spcPct val="0"/>
                </a:spcBef>
              </a:pPr>
              <a:endParaRPr sz="1688"/>
            </a:p>
          </p:txBody>
        </p:sp>
      </p:grpSp>
      <p:sp>
        <p:nvSpPr>
          <p:cNvPr id="37" name="AutoShape 37"/>
          <p:cNvSpPr/>
          <p:nvPr/>
        </p:nvSpPr>
        <p:spPr>
          <a:xfrm flipH="1">
            <a:off x="1779288" y="2024740"/>
            <a:ext cx="8488453" cy="0"/>
          </a:xfrm>
          <a:prstGeom prst="line">
            <a:avLst/>
          </a:prstGeom>
          <a:ln w="19050" cap="flat">
            <a:solidFill>
              <a:srgbClr val="000000"/>
            </a:solidFill>
            <a:prstDash val="solid"/>
            <a:headEnd type="none" w="sm" len="sm"/>
            <a:tailEnd type="none" w="sm" len="sm"/>
          </a:ln>
        </p:spPr>
      </p:sp>
      <p:sp>
        <p:nvSpPr>
          <p:cNvPr id="38" name="AutoShape 38"/>
          <p:cNvSpPr/>
          <p:nvPr/>
        </p:nvSpPr>
        <p:spPr>
          <a:xfrm>
            <a:off x="1779288" y="2024739"/>
            <a:ext cx="10995" cy="708404"/>
          </a:xfrm>
          <a:prstGeom prst="line">
            <a:avLst/>
          </a:prstGeom>
          <a:ln w="19050" cap="flat">
            <a:solidFill>
              <a:srgbClr val="000000"/>
            </a:solidFill>
            <a:prstDash val="solid"/>
            <a:headEnd type="none" w="sm" len="sm"/>
            <a:tailEnd type="oval" w="lg" len="lg"/>
          </a:ln>
        </p:spPr>
      </p:sp>
      <p:sp>
        <p:nvSpPr>
          <p:cNvPr id="39" name="AutoShape 39"/>
          <p:cNvSpPr/>
          <p:nvPr/>
        </p:nvSpPr>
        <p:spPr>
          <a:xfrm>
            <a:off x="3938733" y="2024740"/>
            <a:ext cx="5495" cy="708316"/>
          </a:xfrm>
          <a:prstGeom prst="line">
            <a:avLst/>
          </a:prstGeom>
          <a:ln w="19050" cap="flat">
            <a:solidFill>
              <a:srgbClr val="000000"/>
            </a:solidFill>
            <a:prstDash val="solid"/>
            <a:headEnd type="none" w="sm" len="sm"/>
            <a:tailEnd type="oval" w="lg" len="lg"/>
          </a:ln>
        </p:spPr>
      </p:sp>
      <p:sp>
        <p:nvSpPr>
          <p:cNvPr id="40" name="AutoShape 40"/>
          <p:cNvSpPr/>
          <p:nvPr/>
        </p:nvSpPr>
        <p:spPr>
          <a:xfrm>
            <a:off x="6018001" y="1532301"/>
            <a:ext cx="16507" cy="1200200"/>
          </a:xfrm>
          <a:prstGeom prst="line">
            <a:avLst/>
          </a:prstGeom>
          <a:ln w="19050" cap="flat">
            <a:solidFill>
              <a:srgbClr val="000000"/>
            </a:solidFill>
            <a:prstDash val="solid"/>
            <a:headEnd type="oval" w="lg" len="lg"/>
            <a:tailEnd type="oval" w="lg" len="lg"/>
          </a:ln>
        </p:spPr>
      </p:sp>
      <p:sp>
        <p:nvSpPr>
          <p:cNvPr id="41" name="AutoShape 41"/>
          <p:cNvSpPr/>
          <p:nvPr/>
        </p:nvSpPr>
        <p:spPr>
          <a:xfrm>
            <a:off x="8136115" y="2024739"/>
            <a:ext cx="10993" cy="707936"/>
          </a:xfrm>
          <a:prstGeom prst="line">
            <a:avLst/>
          </a:prstGeom>
          <a:ln w="19050" cap="flat">
            <a:solidFill>
              <a:srgbClr val="000000"/>
            </a:solidFill>
            <a:prstDash val="solid"/>
            <a:headEnd type="none" w="sm" len="sm"/>
            <a:tailEnd type="oval" w="lg" len="lg"/>
          </a:ln>
        </p:spPr>
      </p:sp>
      <p:sp>
        <p:nvSpPr>
          <p:cNvPr id="42" name="AutoShape 42"/>
          <p:cNvSpPr/>
          <p:nvPr/>
        </p:nvSpPr>
        <p:spPr>
          <a:xfrm>
            <a:off x="10256746" y="2024740"/>
            <a:ext cx="10995" cy="707760"/>
          </a:xfrm>
          <a:prstGeom prst="line">
            <a:avLst/>
          </a:prstGeom>
          <a:ln w="19050" cap="flat">
            <a:solidFill>
              <a:srgbClr val="000000"/>
            </a:solidFill>
            <a:prstDash val="solid"/>
            <a:headEnd type="none" w="sm" len="sm"/>
            <a:tailEnd type="oval" w="lg" len="lg"/>
          </a:ln>
        </p:spPr>
      </p:sp>
      <p:sp>
        <p:nvSpPr>
          <p:cNvPr id="43" name="TextBox 43"/>
          <p:cNvSpPr txBox="1"/>
          <p:nvPr/>
        </p:nvSpPr>
        <p:spPr>
          <a:xfrm>
            <a:off x="1108377" y="3018903"/>
            <a:ext cx="1363807" cy="205183"/>
          </a:xfrm>
          <a:prstGeom prst="rect">
            <a:avLst/>
          </a:prstGeom>
        </p:spPr>
        <p:txBody>
          <a:bodyPr lIns="0" tIns="0" rIns="0" bIns="0" rtlCol="0" anchor="t">
            <a:spAutoFit/>
          </a:bodyPr>
          <a:lstStyle/>
          <a:p>
            <a:pPr algn="ctr">
              <a:lnSpc>
                <a:spcPts val="1622"/>
              </a:lnSpc>
            </a:pPr>
            <a:r>
              <a:rPr lang="en-US" sz="1400" spc="35" dirty="0">
                <a:solidFill>
                  <a:srgbClr val="000000"/>
                </a:solidFill>
                <a:latin typeface="Aptos" panose="020B0004020202020204" pitchFamily="34" charset="0"/>
                <a:ea typeface="More Sugar"/>
                <a:cs typeface="More Sugar"/>
                <a:sym typeface="More Sugar"/>
              </a:rPr>
              <a:t>DATA CLEANING</a:t>
            </a:r>
          </a:p>
        </p:txBody>
      </p:sp>
      <p:sp>
        <p:nvSpPr>
          <p:cNvPr id="44" name="TextBox 44"/>
          <p:cNvSpPr txBox="1"/>
          <p:nvPr/>
        </p:nvSpPr>
        <p:spPr>
          <a:xfrm>
            <a:off x="3827634" y="785944"/>
            <a:ext cx="4472210" cy="500137"/>
          </a:xfrm>
          <a:prstGeom prst="rect">
            <a:avLst/>
          </a:prstGeom>
        </p:spPr>
        <p:txBody>
          <a:bodyPr lIns="0" tIns="0" rIns="0" bIns="0" rtlCol="0" anchor="t">
            <a:spAutoFit/>
          </a:bodyPr>
          <a:lstStyle/>
          <a:p>
            <a:pPr algn="ctr">
              <a:lnSpc>
                <a:spcPts val="3860"/>
              </a:lnSpc>
              <a:spcBef>
                <a:spcPct val="0"/>
              </a:spcBef>
            </a:pPr>
            <a:r>
              <a:rPr lang="en-US" sz="3600" b="1" dirty="0">
                <a:solidFill>
                  <a:srgbClr val="404040"/>
                </a:solidFill>
                <a:latin typeface="Public Sans Bold"/>
                <a:sym typeface="More Sugar"/>
              </a:rPr>
              <a:t>Data Preprocessing </a:t>
            </a:r>
          </a:p>
        </p:txBody>
      </p:sp>
      <p:sp>
        <p:nvSpPr>
          <p:cNvPr id="45" name="TextBox 45"/>
          <p:cNvSpPr txBox="1"/>
          <p:nvPr/>
        </p:nvSpPr>
        <p:spPr>
          <a:xfrm>
            <a:off x="7498274" y="3912673"/>
            <a:ext cx="1459108" cy="1753493"/>
          </a:xfrm>
          <a:prstGeom prst="rect">
            <a:avLst/>
          </a:prstGeom>
        </p:spPr>
        <p:txBody>
          <a:bodyPr wrap="square" lIns="0" tIns="0" rIns="0" bIns="0" rtlCol="0" anchor="t">
            <a:spAutoFit/>
          </a:bodyPr>
          <a:lstStyle/>
          <a:p>
            <a:pPr algn="ctr">
              <a:lnSpc>
                <a:spcPts val="1745"/>
              </a:lnSpc>
            </a:pPr>
            <a:r>
              <a:rPr lang="en-US" spc="-11" dirty="0">
                <a:solidFill>
                  <a:srgbClr val="000000"/>
                </a:solidFill>
                <a:latin typeface="Aptos" panose="020B0004020202020204" pitchFamily="34" charset="0"/>
                <a:sym typeface="More Sugar Thin"/>
              </a:rPr>
              <a:t>Convert text-based data into numerical form, making it suitable for machine learning algorithms.</a:t>
            </a:r>
          </a:p>
        </p:txBody>
      </p:sp>
      <p:sp>
        <p:nvSpPr>
          <p:cNvPr id="46" name="TextBox 46"/>
          <p:cNvSpPr txBox="1"/>
          <p:nvPr/>
        </p:nvSpPr>
        <p:spPr>
          <a:xfrm>
            <a:off x="5265336" y="3912673"/>
            <a:ext cx="1497408" cy="1753493"/>
          </a:xfrm>
          <a:prstGeom prst="rect">
            <a:avLst/>
          </a:prstGeom>
        </p:spPr>
        <p:txBody>
          <a:bodyPr wrap="square" lIns="0" tIns="0" rIns="0" bIns="0" rtlCol="0" anchor="t">
            <a:spAutoFit/>
          </a:bodyPr>
          <a:lstStyle/>
          <a:p>
            <a:pPr algn="ctr">
              <a:lnSpc>
                <a:spcPts val="1745"/>
              </a:lnSpc>
            </a:pPr>
            <a:r>
              <a:rPr lang="en-US" spc="-11" dirty="0">
                <a:solidFill>
                  <a:srgbClr val="000000"/>
                </a:solidFill>
                <a:latin typeface="Aptos" panose="020B0004020202020204" pitchFamily="34" charset="0"/>
                <a:sym typeface="More Sugar Thin"/>
              </a:rPr>
              <a:t>Create new, relevant features or modify existing ones to enhance model predictions.</a:t>
            </a:r>
          </a:p>
        </p:txBody>
      </p:sp>
      <p:sp>
        <p:nvSpPr>
          <p:cNvPr id="47" name="TextBox 47"/>
          <p:cNvSpPr txBox="1"/>
          <p:nvPr/>
        </p:nvSpPr>
        <p:spPr>
          <a:xfrm>
            <a:off x="3144218" y="3912671"/>
            <a:ext cx="1589030" cy="1753493"/>
          </a:xfrm>
          <a:prstGeom prst="rect">
            <a:avLst/>
          </a:prstGeom>
        </p:spPr>
        <p:txBody>
          <a:bodyPr wrap="square" lIns="0" tIns="0" rIns="0" bIns="0" rtlCol="0" anchor="t">
            <a:spAutoFit/>
          </a:bodyPr>
          <a:lstStyle/>
          <a:p>
            <a:pPr algn="ctr">
              <a:lnSpc>
                <a:spcPts val="1745"/>
              </a:lnSpc>
            </a:pPr>
            <a:r>
              <a:rPr lang="en-US" spc="-11" dirty="0">
                <a:solidFill>
                  <a:srgbClr val="000000"/>
                </a:solidFill>
                <a:latin typeface="Aptos" panose="020B0004020202020204" pitchFamily="34" charset="0"/>
                <a:sym typeface="More Sugar Thin"/>
              </a:rPr>
              <a:t>Scale numerical data to a uniform range, improving model performance and training speed.</a:t>
            </a:r>
          </a:p>
        </p:txBody>
      </p:sp>
      <p:sp>
        <p:nvSpPr>
          <p:cNvPr id="48" name="TextBox 48"/>
          <p:cNvSpPr txBox="1"/>
          <p:nvPr/>
        </p:nvSpPr>
        <p:spPr>
          <a:xfrm>
            <a:off x="1053592" y="3918732"/>
            <a:ext cx="1473376" cy="1535485"/>
          </a:xfrm>
          <a:prstGeom prst="rect">
            <a:avLst/>
          </a:prstGeom>
        </p:spPr>
        <p:txBody>
          <a:bodyPr wrap="square" lIns="0" tIns="0" rIns="0" bIns="0" rtlCol="0" anchor="t">
            <a:spAutoFit/>
          </a:bodyPr>
          <a:lstStyle/>
          <a:p>
            <a:pPr algn="ctr">
              <a:lnSpc>
                <a:spcPts val="1745"/>
              </a:lnSpc>
            </a:pPr>
            <a:r>
              <a:rPr lang="en-US" spc="-11" dirty="0">
                <a:solidFill>
                  <a:srgbClr val="000000"/>
                </a:solidFill>
                <a:latin typeface="Aptos" panose="020B0004020202020204" pitchFamily="34" charset="0"/>
                <a:ea typeface="More Sugar"/>
                <a:cs typeface="More Sugar"/>
                <a:sym typeface="More Sugar"/>
              </a:rPr>
              <a:t>Remove or handle missing values and duplicates to ensure data accuracy and consistency</a:t>
            </a:r>
          </a:p>
        </p:txBody>
      </p:sp>
      <p:sp>
        <p:nvSpPr>
          <p:cNvPr id="49" name="TextBox 49"/>
          <p:cNvSpPr txBox="1"/>
          <p:nvPr/>
        </p:nvSpPr>
        <p:spPr>
          <a:xfrm>
            <a:off x="9555418" y="3912673"/>
            <a:ext cx="1402656" cy="1971502"/>
          </a:xfrm>
          <a:prstGeom prst="rect">
            <a:avLst/>
          </a:prstGeom>
        </p:spPr>
        <p:txBody>
          <a:bodyPr lIns="0" tIns="0" rIns="0" bIns="0" rtlCol="0" anchor="t">
            <a:spAutoFit/>
          </a:bodyPr>
          <a:lstStyle/>
          <a:p>
            <a:pPr algn="ctr">
              <a:lnSpc>
                <a:spcPts val="1745"/>
              </a:lnSpc>
            </a:pPr>
            <a:r>
              <a:rPr lang="en-US" dirty="0"/>
              <a:t>For image-based models like CNNs, we resize, normalize, and augment images to prepare them for training.</a:t>
            </a:r>
            <a:endParaRPr lang="en-US" spc="-11" dirty="0">
              <a:solidFill>
                <a:srgbClr val="000000"/>
              </a:solidFill>
              <a:latin typeface="Aptos" panose="020B0004020202020204" pitchFamily="34" charset="0"/>
              <a:sym typeface="More Sugar Thin"/>
            </a:endParaRPr>
          </a:p>
        </p:txBody>
      </p:sp>
      <p:sp>
        <p:nvSpPr>
          <p:cNvPr id="50" name="TextBox 50"/>
          <p:cNvSpPr txBox="1"/>
          <p:nvPr/>
        </p:nvSpPr>
        <p:spPr>
          <a:xfrm>
            <a:off x="3133695" y="2870986"/>
            <a:ext cx="1712701" cy="410369"/>
          </a:xfrm>
          <a:prstGeom prst="rect">
            <a:avLst/>
          </a:prstGeom>
        </p:spPr>
        <p:txBody>
          <a:bodyPr lIns="0" tIns="0" rIns="0" bIns="0" rtlCol="0" anchor="t">
            <a:spAutoFit/>
          </a:bodyPr>
          <a:lstStyle/>
          <a:p>
            <a:pPr algn="ctr">
              <a:lnSpc>
                <a:spcPts val="1622"/>
              </a:lnSpc>
              <a:spcBef>
                <a:spcPct val="0"/>
              </a:spcBef>
            </a:pPr>
            <a:r>
              <a:rPr lang="en-US" sz="1400" spc="35" dirty="0">
                <a:solidFill>
                  <a:srgbClr val="000000"/>
                </a:solidFill>
                <a:latin typeface="Aptos" panose="020B0004020202020204" pitchFamily="34" charset="0"/>
                <a:sym typeface="More Sugar"/>
              </a:rPr>
              <a:t>DATA NORMALIZATION</a:t>
            </a:r>
          </a:p>
        </p:txBody>
      </p:sp>
      <p:sp>
        <p:nvSpPr>
          <p:cNvPr id="51" name="TextBox 51"/>
          <p:cNvSpPr txBox="1"/>
          <p:nvPr/>
        </p:nvSpPr>
        <p:spPr>
          <a:xfrm>
            <a:off x="5379513" y="2856280"/>
            <a:ext cx="1363807" cy="410369"/>
          </a:xfrm>
          <a:prstGeom prst="rect">
            <a:avLst/>
          </a:prstGeom>
        </p:spPr>
        <p:txBody>
          <a:bodyPr lIns="0" tIns="0" rIns="0" bIns="0" rtlCol="0" anchor="t">
            <a:spAutoFit/>
          </a:bodyPr>
          <a:lstStyle/>
          <a:p>
            <a:pPr algn="ctr">
              <a:lnSpc>
                <a:spcPts val="1622"/>
              </a:lnSpc>
              <a:spcBef>
                <a:spcPct val="0"/>
              </a:spcBef>
            </a:pPr>
            <a:r>
              <a:rPr lang="en-US" sz="1400" spc="35" dirty="0">
                <a:solidFill>
                  <a:srgbClr val="000000"/>
                </a:solidFill>
                <a:latin typeface="Aptos" panose="020B0004020202020204" pitchFamily="34" charset="0"/>
                <a:sym typeface="More Sugar"/>
              </a:rPr>
              <a:t>FEATURE ENGINEERING</a:t>
            </a:r>
          </a:p>
        </p:txBody>
      </p:sp>
      <p:sp>
        <p:nvSpPr>
          <p:cNvPr id="52" name="TextBox 52"/>
          <p:cNvSpPr txBox="1"/>
          <p:nvPr/>
        </p:nvSpPr>
        <p:spPr>
          <a:xfrm>
            <a:off x="7303456" y="2928300"/>
            <a:ext cx="1703302" cy="386388"/>
          </a:xfrm>
          <a:prstGeom prst="rect">
            <a:avLst/>
          </a:prstGeom>
        </p:spPr>
        <p:txBody>
          <a:bodyPr lIns="0" tIns="0" rIns="0" bIns="0" rtlCol="0" anchor="t">
            <a:spAutoFit/>
          </a:bodyPr>
          <a:lstStyle/>
          <a:p>
            <a:pPr algn="ctr">
              <a:lnSpc>
                <a:spcPts val="1491"/>
              </a:lnSpc>
              <a:spcBef>
                <a:spcPct val="0"/>
              </a:spcBef>
            </a:pPr>
            <a:r>
              <a:rPr lang="en-US" sz="1400" spc="35" dirty="0">
                <a:solidFill>
                  <a:srgbClr val="000000"/>
                </a:solidFill>
                <a:latin typeface="Aptos" panose="020B0004020202020204" pitchFamily="34" charset="0"/>
                <a:sym typeface="More Sugar"/>
              </a:rPr>
              <a:t>ENCODING CATEGORICAL DATA</a:t>
            </a:r>
          </a:p>
        </p:txBody>
      </p:sp>
      <p:sp>
        <p:nvSpPr>
          <p:cNvPr id="53" name="TextBox 53"/>
          <p:cNvSpPr txBox="1"/>
          <p:nvPr/>
        </p:nvSpPr>
        <p:spPr>
          <a:xfrm>
            <a:off x="9594109" y="2872005"/>
            <a:ext cx="1489514" cy="386388"/>
          </a:xfrm>
          <a:prstGeom prst="rect">
            <a:avLst/>
          </a:prstGeom>
        </p:spPr>
        <p:txBody>
          <a:bodyPr lIns="0" tIns="0" rIns="0" bIns="0" rtlCol="0" anchor="t">
            <a:spAutoFit/>
          </a:bodyPr>
          <a:lstStyle/>
          <a:p>
            <a:pPr algn="ctr">
              <a:lnSpc>
                <a:spcPts val="1491"/>
              </a:lnSpc>
              <a:spcBef>
                <a:spcPct val="0"/>
              </a:spcBef>
            </a:pPr>
            <a:r>
              <a:rPr lang="en-US" sz="1400" spc="35" dirty="0">
                <a:solidFill>
                  <a:srgbClr val="000000"/>
                </a:solidFill>
                <a:latin typeface="Aptos" panose="020B0004020202020204" pitchFamily="34" charset="0"/>
                <a:sym typeface="More Sugar"/>
              </a:rPr>
              <a:t>IMAGE PREPROCESSING</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outVertical)">
                                      <p:cBhvr>
                                        <p:cTn id="7" dur="500"/>
                                        <p:tgtEl>
                                          <p:spTgt spid="38"/>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barn(outVertical)">
                                      <p:cBhvr>
                                        <p:cTn id="10" dur="500"/>
                                        <p:tgtEl>
                                          <p:spTgt spid="43"/>
                                        </p:tgtEl>
                                      </p:cBhvr>
                                    </p:animEffect>
                                  </p:childTnLst>
                                </p:cTn>
                              </p:par>
                              <p:par>
                                <p:cTn id="11" presetID="16" presetClass="entr" presetSubtype="37"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outVertical)">
                                      <p:cBhvr>
                                        <p:cTn id="13" dur="500"/>
                                        <p:tgtEl>
                                          <p:spTgt spid="5"/>
                                        </p:tgtEl>
                                      </p:cBhvr>
                                    </p:animEffect>
                                  </p:childTnLst>
                                </p:cTn>
                              </p:par>
                              <p:par>
                                <p:cTn id="14" presetID="16" presetClass="entr" presetSubtype="37"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outVertical)">
                                      <p:cBhvr>
                                        <p:cTn id="16" dur="5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barn(outVertical)">
                                      <p:cBhvr>
                                        <p:cTn id="19" dur="500"/>
                                        <p:tgtEl>
                                          <p:spTgt spid="48"/>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37" fill="hold" grpId="0" nodeType="click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barn(outVertical)">
                                      <p:cBhvr>
                                        <p:cTn id="24" dur="500"/>
                                        <p:tgtEl>
                                          <p:spTgt spid="50"/>
                                        </p:tgtEl>
                                      </p:cBhvr>
                                    </p:animEffect>
                                  </p:childTnLst>
                                </p:cTn>
                              </p:par>
                              <p:par>
                                <p:cTn id="25" presetID="16" presetClass="entr" presetSubtype="37"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barn(outVertical)">
                                      <p:cBhvr>
                                        <p:cTn id="27" dur="500"/>
                                        <p:tgtEl>
                                          <p:spTgt spid="15"/>
                                        </p:tgtEl>
                                      </p:cBhvr>
                                    </p:animEffect>
                                  </p:childTnLst>
                                </p:cTn>
                              </p:par>
                              <p:par>
                                <p:cTn id="28" presetID="16" presetClass="entr" presetSubtype="37"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outVertical)">
                                      <p:cBhvr>
                                        <p:cTn id="30" dur="500"/>
                                        <p:tgtEl>
                                          <p:spTgt spid="12"/>
                                        </p:tgtEl>
                                      </p:cBhvr>
                                    </p:animEffect>
                                  </p:childTnLst>
                                </p:cTn>
                              </p:par>
                              <p:par>
                                <p:cTn id="31" presetID="16" presetClass="entr" presetSubtype="37"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Effect transition="in" filter="barn(outVertical)">
                                      <p:cBhvr>
                                        <p:cTn id="33" dur="500"/>
                                        <p:tgtEl>
                                          <p:spTgt spid="47"/>
                                        </p:tgtEl>
                                      </p:cBhvr>
                                    </p:animEffect>
                                  </p:childTnLst>
                                </p:cTn>
                              </p:par>
                              <p:par>
                                <p:cTn id="34" presetID="16" presetClass="entr" presetSubtype="37" fill="hold"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barn(outVertical)">
                                      <p:cBhvr>
                                        <p:cTn id="36" dur="500"/>
                                        <p:tgtEl>
                                          <p:spTgt spid="39"/>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barn(outVertical)">
                                      <p:cBhvr>
                                        <p:cTn id="41" dur="500"/>
                                        <p:tgtEl>
                                          <p:spTgt spid="51"/>
                                        </p:tgtEl>
                                      </p:cBhvr>
                                    </p:animEffect>
                                  </p:childTnLst>
                                </p:cTn>
                              </p:par>
                              <p:par>
                                <p:cTn id="42" presetID="16" presetClass="entr" presetSubtype="37"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barn(outVertical)">
                                      <p:cBhvr>
                                        <p:cTn id="44" dur="500"/>
                                        <p:tgtEl>
                                          <p:spTgt spid="22"/>
                                        </p:tgtEl>
                                      </p:cBhvr>
                                    </p:animEffect>
                                  </p:childTnLst>
                                </p:cTn>
                              </p:par>
                              <p:par>
                                <p:cTn id="45" presetID="16" presetClass="entr" presetSubtype="37"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barn(outVertical)">
                                      <p:cBhvr>
                                        <p:cTn id="47" dur="500"/>
                                        <p:tgtEl>
                                          <p:spTgt spid="40"/>
                                        </p:tgtEl>
                                      </p:cBhvr>
                                    </p:animEffect>
                                  </p:childTnLst>
                                </p:cTn>
                              </p:par>
                              <p:par>
                                <p:cTn id="48" presetID="16" presetClass="entr" presetSubtype="37"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barn(outVertical)">
                                      <p:cBhvr>
                                        <p:cTn id="50" dur="500"/>
                                        <p:tgtEl>
                                          <p:spTgt spid="46"/>
                                        </p:tgtEl>
                                      </p:cBhvr>
                                    </p:animEffect>
                                  </p:childTnLst>
                                </p:cTn>
                              </p:par>
                              <p:par>
                                <p:cTn id="51" presetID="16" presetClass="entr" presetSubtype="37"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barn(outVertical)">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37" fill="hold" grpId="0" nodeType="click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barn(outVertical)">
                                      <p:cBhvr>
                                        <p:cTn id="58" dur="500"/>
                                        <p:tgtEl>
                                          <p:spTgt spid="52"/>
                                        </p:tgtEl>
                                      </p:cBhvr>
                                    </p:animEffect>
                                  </p:childTnLst>
                                </p:cTn>
                              </p:par>
                              <p:par>
                                <p:cTn id="59" presetID="16" presetClass="entr" presetSubtype="37"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barn(outVertical)">
                                      <p:cBhvr>
                                        <p:cTn id="61" dur="500"/>
                                        <p:tgtEl>
                                          <p:spTgt spid="28"/>
                                        </p:tgtEl>
                                      </p:cBhvr>
                                    </p:animEffect>
                                  </p:childTnLst>
                                </p:cTn>
                              </p:par>
                              <p:par>
                                <p:cTn id="62" presetID="16" presetClass="entr" presetSubtype="37" fill="hold" nodeType="with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barn(outVertical)">
                                      <p:cBhvr>
                                        <p:cTn id="64" dur="500"/>
                                        <p:tgtEl>
                                          <p:spTgt spid="41"/>
                                        </p:tgtEl>
                                      </p:cBhvr>
                                    </p:animEffect>
                                  </p:childTnLst>
                                </p:cTn>
                              </p:par>
                              <p:par>
                                <p:cTn id="65" presetID="16" presetClass="entr" presetSubtype="37"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barn(outVertical)">
                                      <p:cBhvr>
                                        <p:cTn id="67" dur="500"/>
                                        <p:tgtEl>
                                          <p:spTgt spid="25"/>
                                        </p:tgtEl>
                                      </p:cBhvr>
                                    </p:animEffect>
                                  </p:childTnLst>
                                </p:cTn>
                              </p:par>
                              <p:par>
                                <p:cTn id="68" presetID="16" presetClass="entr" presetSubtype="37"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barn(outVertical)">
                                      <p:cBhvr>
                                        <p:cTn id="70" dur="500"/>
                                        <p:tgtEl>
                                          <p:spTgt spid="45"/>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37" fill="hold" grpId="0" nodeType="clickEffect">
                                  <p:stCondLst>
                                    <p:cond delay="0"/>
                                  </p:stCondLst>
                                  <p:childTnLst>
                                    <p:set>
                                      <p:cBhvr>
                                        <p:cTn id="74" dur="1" fill="hold">
                                          <p:stCondLst>
                                            <p:cond delay="0"/>
                                          </p:stCondLst>
                                        </p:cTn>
                                        <p:tgtEl>
                                          <p:spTgt spid="53"/>
                                        </p:tgtEl>
                                        <p:attrNameLst>
                                          <p:attrName>style.visibility</p:attrName>
                                        </p:attrNameLst>
                                      </p:cBhvr>
                                      <p:to>
                                        <p:strVal val="visible"/>
                                      </p:to>
                                    </p:set>
                                    <p:animEffect transition="in" filter="barn(outVertical)">
                                      <p:cBhvr>
                                        <p:cTn id="75" dur="500"/>
                                        <p:tgtEl>
                                          <p:spTgt spid="53"/>
                                        </p:tgtEl>
                                      </p:cBhvr>
                                    </p:animEffect>
                                  </p:childTnLst>
                                </p:cTn>
                              </p:par>
                              <p:par>
                                <p:cTn id="76" presetID="16" presetClass="entr" presetSubtype="37" fill="hold"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barn(outVertical)">
                                      <p:cBhvr>
                                        <p:cTn id="78" dur="500"/>
                                        <p:tgtEl>
                                          <p:spTgt spid="34"/>
                                        </p:tgtEl>
                                      </p:cBhvr>
                                    </p:animEffect>
                                  </p:childTnLst>
                                </p:cTn>
                              </p:par>
                              <p:par>
                                <p:cTn id="79" presetID="16" presetClass="entr" presetSubtype="37"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barn(outVertical)">
                                      <p:cBhvr>
                                        <p:cTn id="81" dur="500"/>
                                        <p:tgtEl>
                                          <p:spTgt spid="42"/>
                                        </p:tgtEl>
                                      </p:cBhvr>
                                    </p:animEffect>
                                  </p:childTnLst>
                                </p:cTn>
                              </p:par>
                              <p:par>
                                <p:cTn id="82" presetID="16" presetClass="entr" presetSubtype="37" fill="hold" grpId="0" nodeType="with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barn(outVertical)">
                                      <p:cBhvr>
                                        <p:cTn id="84" dur="500"/>
                                        <p:tgtEl>
                                          <p:spTgt spid="49"/>
                                        </p:tgtEl>
                                      </p:cBhvr>
                                    </p:animEffect>
                                  </p:childTnLst>
                                </p:cTn>
                              </p:par>
                              <p:par>
                                <p:cTn id="85" presetID="16" presetClass="entr" presetSubtype="37"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barn(outVertical)">
                                      <p:cBhvr>
                                        <p:cTn id="8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p:bldP spid="46" grpId="0"/>
      <p:bldP spid="47" grpId="0"/>
      <p:bldP spid="48" grpId="0"/>
      <p:bldP spid="49" grpId="0"/>
      <p:bldP spid="50" grpId="0"/>
      <p:bldP spid="51" grpId="0"/>
      <p:bldP spid="52" grpId="0"/>
      <p:bldP spid="5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4">
            <a:extLst>
              <a:ext uri="{FF2B5EF4-FFF2-40B4-BE49-F238E27FC236}">
                <a16:creationId xmlns:a16="http://schemas.microsoft.com/office/drawing/2014/main" id="{5C761F3A-CBE5-442F-8475-D11D31B9CAAE}"/>
              </a:ext>
            </a:extLst>
          </p:cNvPr>
          <p:cNvSpPr txBox="1"/>
          <p:nvPr/>
        </p:nvSpPr>
        <p:spPr>
          <a:xfrm>
            <a:off x="3859895" y="384010"/>
            <a:ext cx="4472210" cy="500137"/>
          </a:xfrm>
          <a:prstGeom prst="rect">
            <a:avLst/>
          </a:prstGeom>
        </p:spPr>
        <p:txBody>
          <a:bodyPr lIns="0" tIns="0" rIns="0" bIns="0" rtlCol="0" anchor="t">
            <a:spAutoFit/>
          </a:bodyPr>
          <a:lstStyle/>
          <a:p>
            <a:pPr algn="ctr">
              <a:lnSpc>
                <a:spcPts val="3860"/>
              </a:lnSpc>
              <a:spcBef>
                <a:spcPct val="0"/>
              </a:spcBef>
            </a:pPr>
            <a:r>
              <a:rPr lang="en-US" sz="3600" b="1" dirty="0">
                <a:solidFill>
                  <a:srgbClr val="404040"/>
                </a:solidFill>
                <a:latin typeface="Public Sans Bold"/>
                <a:sym typeface="More Sugar"/>
              </a:rPr>
              <a:t>Modeling</a:t>
            </a:r>
          </a:p>
        </p:txBody>
      </p:sp>
      <p:sp>
        <p:nvSpPr>
          <p:cNvPr id="3" name="Rectangle: Rounded Corners 2">
            <a:extLst>
              <a:ext uri="{FF2B5EF4-FFF2-40B4-BE49-F238E27FC236}">
                <a16:creationId xmlns:a16="http://schemas.microsoft.com/office/drawing/2014/main" id="{58326EDA-774E-FE9F-A2AF-15841DEDC223}"/>
              </a:ext>
            </a:extLst>
          </p:cNvPr>
          <p:cNvSpPr/>
          <p:nvPr/>
        </p:nvSpPr>
        <p:spPr>
          <a:xfrm>
            <a:off x="1674809" y="1084425"/>
            <a:ext cx="9355750" cy="1298749"/>
          </a:xfrm>
          <a:prstGeom prst="roundRect">
            <a:avLst/>
          </a:prstGeom>
          <a:noFill/>
          <a:ln>
            <a:solidFill>
              <a:srgbClr val="D5DCF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000" dirty="0">
                <a:solidFill>
                  <a:schemeClr val="tx1"/>
                </a:solidFill>
              </a:rPr>
              <a:t>This step focused on selecting, and training machine learning algorithms to build predictive models. Techniques like ensemble learning and CNNs were chosen for high accuracy across various data types.</a:t>
            </a:r>
            <a:endParaRPr lang="en-GB" sz="2000" dirty="0">
              <a:solidFill>
                <a:schemeClr val="tx1"/>
              </a:solidFill>
            </a:endParaRPr>
          </a:p>
        </p:txBody>
      </p:sp>
      <p:grpSp>
        <p:nvGrpSpPr>
          <p:cNvPr id="33" name="Group 32">
            <a:extLst>
              <a:ext uri="{FF2B5EF4-FFF2-40B4-BE49-F238E27FC236}">
                <a16:creationId xmlns:a16="http://schemas.microsoft.com/office/drawing/2014/main" id="{369F4FC5-BDB0-8436-A6FC-AF41F4840527}"/>
              </a:ext>
            </a:extLst>
          </p:cNvPr>
          <p:cNvGrpSpPr/>
          <p:nvPr/>
        </p:nvGrpSpPr>
        <p:grpSpPr>
          <a:xfrm>
            <a:off x="2268239" y="2407421"/>
            <a:ext cx="8168889" cy="4134812"/>
            <a:chOff x="2530287" y="2583452"/>
            <a:chExt cx="8080773" cy="4134812"/>
          </a:xfrm>
        </p:grpSpPr>
        <p:sp>
          <p:nvSpPr>
            <p:cNvPr id="12" name="TextBox 33">
              <a:extLst>
                <a:ext uri="{FF2B5EF4-FFF2-40B4-BE49-F238E27FC236}">
                  <a16:creationId xmlns:a16="http://schemas.microsoft.com/office/drawing/2014/main" id="{24271C7A-65F2-BFAD-5A2C-5E912F1ADCFE}"/>
                </a:ext>
              </a:extLst>
            </p:cNvPr>
            <p:cNvSpPr txBox="1"/>
            <p:nvPr/>
          </p:nvSpPr>
          <p:spPr>
            <a:xfrm>
              <a:off x="4235847" y="2583452"/>
              <a:ext cx="1812054" cy="3026775"/>
            </a:xfrm>
            <a:prstGeom prst="rect">
              <a:avLst/>
            </a:prstGeom>
          </p:spPr>
          <p:txBody>
            <a:bodyPr lIns="23462" tIns="23462" rIns="23462" bIns="23462" rtlCol="0" anchor="ctr"/>
            <a:lstStyle/>
            <a:p>
              <a:pPr algn="ctr">
                <a:lnSpc>
                  <a:spcPts val="1256"/>
                </a:lnSpc>
                <a:spcBef>
                  <a:spcPct val="0"/>
                </a:spcBef>
              </a:pPr>
              <a:endParaRPr sz="1688"/>
            </a:p>
          </p:txBody>
        </p:sp>
        <p:sp>
          <p:nvSpPr>
            <p:cNvPr id="22" name="Freeform 13">
              <a:extLst>
                <a:ext uri="{FF2B5EF4-FFF2-40B4-BE49-F238E27FC236}">
                  <a16:creationId xmlns:a16="http://schemas.microsoft.com/office/drawing/2014/main" id="{66D212CD-D27F-3DC5-B66A-522074DBFAE2}"/>
                </a:ext>
              </a:extLst>
            </p:cNvPr>
            <p:cNvSpPr/>
            <p:nvPr/>
          </p:nvSpPr>
          <p:spPr>
            <a:xfrm>
              <a:off x="2530287" y="3773223"/>
              <a:ext cx="2985313" cy="2945041"/>
            </a:xfrm>
            <a:custGeom>
              <a:avLst/>
              <a:gdLst/>
              <a:ahLst/>
              <a:cxnLst/>
              <a:rect l="l" t="t" r="r" b="b"/>
              <a:pathLst>
                <a:path w="639707" h="1029619">
                  <a:moveTo>
                    <a:pt x="213194" y="0"/>
                  </a:moveTo>
                  <a:lnTo>
                    <a:pt x="426513" y="0"/>
                  </a:lnTo>
                  <a:cubicBezTo>
                    <a:pt x="483055" y="0"/>
                    <a:pt x="537282" y="22461"/>
                    <a:pt x="577264" y="62443"/>
                  </a:cubicBezTo>
                  <a:cubicBezTo>
                    <a:pt x="617246" y="102425"/>
                    <a:pt x="639707" y="156652"/>
                    <a:pt x="639707" y="213194"/>
                  </a:cubicBezTo>
                  <a:lnTo>
                    <a:pt x="639707" y="816424"/>
                  </a:lnTo>
                  <a:cubicBezTo>
                    <a:pt x="639707" y="872967"/>
                    <a:pt x="617246" y="927194"/>
                    <a:pt x="577264" y="967175"/>
                  </a:cubicBezTo>
                  <a:cubicBezTo>
                    <a:pt x="537282" y="1007157"/>
                    <a:pt x="483055" y="1029619"/>
                    <a:pt x="426513" y="1029619"/>
                  </a:cubicBezTo>
                  <a:lnTo>
                    <a:pt x="213194" y="1029619"/>
                  </a:lnTo>
                  <a:cubicBezTo>
                    <a:pt x="156652" y="1029619"/>
                    <a:pt x="102425" y="1007157"/>
                    <a:pt x="62443" y="967175"/>
                  </a:cubicBezTo>
                  <a:cubicBezTo>
                    <a:pt x="22461" y="927194"/>
                    <a:pt x="0" y="872967"/>
                    <a:pt x="0" y="816424"/>
                  </a:cubicBezTo>
                  <a:lnTo>
                    <a:pt x="0" y="213194"/>
                  </a:lnTo>
                  <a:cubicBezTo>
                    <a:pt x="0" y="156652"/>
                    <a:pt x="22461" y="102425"/>
                    <a:pt x="62443" y="62443"/>
                  </a:cubicBezTo>
                  <a:cubicBezTo>
                    <a:pt x="102425" y="22461"/>
                    <a:pt x="156652" y="0"/>
                    <a:pt x="213194" y="0"/>
                  </a:cubicBezTo>
                  <a:close/>
                </a:path>
              </a:pathLst>
            </a:custGeom>
            <a:solidFill>
              <a:srgbClr val="FFFFFF"/>
            </a:solidFill>
            <a:ln w="19050" cap="rnd">
              <a:solidFill>
                <a:srgbClr val="000000"/>
              </a:solidFill>
              <a:prstDash val="solid"/>
              <a:round/>
            </a:ln>
          </p:spPr>
        </p:sp>
        <p:sp>
          <p:nvSpPr>
            <p:cNvPr id="23" name="Freeform 16">
              <a:extLst>
                <a:ext uri="{FF2B5EF4-FFF2-40B4-BE49-F238E27FC236}">
                  <a16:creationId xmlns:a16="http://schemas.microsoft.com/office/drawing/2014/main" id="{FA7E840E-EFC3-8995-4DBA-CE704CFA08E7}"/>
                </a:ext>
              </a:extLst>
            </p:cNvPr>
            <p:cNvSpPr/>
            <p:nvPr/>
          </p:nvSpPr>
          <p:spPr>
            <a:xfrm>
              <a:off x="2730621" y="3291387"/>
              <a:ext cx="2453014" cy="687726"/>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E3E5FF"/>
            </a:solidFill>
            <a:ln cap="rnd">
              <a:noFill/>
              <a:prstDash val="solid"/>
              <a:round/>
            </a:ln>
          </p:spPr>
        </p:sp>
        <p:sp>
          <p:nvSpPr>
            <p:cNvPr id="24" name="Freeform 26">
              <a:extLst>
                <a:ext uri="{FF2B5EF4-FFF2-40B4-BE49-F238E27FC236}">
                  <a16:creationId xmlns:a16="http://schemas.microsoft.com/office/drawing/2014/main" id="{24E0C37D-59AE-0181-21C7-4F23863057FB}"/>
                </a:ext>
              </a:extLst>
            </p:cNvPr>
            <p:cNvSpPr/>
            <p:nvPr/>
          </p:nvSpPr>
          <p:spPr>
            <a:xfrm>
              <a:off x="7265468" y="3772843"/>
              <a:ext cx="3345592" cy="2945041"/>
            </a:xfrm>
            <a:custGeom>
              <a:avLst/>
              <a:gdLst/>
              <a:ahLst/>
              <a:cxnLst/>
              <a:rect l="l" t="t" r="r" b="b"/>
              <a:pathLst>
                <a:path w="639707" h="1029619">
                  <a:moveTo>
                    <a:pt x="207121" y="0"/>
                  </a:moveTo>
                  <a:lnTo>
                    <a:pt x="432586" y="0"/>
                  </a:lnTo>
                  <a:cubicBezTo>
                    <a:pt x="546976" y="0"/>
                    <a:pt x="639707" y="92731"/>
                    <a:pt x="639707" y="207121"/>
                  </a:cubicBezTo>
                  <a:lnTo>
                    <a:pt x="639707" y="822498"/>
                  </a:lnTo>
                  <a:cubicBezTo>
                    <a:pt x="639707" y="936887"/>
                    <a:pt x="546976" y="1029619"/>
                    <a:pt x="432586" y="1029619"/>
                  </a:cubicBezTo>
                  <a:lnTo>
                    <a:pt x="207121" y="1029619"/>
                  </a:lnTo>
                  <a:cubicBezTo>
                    <a:pt x="92731" y="1029619"/>
                    <a:pt x="0" y="936887"/>
                    <a:pt x="0" y="822498"/>
                  </a:cubicBezTo>
                  <a:lnTo>
                    <a:pt x="0" y="207121"/>
                  </a:lnTo>
                  <a:cubicBezTo>
                    <a:pt x="0" y="92731"/>
                    <a:pt x="92731" y="0"/>
                    <a:pt x="207121" y="0"/>
                  </a:cubicBezTo>
                  <a:close/>
                </a:path>
              </a:pathLst>
            </a:custGeom>
            <a:solidFill>
              <a:srgbClr val="FFFFFF"/>
            </a:solidFill>
            <a:ln w="19050" cap="rnd">
              <a:solidFill>
                <a:srgbClr val="000000"/>
              </a:solidFill>
              <a:prstDash val="solid"/>
              <a:round/>
            </a:ln>
          </p:spPr>
        </p:sp>
        <p:sp>
          <p:nvSpPr>
            <p:cNvPr id="25" name="Freeform 29">
              <a:extLst>
                <a:ext uri="{FF2B5EF4-FFF2-40B4-BE49-F238E27FC236}">
                  <a16:creationId xmlns:a16="http://schemas.microsoft.com/office/drawing/2014/main" id="{1664F722-6DAA-058D-8F8E-2C5CFD204558}"/>
                </a:ext>
              </a:extLst>
            </p:cNvPr>
            <p:cNvSpPr/>
            <p:nvPr/>
          </p:nvSpPr>
          <p:spPr>
            <a:xfrm>
              <a:off x="7592818" y="3268708"/>
              <a:ext cx="2551769" cy="68734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FFECC1"/>
            </a:solidFill>
            <a:ln cap="rnd">
              <a:noFill/>
              <a:prstDash val="solid"/>
              <a:round/>
            </a:ln>
          </p:spPr>
        </p:sp>
        <p:sp>
          <p:nvSpPr>
            <p:cNvPr id="26" name="AutoShape 37">
              <a:extLst>
                <a:ext uri="{FF2B5EF4-FFF2-40B4-BE49-F238E27FC236}">
                  <a16:creationId xmlns:a16="http://schemas.microsoft.com/office/drawing/2014/main" id="{7750062F-D442-A3BA-08E0-41DD464502A4}"/>
                </a:ext>
              </a:extLst>
            </p:cNvPr>
            <p:cNvSpPr/>
            <p:nvPr/>
          </p:nvSpPr>
          <p:spPr>
            <a:xfrm flipH="1">
              <a:off x="3963115" y="2785452"/>
              <a:ext cx="4894590" cy="12928"/>
            </a:xfrm>
            <a:prstGeom prst="line">
              <a:avLst/>
            </a:prstGeom>
            <a:ln w="19050" cap="flat">
              <a:solidFill>
                <a:srgbClr val="000000"/>
              </a:solidFill>
              <a:prstDash val="solid"/>
              <a:headEnd type="none" w="sm" len="sm"/>
              <a:tailEnd type="none" w="sm" len="sm"/>
            </a:ln>
          </p:spPr>
          <p:txBody>
            <a:bodyPr/>
            <a:lstStyle/>
            <a:p>
              <a:endParaRPr lang="en-GB" dirty="0"/>
            </a:p>
          </p:txBody>
        </p:sp>
        <p:sp>
          <p:nvSpPr>
            <p:cNvPr id="27" name="AutoShape 39">
              <a:extLst>
                <a:ext uri="{FF2B5EF4-FFF2-40B4-BE49-F238E27FC236}">
                  <a16:creationId xmlns:a16="http://schemas.microsoft.com/office/drawing/2014/main" id="{9DEF9319-CA6A-F195-F69F-F527FB1B3DE3}"/>
                </a:ext>
              </a:extLst>
            </p:cNvPr>
            <p:cNvSpPr/>
            <p:nvPr/>
          </p:nvSpPr>
          <p:spPr>
            <a:xfrm>
              <a:off x="3951632" y="2786682"/>
              <a:ext cx="5496" cy="493387"/>
            </a:xfrm>
            <a:prstGeom prst="line">
              <a:avLst/>
            </a:prstGeom>
            <a:ln w="19050" cap="flat">
              <a:solidFill>
                <a:srgbClr val="000000"/>
              </a:solidFill>
              <a:prstDash val="solid"/>
              <a:headEnd type="none" w="sm" len="sm"/>
              <a:tailEnd type="oval" w="lg" len="lg"/>
            </a:ln>
          </p:spPr>
        </p:sp>
        <p:sp>
          <p:nvSpPr>
            <p:cNvPr id="28" name="AutoShape 41">
              <a:extLst>
                <a:ext uri="{FF2B5EF4-FFF2-40B4-BE49-F238E27FC236}">
                  <a16:creationId xmlns:a16="http://schemas.microsoft.com/office/drawing/2014/main" id="{8BC51423-424D-FFEE-E0B8-B196AA183DA8}"/>
                </a:ext>
              </a:extLst>
            </p:cNvPr>
            <p:cNvSpPr/>
            <p:nvPr/>
          </p:nvSpPr>
          <p:spPr>
            <a:xfrm>
              <a:off x="8868702" y="2775701"/>
              <a:ext cx="1" cy="493007"/>
            </a:xfrm>
            <a:prstGeom prst="line">
              <a:avLst/>
            </a:prstGeom>
            <a:ln w="19050" cap="flat">
              <a:solidFill>
                <a:srgbClr val="000000"/>
              </a:solidFill>
              <a:prstDash val="solid"/>
              <a:headEnd type="none" w="sm" len="sm"/>
              <a:tailEnd type="oval" w="lg" len="lg"/>
            </a:ln>
          </p:spPr>
        </p:sp>
        <p:sp>
          <p:nvSpPr>
            <p:cNvPr id="29" name="TextBox 45">
              <a:extLst>
                <a:ext uri="{FF2B5EF4-FFF2-40B4-BE49-F238E27FC236}">
                  <a16:creationId xmlns:a16="http://schemas.microsoft.com/office/drawing/2014/main" id="{A989F9AE-0C2C-C25B-DF41-B19332A5BA2C}"/>
                </a:ext>
              </a:extLst>
            </p:cNvPr>
            <p:cNvSpPr txBox="1"/>
            <p:nvPr/>
          </p:nvSpPr>
          <p:spPr>
            <a:xfrm>
              <a:off x="7384816" y="4406380"/>
              <a:ext cx="3106896" cy="1753493"/>
            </a:xfrm>
            <a:prstGeom prst="rect">
              <a:avLst/>
            </a:prstGeom>
          </p:spPr>
          <p:txBody>
            <a:bodyPr wrap="square" lIns="0" tIns="0" rIns="0" bIns="0" rtlCol="0" anchor="t">
              <a:spAutoFit/>
            </a:bodyPr>
            <a:lstStyle/>
            <a:p>
              <a:pPr algn="ctr">
                <a:lnSpc>
                  <a:spcPts val="1745"/>
                </a:lnSpc>
              </a:pPr>
              <a:r>
                <a:rPr lang="en-US" dirty="0"/>
                <a:t>CNNs are specifically designed to analyze and extract features from image data, making them ideal for tasks like disease detection from medical scans. This model excels in recognizing patterns in image data.</a:t>
              </a:r>
              <a:endParaRPr lang="en-US" spc="-11" dirty="0">
                <a:solidFill>
                  <a:srgbClr val="000000"/>
                </a:solidFill>
                <a:latin typeface="Aptos" panose="020B0004020202020204" pitchFamily="34" charset="0"/>
                <a:sym typeface="More Sugar Thin"/>
              </a:endParaRPr>
            </a:p>
          </p:txBody>
        </p:sp>
        <p:sp>
          <p:nvSpPr>
            <p:cNvPr id="30" name="TextBox 47">
              <a:extLst>
                <a:ext uri="{FF2B5EF4-FFF2-40B4-BE49-F238E27FC236}">
                  <a16:creationId xmlns:a16="http://schemas.microsoft.com/office/drawing/2014/main" id="{74DAEC47-9E68-50AB-DA13-EF11B2080979}"/>
                </a:ext>
              </a:extLst>
            </p:cNvPr>
            <p:cNvSpPr txBox="1"/>
            <p:nvPr/>
          </p:nvSpPr>
          <p:spPr>
            <a:xfrm>
              <a:off x="2680098" y="4236274"/>
              <a:ext cx="2676674" cy="2189510"/>
            </a:xfrm>
            <a:prstGeom prst="rect">
              <a:avLst/>
            </a:prstGeom>
          </p:spPr>
          <p:txBody>
            <a:bodyPr wrap="square" lIns="0" tIns="0" rIns="0" bIns="0" rtlCol="0" anchor="t">
              <a:spAutoFit/>
            </a:bodyPr>
            <a:lstStyle/>
            <a:p>
              <a:pPr algn="ctr">
                <a:lnSpc>
                  <a:spcPts val="1745"/>
                </a:lnSpc>
              </a:pPr>
              <a:r>
                <a:rPr lang="en-US" dirty="0"/>
                <a:t>We used the XGBoost </a:t>
              </a:r>
            </a:p>
            <a:p>
              <a:pPr algn="ctr">
                <a:lnSpc>
                  <a:spcPts val="1745"/>
                </a:lnSpc>
              </a:pPr>
              <a:r>
                <a:rPr lang="en-US" dirty="0"/>
                <a:t>algorithm, an ensemble learning technique that builds a sequence of models, with each one correcting the errors of the previous one. This method is known for its high accuracy and efficiency in handling tabular data.</a:t>
              </a:r>
              <a:endParaRPr lang="en-US" spc="-11" dirty="0">
                <a:solidFill>
                  <a:srgbClr val="000000"/>
                </a:solidFill>
                <a:latin typeface="Aptos" panose="020B0004020202020204" pitchFamily="34" charset="0"/>
                <a:sym typeface="More Sugar Thin"/>
              </a:endParaRPr>
            </a:p>
          </p:txBody>
        </p:sp>
        <p:sp>
          <p:nvSpPr>
            <p:cNvPr id="31" name="TextBox 50">
              <a:extLst>
                <a:ext uri="{FF2B5EF4-FFF2-40B4-BE49-F238E27FC236}">
                  <a16:creationId xmlns:a16="http://schemas.microsoft.com/office/drawing/2014/main" id="{9BC6C71B-599C-1F08-9D20-3DDA53FE80FC}"/>
                </a:ext>
              </a:extLst>
            </p:cNvPr>
            <p:cNvSpPr txBox="1"/>
            <p:nvPr/>
          </p:nvSpPr>
          <p:spPr>
            <a:xfrm>
              <a:off x="3162085" y="3466744"/>
              <a:ext cx="1712701" cy="430118"/>
            </a:xfrm>
            <a:prstGeom prst="rect">
              <a:avLst/>
            </a:prstGeom>
          </p:spPr>
          <p:txBody>
            <a:bodyPr lIns="0" tIns="0" rIns="0" bIns="0" rtlCol="0" anchor="t">
              <a:spAutoFit/>
            </a:bodyPr>
            <a:lstStyle/>
            <a:p>
              <a:pPr algn="ctr">
                <a:lnSpc>
                  <a:spcPts val="1622"/>
                </a:lnSpc>
                <a:spcBef>
                  <a:spcPct val="0"/>
                </a:spcBef>
              </a:pPr>
              <a:r>
                <a:rPr lang="en-US" sz="2000" spc="35" dirty="0">
                  <a:solidFill>
                    <a:srgbClr val="000000"/>
                  </a:solidFill>
                  <a:latin typeface="Aptos" panose="020B0004020202020204" pitchFamily="34" charset="0"/>
                  <a:sym typeface="More Sugar"/>
                </a:rPr>
                <a:t>Ensemble learning</a:t>
              </a:r>
            </a:p>
          </p:txBody>
        </p:sp>
        <p:sp>
          <p:nvSpPr>
            <p:cNvPr id="32" name="TextBox 52">
              <a:extLst>
                <a:ext uri="{FF2B5EF4-FFF2-40B4-BE49-F238E27FC236}">
                  <a16:creationId xmlns:a16="http://schemas.microsoft.com/office/drawing/2014/main" id="{3B685515-27F5-9092-F341-B200E3174C92}"/>
                </a:ext>
              </a:extLst>
            </p:cNvPr>
            <p:cNvSpPr txBox="1"/>
            <p:nvPr/>
          </p:nvSpPr>
          <p:spPr>
            <a:xfrm>
              <a:off x="8075332" y="3556298"/>
              <a:ext cx="1703302" cy="215315"/>
            </a:xfrm>
            <a:prstGeom prst="rect">
              <a:avLst/>
            </a:prstGeom>
          </p:spPr>
          <p:txBody>
            <a:bodyPr lIns="0" tIns="0" rIns="0" bIns="0" rtlCol="0" anchor="t">
              <a:spAutoFit/>
            </a:bodyPr>
            <a:lstStyle/>
            <a:p>
              <a:pPr algn="ctr">
                <a:lnSpc>
                  <a:spcPts val="1491"/>
                </a:lnSpc>
                <a:spcBef>
                  <a:spcPct val="0"/>
                </a:spcBef>
              </a:pPr>
              <a:r>
                <a:rPr lang="en-US" sz="2000" spc="35" dirty="0">
                  <a:solidFill>
                    <a:srgbClr val="000000"/>
                  </a:solidFill>
                  <a:latin typeface="Aptos" panose="020B0004020202020204" pitchFamily="34" charset="0"/>
                  <a:sym typeface="More Sugar"/>
                </a:rPr>
                <a:t>CNNs</a:t>
              </a:r>
            </a:p>
          </p:txBody>
        </p:sp>
      </p:grpSp>
    </p:spTree>
    <p:extLst>
      <p:ext uri="{BB962C8B-B14F-4D97-AF65-F5344CB8AC3E}">
        <p14:creationId xmlns:p14="http://schemas.microsoft.com/office/powerpoint/2010/main" val="89991506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CF86B218-69B3-2C37-73AE-708D5F39980C}"/>
              </a:ext>
            </a:extLst>
          </p:cNvPr>
          <p:cNvSpPr/>
          <p:nvPr/>
        </p:nvSpPr>
        <p:spPr>
          <a:xfrm>
            <a:off x="658416" y="646410"/>
            <a:ext cx="10469761" cy="587871"/>
          </a:xfrm>
          <a:prstGeom prst="rect">
            <a:avLst/>
          </a:prstGeom>
          <a:noFill/>
          <a:ln/>
        </p:spPr>
        <p:txBody>
          <a:bodyPr wrap="none" lIns="0" tIns="0" rIns="0" bIns="0" rtlCol="0" anchor="t"/>
          <a:lstStyle/>
          <a:p>
            <a:pPr algn="ctr">
              <a:lnSpc>
                <a:spcPts val="3860"/>
              </a:lnSpc>
              <a:spcBef>
                <a:spcPct val="0"/>
              </a:spcBef>
            </a:pPr>
            <a:r>
              <a:rPr lang="en-US" sz="4000" b="1" dirty="0">
                <a:solidFill>
                  <a:srgbClr val="404040"/>
                </a:solidFill>
                <a:latin typeface="Public Sans Bold"/>
                <a:sym typeface="More Sugar"/>
              </a:rPr>
              <a:t>5. Model Performance &amp; Evaluation</a:t>
            </a:r>
          </a:p>
        </p:txBody>
      </p:sp>
      <p:sp>
        <p:nvSpPr>
          <p:cNvPr id="6" name="Shape 2">
            <a:extLst>
              <a:ext uri="{FF2B5EF4-FFF2-40B4-BE49-F238E27FC236}">
                <a16:creationId xmlns:a16="http://schemas.microsoft.com/office/drawing/2014/main" id="{8EE5CB18-C65C-AC2D-28BE-273DACA0E622}"/>
              </a:ext>
            </a:extLst>
          </p:cNvPr>
          <p:cNvSpPr/>
          <p:nvPr/>
        </p:nvSpPr>
        <p:spPr>
          <a:xfrm>
            <a:off x="789044" y="2072321"/>
            <a:ext cx="10875169" cy="3787478"/>
          </a:xfrm>
          <a:prstGeom prst="roundRect">
            <a:avLst>
              <a:gd name="adj" fmla="val 2086"/>
            </a:avLst>
          </a:prstGeom>
          <a:noFill/>
          <a:ln w="7620">
            <a:solidFill>
              <a:srgbClr val="000000">
                <a:alpha val="8000"/>
              </a:srgbClr>
            </a:solidFill>
            <a:prstDash val="solid"/>
          </a:ln>
        </p:spPr>
      </p:sp>
      <p:sp>
        <p:nvSpPr>
          <p:cNvPr id="7" name="Shape 3">
            <a:extLst>
              <a:ext uri="{FF2B5EF4-FFF2-40B4-BE49-F238E27FC236}">
                <a16:creationId xmlns:a16="http://schemas.microsoft.com/office/drawing/2014/main" id="{DF9FD35C-8229-3644-BB0B-34F37ECF4CFE}"/>
              </a:ext>
            </a:extLst>
          </p:cNvPr>
          <p:cNvSpPr/>
          <p:nvPr/>
        </p:nvSpPr>
        <p:spPr>
          <a:xfrm>
            <a:off x="795394" y="2078671"/>
            <a:ext cx="10861378" cy="539254"/>
          </a:xfrm>
          <a:prstGeom prst="rect">
            <a:avLst/>
          </a:prstGeom>
          <a:solidFill>
            <a:srgbClr val="FFFFFF">
              <a:alpha val="4000"/>
            </a:srgbClr>
          </a:solidFill>
          <a:ln/>
        </p:spPr>
      </p:sp>
      <p:sp>
        <p:nvSpPr>
          <p:cNvPr id="8" name="Text 4">
            <a:extLst>
              <a:ext uri="{FF2B5EF4-FFF2-40B4-BE49-F238E27FC236}">
                <a16:creationId xmlns:a16="http://schemas.microsoft.com/office/drawing/2014/main" id="{8BC30469-F3D9-0A0C-C0C8-72A83E15F845}"/>
              </a:ext>
            </a:extLst>
          </p:cNvPr>
          <p:cNvSpPr/>
          <p:nvPr/>
        </p:nvSpPr>
        <p:spPr>
          <a:xfrm>
            <a:off x="984604" y="2197832"/>
            <a:ext cx="3240683" cy="300931"/>
          </a:xfrm>
          <a:prstGeom prst="rect">
            <a:avLst/>
          </a:prstGeom>
          <a:noFill/>
          <a:ln/>
        </p:spPr>
        <p:txBody>
          <a:bodyPr wrap="none" lIns="0" tIns="0" rIns="0" bIns="0" rtlCol="0" anchor="t"/>
          <a:lstStyle/>
          <a:p>
            <a:pPr>
              <a:lnSpc>
                <a:spcPts val="2333"/>
              </a:lnSpc>
            </a:pPr>
            <a:r>
              <a:rPr lang="en-US" sz="1458" b="1" dirty="0">
                <a:solidFill>
                  <a:srgbClr val="3C3939"/>
                </a:solidFill>
                <a:latin typeface="Roboto" pitchFamily="34" charset="0"/>
                <a:ea typeface="Roboto" pitchFamily="34" charset="-122"/>
                <a:cs typeface="Roboto" pitchFamily="34" charset="-120"/>
              </a:rPr>
              <a:t>Application</a:t>
            </a:r>
            <a:endParaRPr lang="en-US" sz="1458" dirty="0"/>
          </a:p>
        </p:txBody>
      </p:sp>
      <p:sp>
        <p:nvSpPr>
          <p:cNvPr id="9" name="Text 5">
            <a:extLst>
              <a:ext uri="{FF2B5EF4-FFF2-40B4-BE49-F238E27FC236}">
                <a16:creationId xmlns:a16="http://schemas.microsoft.com/office/drawing/2014/main" id="{D4FA248C-C594-6980-180D-2EA74634735A}"/>
              </a:ext>
            </a:extLst>
          </p:cNvPr>
          <p:cNvSpPr/>
          <p:nvPr/>
        </p:nvSpPr>
        <p:spPr>
          <a:xfrm>
            <a:off x="4607874" y="2197832"/>
            <a:ext cx="3237508" cy="300931"/>
          </a:xfrm>
          <a:prstGeom prst="rect">
            <a:avLst/>
          </a:prstGeom>
          <a:noFill/>
          <a:ln/>
        </p:spPr>
        <p:txBody>
          <a:bodyPr wrap="none" lIns="0" tIns="0" rIns="0" bIns="0" rtlCol="0" anchor="t"/>
          <a:lstStyle/>
          <a:p>
            <a:pPr>
              <a:lnSpc>
                <a:spcPts val="2333"/>
              </a:lnSpc>
            </a:pPr>
            <a:r>
              <a:rPr lang="en-US" sz="1458" b="1" dirty="0">
                <a:solidFill>
                  <a:srgbClr val="3C3939"/>
                </a:solidFill>
                <a:latin typeface="Roboto" pitchFamily="34" charset="0"/>
                <a:ea typeface="Roboto" pitchFamily="34" charset="-122"/>
                <a:cs typeface="Roboto" pitchFamily="34" charset="-120"/>
              </a:rPr>
              <a:t>Training Accuracy</a:t>
            </a:r>
            <a:endParaRPr lang="en-US" sz="1458" dirty="0"/>
          </a:p>
        </p:txBody>
      </p:sp>
      <p:sp>
        <p:nvSpPr>
          <p:cNvPr id="10" name="Text 6">
            <a:extLst>
              <a:ext uri="{FF2B5EF4-FFF2-40B4-BE49-F238E27FC236}">
                <a16:creationId xmlns:a16="http://schemas.microsoft.com/office/drawing/2014/main" id="{5E8FEBE8-3622-1F0B-20F5-DF0E75539F14}"/>
              </a:ext>
            </a:extLst>
          </p:cNvPr>
          <p:cNvSpPr/>
          <p:nvPr/>
        </p:nvSpPr>
        <p:spPr>
          <a:xfrm>
            <a:off x="8227970" y="2197832"/>
            <a:ext cx="3240683" cy="300931"/>
          </a:xfrm>
          <a:prstGeom prst="rect">
            <a:avLst/>
          </a:prstGeom>
          <a:noFill/>
          <a:ln/>
        </p:spPr>
        <p:txBody>
          <a:bodyPr wrap="none" lIns="0" tIns="0" rIns="0" bIns="0" rtlCol="0" anchor="t"/>
          <a:lstStyle/>
          <a:p>
            <a:pPr>
              <a:lnSpc>
                <a:spcPts val="2333"/>
              </a:lnSpc>
            </a:pPr>
            <a:r>
              <a:rPr lang="en-US" sz="1458" b="1" dirty="0">
                <a:solidFill>
                  <a:srgbClr val="3C3939"/>
                </a:solidFill>
                <a:latin typeface="Roboto" pitchFamily="34" charset="0"/>
                <a:ea typeface="Roboto" pitchFamily="34" charset="-122"/>
                <a:cs typeface="Roboto" pitchFamily="34" charset="-120"/>
              </a:rPr>
              <a:t>Testing Accuracy</a:t>
            </a:r>
            <a:endParaRPr lang="en-US" sz="1458" dirty="0"/>
          </a:p>
        </p:txBody>
      </p:sp>
      <p:sp>
        <p:nvSpPr>
          <p:cNvPr id="11" name="Shape 7">
            <a:extLst>
              <a:ext uri="{FF2B5EF4-FFF2-40B4-BE49-F238E27FC236}">
                <a16:creationId xmlns:a16="http://schemas.microsoft.com/office/drawing/2014/main" id="{D7421F9D-B1E7-EA4B-AAD4-16274DEE2817}"/>
              </a:ext>
            </a:extLst>
          </p:cNvPr>
          <p:cNvSpPr/>
          <p:nvPr/>
        </p:nvSpPr>
        <p:spPr>
          <a:xfrm>
            <a:off x="795394" y="2617925"/>
            <a:ext cx="10861378" cy="539254"/>
          </a:xfrm>
          <a:prstGeom prst="rect">
            <a:avLst/>
          </a:prstGeom>
          <a:solidFill>
            <a:srgbClr val="000000">
              <a:alpha val="4000"/>
            </a:srgbClr>
          </a:solidFill>
          <a:ln/>
        </p:spPr>
      </p:sp>
      <p:sp>
        <p:nvSpPr>
          <p:cNvPr id="12" name="Text 8">
            <a:extLst>
              <a:ext uri="{FF2B5EF4-FFF2-40B4-BE49-F238E27FC236}">
                <a16:creationId xmlns:a16="http://schemas.microsoft.com/office/drawing/2014/main" id="{E43792DD-CEDC-4DD0-5426-4C30741CB66D}"/>
              </a:ext>
            </a:extLst>
          </p:cNvPr>
          <p:cNvSpPr/>
          <p:nvPr/>
        </p:nvSpPr>
        <p:spPr>
          <a:xfrm>
            <a:off x="984604" y="2737087"/>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Diabetes Detection</a:t>
            </a:r>
            <a:endParaRPr lang="en-US" sz="1458" dirty="0"/>
          </a:p>
        </p:txBody>
      </p:sp>
      <p:sp>
        <p:nvSpPr>
          <p:cNvPr id="13" name="Text 9">
            <a:extLst>
              <a:ext uri="{FF2B5EF4-FFF2-40B4-BE49-F238E27FC236}">
                <a16:creationId xmlns:a16="http://schemas.microsoft.com/office/drawing/2014/main" id="{C43FE6DC-CC69-19D9-8A66-05E3BEB96636}"/>
              </a:ext>
            </a:extLst>
          </p:cNvPr>
          <p:cNvSpPr/>
          <p:nvPr/>
        </p:nvSpPr>
        <p:spPr>
          <a:xfrm>
            <a:off x="4607874" y="2737087"/>
            <a:ext cx="3237508"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0.94</a:t>
            </a:r>
            <a:endParaRPr lang="en-US" sz="1458" dirty="0"/>
          </a:p>
        </p:txBody>
      </p:sp>
      <p:sp>
        <p:nvSpPr>
          <p:cNvPr id="14" name="Text 10">
            <a:extLst>
              <a:ext uri="{FF2B5EF4-FFF2-40B4-BE49-F238E27FC236}">
                <a16:creationId xmlns:a16="http://schemas.microsoft.com/office/drawing/2014/main" id="{ECEC6593-7085-52D6-E060-491F8E5A1F5F}"/>
              </a:ext>
            </a:extLst>
          </p:cNvPr>
          <p:cNvSpPr/>
          <p:nvPr/>
        </p:nvSpPr>
        <p:spPr>
          <a:xfrm>
            <a:off x="8227970" y="2737087"/>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0.80</a:t>
            </a:r>
            <a:endParaRPr lang="en-US" sz="1458" dirty="0"/>
          </a:p>
        </p:txBody>
      </p:sp>
      <p:sp>
        <p:nvSpPr>
          <p:cNvPr id="15" name="Shape 11">
            <a:extLst>
              <a:ext uri="{FF2B5EF4-FFF2-40B4-BE49-F238E27FC236}">
                <a16:creationId xmlns:a16="http://schemas.microsoft.com/office/drawing/2014/main" id="{64BD7810-A46F-9D2D-F7E8-DC8F39610B35}"/>
              </a:ext>
            </a:extLst>
          </p:cNvPr>
          <p:cNvSpPr/>
          <p:nvPr/>
        </p:nvSpPr>
        <p:spPr>
          <a:xfrm>
            <a:off x="795394" y="3157178"/>
            <a:ext cx="10861378" cy="539254"/>
          </a:xfrm>
          <a:prstGeom prst="rect">
            <a:avLst/>
          </a:prstGeom>
          <a:solidFill>
            <a:srgbClr val="FFFFFF">
              <a:alpha val="4000"/>
            </a:srgbClr>
          </a:solidFill>
          <a:ln/>
        </p:spPr>
      </p:sp>
      <p:sp>
        <p:nvSpPr>
          <p:cNvPr id="16" name="Text 12">
            <a:extLst>
              <a:ext uri="{FF2B5EF4-FFF2-40B4-BE49-F238E27FC236}">
                <a16:creationId xmlns:a16="http://schemas.microsoft.com/office/drawing/2014/main" id="{49AE6330-DE25-43A4-CCCC-1E443B132500}"/>
              </a:ext>
            </a:extLst>
          </p:cNvPr>
          <p:cNvSpPr/>
          <p:nvPr/>
        </p:nvSpPr>
        <p:spPr>
          <a:xfrm>
            <a:off x="984604" y="3276340"/>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Breast Cancer</a:t>
            </a:r>
            <a:endParaRPr lang="en-US" sz="1458" dirty="0"/>
          </a:p>
        </p:txBody>
      </p:sp>
      <p:sp>
        <p:nvSpPr>
          <p:cNvPr id="17" name="Text 13">
            <a:extLst>
              <a:ext uri="{FF2B5EF4-FFF2-40B4-BE49-F238E27FC236}">
                <a16:creationId xmlns:a16="http://schemas.microsoft.com/office/drawing/2014/main" id="{BB53AA4E-7789-E20A-AEBA-D84B6A7C6F28}"/>
              </a:ext>
            </a:extLst>
          </p:cNvPr>
          <p:cNvSpPr/>
          <p:nvPr/>
        </p:nvSpPr>
        <p:spPr>
          <a:xfrm>
            <a:off x="4607874" y="3276340"/>
            <a:ext cx="3237508"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1.00</a:t>
            </a:r>
            <a:endParaRPr lang="en-US" sz="1458" dirty="0"/>
          </a:p>
        </p:txBody>
      </p:sp>
      <p:sp>
        <p:nvSpPr>
          <p:cNvPr id="18" name="Text 14">
            <a:extLst>
              <a:ext uri="{FF2B5EF4-FFF2-40B4-BE49-F238E27FC236}">
                <a16:creationId xmlns:a16="http://schemas.microsoft.com/office/drawing/2014/main" id="{E7A90B72-AC73-AD0B-1C9F-D2D4E99000F3}"/>
              </a:ext>
            </a:extLst>
          </p:cNvPr>
          <p:cNvSpPr/>
          <p:nvPr/>
        </p:nvSpPr>
        <p:spPr>
          <a:xfrm>
            <a:off x="8227970" y="3276340"/>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0.97</a:t>
            </a:r>
            <a:endParaRPr lang="en-US" sz="1458" dirty="0"/>
          </a:p>
        </p:txBody>
      </p:sp>
      <p:sp>
        <p:nvSpPr>
          <p:cNvPr id="19" name="Shape 15">
            <a:extLst>
              <a:ext uri="{FF2B5EF4-FFF2-40B4-BE49-F238E27FC236}">
                <a16:creationId xmlns:a16="http://schemas.microsoft.com/office/drawing/2014/main" id="{7DDF7A3E-7DB2-7559-3492-1DDA7117DC10}"/>
              </a:ext>
            </a:extLst>
          </p:cNvPr>
          <p:cNvSpPr/>
          <p:nvPr/>
        </p:nvSpPr>
        <p:spPr>
          <a:xfrm>
            <a:off x="795394" y="3696433"/>
            <a:ext cx="10861378" cy="539254"/>
          </a:xfrm>
          <a:prstGeom prst="rect">
            <a:avLst/>
          </a:prstGeom>
          <a:solidFill>
            <a:srgbClr val="000000">
              <a:alpha val="4000"/>
            </a:srgbClr>
          </a:solidFill>
          <a:ln/>
        </p:spPr>
      </p:sp>
      <p:sp>
        <p:nvSpPr>
          <p:cNvPr id="20" name="Text 16">
            <a:extLst>
              <a:ext uri="{FF2B5EF4-FFF2-40B4-BE49-F238E27FC236}">
                <a16:creationId xmlns:a16="http://schemas.microsoft.com/office/drawing/2014/main" id="{5ABCEF7F-D2B4-254A-4D2B-0DE39529CEDD}"/>
              </a:ext>
            </a:extLst>
          </p:cNvPr>
          <p:cNvSpPr/>
          <p:nvPr/>
        </p:nvSpPr>
        <p:spPr>
          <a:xfrm>
            <a:off x="984604" y="3815594"/>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Pneumonia</a:t>
            </a:r>
            <a:endParaRPr lang="en-US" sz="1458" dirty="0"/>
          </a:p>
        </p:txBody>
      </p:sp>
      <p:sp>
        <p:nvSpPr>
          <p:cNvPr id="21" name="Text 17">
            <a:extLst>
              <a:ext uri="{FF2B5EF4-FFF2-40B4-BE49-F238E27FC236}">
                <a16:creationId xmlns:a16="http://schemas.microsoft.com/office/drawing/2014/main" id="{7C5C157D-E601-0E44-74B3-4D44EAA0C8BD}"/>
              </a:ext>
            </a:extLst>
          </p:cNvPr>
          <p:cNvSpPr/>
          <p:nvPr/>
        </p:nvSpPr>
        <p:spPr>
          <a:xfrm>
            <a:off x="4607874" y="3815594"/>
            <a:ext cx="3237508"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0.96</a:t>
            </a:r>
            <a:endParaRPr lang="en-US" sz="1458" dirty="0"/>
          </a:p>
        </p:txBody>
      </p:sp>
      <p:sp>
        <p:nvSpPr>
          <p:cNvPr id="22" name="Text 18">
            <a:extLst>
              <a:ext uri="{FF2B5EF4-FFF2-40B4-BE49-F238E27FC236}">
                <a16:creationId xmlns:a16="http://schemas.microsoft.com/office/drawing/2014/main" id="{E73E7CB8-3241-E890-88AA-702C74B792FB}"/>
              </a:ext>
            </a:extLst>
          </p:cNvPr>
          <p:cNvSpPr/>
          <p:nvPr/>
        </p:nvSpPr>
        <p:spPr>
          <a:xfrm>
            <a:off x="8227970" y="3815594"/>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0.83</a:t>
            </a:r>
            <a:endParaRPr lang="en-US" sz="1458" dirty="0"/>
          </a:p>
        </p:txBody>
      </p:sp>
      <p:sp>
        <p:nvSpPr>
          <p:cNvPr id="23" name="Shape 19">
            <a:extLst>
              <a:ext uri="{FF2B5EF4-FFF2-40B4-BE49-F238E27FC236}">
                <a16:creationId xmlns:a16="http://schemas.microsoft.com/office/drawing/2014/main" id="{158428A1-F8F8-F967-3095-8F7601B3D27A}"/>
              </a:ext>
            </a:extLst>
          </p:cNvPr>
          <p:cNvSpPr/>
          <p:nvPr/>
        </p:nvSpPr>
        <p:spPr>
          <a:xfrm>
            <a:off x="795394" y="4235687"/>
            <a:ext cx="10861378" cy="539254"/>
          </a:xfrm>
          <a:prstGeom prst="rect">
            <a:avLst/>
          </a:prstGeom>
          <a:solidFill>
            <a:srgbClr val="FFFFFF">
              <a:alpha val="4000"/>
            </a:srgbClr>
          </a:solidFill>
          <a:ln/>
        </p:spPr>
      </p:sp>
      <p:sp>
        <p:nvSpPr>
          <p:cNvPr id="24" name="Text 20">
            <a:extLst>
              <a:ext uri="{FF2B5EF4-FFF2-40B4-BE49-F238E27FC236}">
                <a16:creationId xmlns:a16="http://schemas.microsoft.com/office/drawing/2014/main" id="{F0D1D41C-AEEC-43A7-AAD7-EC88C3263E41}"/>
              </a:ext>
            </a:extLst>
          </p:cNvPr>
          <p:cNvSpPr/>
          <p:nvPr/>
        </p:nvSpPr>
        <p:spPr>
          <a:xfrm>
            <a:off x="984604" y="4354848"/>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Brain Tumor</a:t>
            </a:r>
            <a:endParaRPr lang="en-US" sz="1458" dirty="0"/>
          </a:p>
        </p:txBody>
      </p:sp>
      <p:sp>
        <p:nvSpPr>
          <p:cNvPr id="25" name="Text 21">
            <a:extLst>
              <a:ext uri="{FF2B5EF4-FFF2-40B4-BE49-F238E27FC236}">
                <a16:creationId xmlns:a16="http://schemas.microsoft.com/office/drawing/2014/main" id="{9EE12949-F2A2-A3B0-D617-5B879A42E921}"/>
              </a:ext>
            </a:extLst>
          </p:cNvPr>
          <p:cNvSpPr/>
          <p:nvPr/>
        </p:nvSpPr>
        <p:spPr>
          <a:xfrm>
            <a:off x="4607874" y="4354848"/>
            <a:ext cx="3237508"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0.9995</a:t>
            </a:r>
            <a:endParaRPr lang="en-US" sz="1458" dirty="0"/>
          </a:p>
        </p:txBody>
      </p:sp>
      <p:sp>
        <p:nvSpPr>
          <p:cNvPr id="26" name="Text 22">
            <a:extLst>
              <a:ext uri="{FF2B5EF4-FFF2-40B4-BE49-F238E27FC236}">
                <a16:creationId xmlns:a16="http://schemas.microsoft.com/office/drawing/2014/main" id="{2D457C6A-E5AD-185A-AEAA-2EDAE9D79FA3}"/>
              </a:ext>
            </a:extLst>
          </p:cNvPr>
          <p:cNvSpPr/>
          <p:nvPr/>
        </p:nvSpPr>
        <p:spPr>
          <a:xfrm>
            <a:off x="8227970" y="4354848"/>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0.98</a:t>
            </a:r>
            <a:endParaRPr lang="en-US" sz="1458" dirty="0"/>
          </a:p>
        </p:txBody>
      </p:sp>
      <p:sp>
        <p:nvSpPr>
          <p:cNvPr id="27" name="Shape 23">
            <a:extLst>
              <a:ext uri="{FF2B5EF4-FFF2-40B4-BE49-F238E27FC236}">
                <a16:creationId xmlns:a16="http://schemas.microsoft.com/office/drawing/2014/main" id="{4FC89B8B-0A03-B3B1-70F9-62020A4F29F4}"/>
              </a:ext>
            </a:extLst>
          </p:cNvPr>
          <p:cNvSpPr/>
          <p:nvPr/>
        </p:nvSpPr>
        <p:spPr>
          <a:xfrm>
            <a:off x="795394" y="4774940"/>
            <a:ext cx="10861378" cy="539254"/>
          </a:xfrm>
          <a:prstGeom prst="rect">
            <a:avLst/>
          </a:prstGeom>
          <a:solidFill>
            <a:srgbClr val="000000">
              <a:alpha val="4000"/>
            </a:srgbClr>
          </a:solidFill>
          <a:ln/>
        </p:spPr>
        <p:txBody>
          <a:bodyPr/>
          <a:lstStyle/>
          <a:p>
            <a:endParaRPr lang="en-GB" dirty="0"/>
          </a:p>
        </p:txBody>
      </p:sp>
      <p:sp>
        <p:nvSpPr>
          <p:cNvPr id="28" name="Text 24">
            <a:extLst>
              <a:ext uri="{FF2B5EF4-FFF2-40B4-BE49-F238E27FC236}">
                <a16:creationId xmlns:a16="http://schemas.microsoft.com/office/drawing/2014/main" id="{1689D94B-9039-DECD-39E7-A497633921D4}"/>
              </a:ext>
            </a:extLst>
          </p:cNvPr>
          <p:cNvSpPr/>
          <p:nvPr/>
        </p:nvSpPr>
        <p:spPr>
          <a:xfrm>
            <a:off x="984604" y="4894102"/>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COVID-19</a:t>
            </a:r>
            <a:endParaRPr lang="en-US" sz="1458" dirty="0"/>
          </a:p>
        </p:txBody>
      </p:sp>
      <p:sp>
        <p:nvSpPr>
          <p:cNvPr id="29" name="Text 25">
            <a:extLst>
              <a:ext uri="{FF2B5EF4-FFF2-40B4-BE49-F238E27FC236}">
                <a16:creationId xmlns:a16="http://schemas.microsoft.com/office/drawing/2014/main" id="{B373FD51-FBEB-9854-B99C-6E6BC9F3E556}"/>
              </a:ext>
            </a:extLst>
          </p:cNvPr>
          <p:cNvSpPr/>
          <p:nvPr/>
        </p:nvSpPr>
        <p:spPr>
          <a:xfrm>
            <a:off x="4607874" y="4894102"/>
            <a:ext cx="3237508"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0.96</a:t>
            </a:r>
            <a:endParaRPr lang="en-US" sz="1458" dirty="0"/>
          </a:p>
        </p:txBody>
      </p:sp>
      <p:sp>
        <p:nvSpPr>
          <p:cNvPr id="30" name="Text 26">
            <a:extLst>
              <a:ext uri="{FF2B5EF4-FFF2-40B4-BE49-F238E27FC236}">
                <a16:creationId xmlns:a16="http://schemas.microsoft.com/office/drawing/2014/main" id="{861F2DE9-4B06-51AD-F4B0-55E9947674D0}"/>
              </a:ext>
            </a:extLst>
          </p:cNvPr>
          <p:cNvSpPr/>
          <p:nvPr/>
        </p:nvSpPr>
        <p:spPr>
          <a:xfrm>
            <a:off x="8227970" y="4894102"/>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0.93</a:t>
            </a:r>
            <a:endParaRPr lang="en-US" sz="1458" dirty="0"/>
          </a:p>
        </p:txBody>
      </p:sp>
      <p:sp>
        <p:nvSpPr>
          <p:cNvPr id="31" name="Shape 27">
            <a:extLst>
              <a:ext uri="{FF2B5EF4-FFF2-40B4-BE49-F238E27FC236}">
                <a16:creationId xmlns:a16="http://schemas.microsoft.com/office/drawing/2014/main" id="{28DAF916-2AE6-B89A-4F18-67EE1B1BE540}"/>
              </a:ext>
            </a:extLst>
          </p:cNvPr>
          <p:cNvSpPr/>
          <p:nvPr/>
        </p:nvSpPr>
        <p:spPr>
          <a:xfrm>
            <a:off x="795394" y="5314194"/>
            <a:ext cx="10861378" cy="539254"/>
          </a:xfrm>
          <a:prstGeom prst="rect">
            <a:avLst/>
          </a:prstGeom>
          <a:solidFill>
            <a:srgbClr val="FFFFFF">
              <a:alpha val="4000"/>
            </a:srgbClr>
          </a:solidFill>
          <a:ln/>
        </p:spPr>
      </p:sp>
      <p:sp>
        <p:nvSpPr>
          <p:cNvPr id="32" name="Text 28">
            <a:extLst>
              <a:ext uri="{FF2B5EF4-FFF2-40B4-BE49-F238E27FC236}">
                <a16:creationId xmlns:a16="http://schemas.microsoft.com/office/drawing/2014/main" id="{DE5CACEC-86E4-B297-20C5-E8D2BC33F9B5}"/>
              </a:ext>
            </a:extLst>
          </p:cNvPr>
          <p:cNvSpPr/>
          <p:nvPr/>
        </p:nvSpPr>
        <p:spPr>
          <a:xfrm>
            <a:off x="984604" y="5433356"/>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Alzheimer's</a:t>
            </a:r>
            <a:endParaRPr lang="en-US" sz="1458" dirty="0"/>
          </a:p>
        </p:txBody>
      </p:sp>
      <p:sp>
        <p:nvSpPr>
          <p:cNvPr id="33" name="Text 29">
            <a:extLst>
              <a:ext uri="{FF2B5EF4-FFF2-40B4-BE49-F238E27FC236}">
                <a16:creationId xmlns:a16="http://schemas.microsoft.com/office/drawing/2014/main" id="{977DBF88-17F2-F0B7-45C6-B6E2514358AB}"/>
              </a:ext>
            </a:extLst>
          </p:cNvPr>
          <p:cNvSpPr/>
          <p:nvPr/>
        </p:nvSpPr>
        <p:spPr>
          <a:xfrm>
            <a:off x="4607874" y="5433356"/>
            <a:ext cx="3237508"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0.98</a:t>
            </a:r>
            <a:endParaRPr lang="en-US" sz="1458" dirty="0"/>
          </a:p>
        </p:txBody>
      </p:sp>
      <p:sp>
        <p:nvSpPr>
          <p:cNvPr id="34" name="Text 30">
            <a:extLst>
              <a:ext uri="{FF2B5EF4-FFF2-40B4-BE49-F238E27FC236}">
                <a16:creationId xmlns:a16="http://schemas.microsoft.com/office/drawing/2014/main" id="{AAA2EE9F-304E-91CA-BB55-F9165B3C3EE1}"/>
              </a:ext>
            </a:extLst>
          </p:cNvPr>
          <p:cNvSpPr/>
          <p:nvPr/>
        </p:nvSpPr>
        <p:spPr>
          <a:xfrm>
            <a:off x="8227970" y="5433356"/>
            <a:ext cx="3240683" cy="300931"/>
          </a:xfrm>
          <a:prstGeom prst="rect">
            <a:avLst/>
          </a:prstGeom>
          <a:noFill/>
          <a:ln/>
        </p:spPr>
        <p:txBody>
          <a:bodyPr wrap="none" lIns="0" tIns="0" rIns="0" bIns="0" rtlCol="0" anchor="t"/>
          <a:lstStyle/>
          <a:p>
            <a:pPr>
              <a:lnSpc>
                <a:spcPts val="2333"/>
              </a:lnSpc>
            </a:pPr>
            <a:r>
              <a:rPr lang="en-US" sz="1458" dirty="0">
                <a:solidFill>
                  <a:srgbClr val="3C3939"/>
                </a:solidFill>
                <a:latin typeface="Roboto" pitchFamily="34" charset="0"/>
                <a:ea typeface="Roboto" pitchFamily="34" charset="-122"/>
                <a:cs typeface="Roboto" pitchFamily="34" charset="-120"/>
              </a:rPr>
              <a:t>0.87</a:t>
            </a:r>
            <a:endParaRPr lang="en-US" sz="1458" dirty="0"/>
          </a:p>
        </p:txBody>
      </p:sp>
    </p:spTree>
    <p:extLst>
      <p:ext uri="{BB962C8B-B14F-4D97-AF65-F5344CB8AC3E}">
        <p14:creationId xmlns:p14="http://schemas.microsoft.com/office/powerpoint/2010/main" val="342173259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8F77E4D-ADB1-BBCF-5A0A-BB2A929E7658}"/>
              </a:ext>
            </a:extLst>
          </p:cNvPr>
          <p:cNvSpPr/>
          <p:nvPr/>
        </p:nvSpPr>
        <p:spPr>
          <a:xfrm>
            <a:off x="477545" y="566023"/>
            <a:ext cx="10469761" cy="587871"/>
          </a:xfrm>
          <a:prstGeom prst="rect">
            <a:avLst/>
          </a:prstGeom>
          <a:noFill/>
          <a:ln/>
        </p:spPr>
        <p:txBody>
          <a:bodyPr wrap="none" lIns="0" tIns="0" rIns="0" bIns="0" rtlCol="0" anchor="t"/>
          <a:lstStyle/>
          <a:p>
            <a:pPr algn="ctr">
              <a:lnSpc>
                <a:spcPts val="3860"/>
              </a:lnSpc>
              <a:spcBef>
                <a:spcPct val="0"/>
              </a:spcBef>
            </a:pPr>
            <a:endParaRPr lang="en-US" sz="4000" b="1" dirty="0">
              <a:solidFill>
                <a:srgbClr val="404040"/>
              </a:solidFill>
              <a:latin typeface="Public Sans Bold"/>
              <a:sym typeface="More Sugar"/>
            </a:endParaRPr>
          </a:p>
        </p:txBody>
      </p:sp>
      <p:grpSp>
        <p:nvGrpSpPr>
          <p:cNvPr id="6" name="Group 2">
            <a:extLst>
              <a:ext uri="{FF2B5EF4-FFF2-40B4-BE49-F238E27FC236}">
                <a16:creationId xmlns:a16="http://schemas.microsoft.com/office/drawing/2014/main" id="{7CB7C193-1181-8F8D-F15E-0A121616B288}"/>
              </a:ext>
            </a:extLst>
          </p:cNvPr>
          <p:cNvGrpSpPr/>
          <p:nvPr/>
        </p:nvGrpSpPr>
        <p:grpSpPr>
          <a:xfrm>
            <a:off x="884255" y="3214598"/>
            <a:ext cx="1812054" cy="2945041"/>
            <a:chOff x="0" y="0"/>
            <a:chExt cx="639707" cy="1029619"/>
          </a:xfrm>
        </p:grpSpPr>
        <p:sp>
          <p:nvSpPr>
            <p:cNvPr id="56" name="Freeform 3">
              <a:extLst>
                <a:ext uri="{FF2B5EF4-FFF2-40B4-BE49-F238E27FC236}">
                  <a16:creationId xmlns:a16="http://schemas.microsoft.com/office/drawing/2014/main" id="{8E533041-E20E-332A-777E-0F254D7935A3}"/>
                </a:ext>
              </a:extLst>
            </p:cNvPr>
            <p:cNvSpPr/>
            <p:nvPr/>
          </p:nvSpPr>
          <p:spPr>
            <a:xfrm>
              <a:off x="0" y="0"/>
              <a:ext cx="639707" cy="1029619"/>
            </a:xfrm>
            <a:custGeom>
              <a:avLst/>
              <a:gdLst/>
              <a:ahLst/>
              <a:cxnLst/>
              <a:rect l="l" t="t" r="r" b="b"/>
              <a:pathLst>
                <a:path w="639707" h="1029619">
                  <a:moveTo>
                    <a:pt x="207121" y="0"/>
                  </a:moveTo>
                  <a:lnTo>
                    <a:pt x="432586" y="0"/>
                  </a:lnTo>
                  <a:cubicBezTo>
                    <a:pt x="546976" y="0"/>
                    <a:pt x="639707" y="92731"/>
                    <a:pt x="639707" y="207121"/>
                  </a:cubicBezTo>
                  <a:lnTo>
                    <a:pt x="639707" y="822498"/>
                  </a:lnTo>
                  <a:cubicBezTo>
                    <a:pt x="639707" y="936887"/>
                    <a:pt x="546976" y="1029619"/>
                    <a:pt x="432586" y="1029619"/>
                  </a:cubicBezTo>
                  <a:lnTo>
                    <a:pt x="207121" y="1029619"/>
                  </a:lnTo>
                  <a:cubicBezTo>
                    <a:pt x="92731" y="1029619"/>
                    <a:pt x="0" y="936887"/>
                    <a:pt x="0" y="822498"/>
                  </a:cubicBezTo>
                  <a:lnTo>
                    <a:pt x="0" y="207121"/>
                  </a:lnTo>
                  <a:cubicBezTo>
                    <a:pt x="0" y="92731"/>
                    <a:pt x="92731" y="0"/>
                    <a:pt x="207121" y="0"/>
                  </a:cubicBezTo>
                  <a:close/>
                </a:path>
              </a:pathLst>
            </a:custGeom>
            <a:solidFill>
              <a:srgbClr val="FFFFFF"/>
            </a:solidFill>
            <a:ln w="19050" cap="rnd">
              <a:solidFill>
                <a:srgbClr val="000000"/>
              </a:solidFill>
              <a:prstDash val="solid"/>
              <a:round/>
            </a:ln>
          </p:spPr>
        </p:sp>
        <p:sp>
          <p:nvSpPr>
            <p:cNvPr id="57" name="TextBox 4">
              <a:extLst>
                <a:ext uri="{FF2B5EF4-FFF2-40B4-BE49-F238E27FC236}">
                  <a16:creationId xmlns:a16="http://schemas.microsoft.com/office/drawing/2014/main" id="{683E3EBD-7CB9-8A7F-C6B5-9835E6B9A438}"/>
                </a:ext>
              </a:extLst>
            </p:cNvPr>
            <p:cNvSpPr txBox="1"/>
            <p:nvPr/>
          </p:nvSpPr>
          <p:spPr>
            <a:xfrm>
              <a:off x="0" y="-38100"/>
              <a:ext cx="639707" cy="1067719"/>
            </a:xfrm>
            <a:prstGeom prst="rect">
              <a:avLst/>
            </a:prstGeom>
          </p:spPr>
          <p:txBody>
            <a:bodyPr lIns="23462" tIns="23462" rIns="23462" bIns="23462" rtlCol="0" anchor="ctr"/>
            <a:lstStyle/>
            <a:p>
              <a:pPr algn="ctr">
                <a:lnSpc>
                  <a:spcPts val="1221"/>
                </a:lnSpc>
                <a:spcBef>
                  <a:spcPct val="0"/>
                </a:spcBef>
              </a:pPr>
              <a:endParaRPr sz="1688"/>
            </a:p>
          </p:txBody>
        </p:sp>
      </p:grpSp>
      <p:grpSp>
        <p:nvGrpSpPr>
          <p:cNvPr id="7" name="Group 5">
            <a:extLst>
              <a:ext uri="{FF2B5EF4-FFF2-40B4-BE49-F238E27FC236}">
                <a16:creationId xmlns:a16="http://schemas.microsoft.com/office/drawing/2014/main" id="{EF1F3704-B5E6-5234-1010-D98D9455D6EB}"/>
              </a:ext>
            </a:extLst>
          </p:cNvPr>
          <p:cNvGrpSpPr/>
          <p:nvPr/>
        </p:nvGrpSpPr>
        <p:grpSpPr>
          <a:xfrm>
            <a:off x="884255" y="2733142"/>
            <a:ext cx="1812054" cy="687343"/>
            <a:chOff x="0" y="0"/>
            <a:chExt cx="639707" cy="240303"/>
          </a:xfrm>
        </p:grpSpPr>
        <p:sp>
          <p:nvSpPr>
            <p:cNvPr id="54" name="Freeform 6">
              <a:extLst>
                <a:ext uri="{FF2B5EF4-FFF2-40B4-BE49-F238E27FC236}">
                  <a16:creationId xmlns:a16="http://schemas.microsoft.com/office/drawing/2014/main" id="{13320AF3-3308-A879-95F2-F29C9212E7FD}"/>
                </a:ext>
              </a:extLst>
            </p:cNvPr>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CFF4FF"/>
            </a:solidFill>
            <a:ln cap="rnd">
              <a:noFill/>
              <a:prstDash val="solid"/>
              <a:round/>
            </a:ln>
          </p:spPr>
        </p:sp>
        <p:sp>
          <p:nvSpPr>
            <p:cNvPr id="55" name="TextBox 7">
              <a:extLst>
                <a:ext uri="{FF2B5EF4-FFF2-40B4-BE49-F238E27FC236}">
                  <a16:creationId xmlns:a16="http://schemas.microsoft.com/office/drawing/2014/main" id="{4D71F03B-4B20-000C-7EE3-174EBA5E88D2}"/>
                </a:ext>
              </a:extLst>
            </p:cNvPr>
            <p:cNvSpPr txBox="1"/>
            <p:nvPr/>
          </p:nvSpPr>
          <p:spPr>
            <a:xfrm>
              <a:off x="0" y="-28575"/>
              <a:ext cx="639707" cy="268878"/>
            </a:xfrm>
            <a:prstGeom prst="rect">
              <a:avLst/>
            </a:prstGeom>
          </p:spPr>
          <p:txBody>
            <a:bodyPr lIns="23462" tIns="23462" rIns="23462" bIns="23462" rtlCol="0" anchor="ctr"/>
            <a:lstStyle/>
            <a:p>
              <a:pPr algn="ctr">
                <a:lnSpc>
                  <a:spcPts val="1256"/>
                </a:lnSpc>
                <a:spcBef>
                  <a:spcPct val="0"/>
                </a:spcBef>
              </a:pPr>
              <a:endParaRPr sz="1688"/>
            </a:p>
          </p:txBody>
        </p:sp>
      </p:grpSp>
      <p:grpSp>
        <p:nvGrpSpPr>
          <p:cNvPr id="8" name="Group 8">
            <a:extLst>
              <a:ext uri="{FF2B5EF4-FFF2-40B4-BE49-F238E27FC236}">
                <a16:creationId xmlns:a16="http://schemas.microsoft.com/office/drawing/2014/main" id="{571FBA5D-96F5-D6EB-5F90-114C7053062E}"/>
              </a:ext>
            </a:extLst>
          </p:cNvPr>
          <p:cNvGrpSpPr/>
          <p:nvPr/>
        </p:nvGrpSpPr>
        <p:grpSpPr>
          <a:xfrm>
            <a:off x="3990046" y="703384"/>
            <a:ext cx="4237782" cy="687521"/>
            <a:chOff x="0" y="0"/>
            <a:chExt cx="1540563" cy="247516"/>
          </a:xfrm>
        </p:grpSpPr>
        <p:sp>
          <p:nvSpPr>
            <p:cNvPr id="52" name="Freeform 9">
              <a:extLst>
                <a:ext uri="{FF2B5EF4-FFF2-40B4-BE49-F238E27FC236}">
                  <a16:creationId xmlns:a16="http://schemas.microsoft.com/office/drawing/2014/main" id="{35FE2869-22AB-5F68-53D9-8DEBF1EF4497}"/>
                </a:ext>
              </a:extLst>
            </p:cNvPr>
            <p:cNvSpPr/>
            <p:nvPr/>
          </p:nvSpPr>
          <p:spPr>
            <a:xfrm>
              <a:off x="0" y="0"/>
              <a:ext cx="1540563" cy="247516"/>
            </a:xfrm>
            <a:custGeom>
              <a:avLst/>
              <a:gdLst/>
              <a:ahLst/>
              <a:cxnLst/>
              <a:rect l="l" t="t" r="r" b="b"/>
              <a:pathLst>
                <a:path w="1540563" h="247516">
                  <a:moveTo>
                    <a:pt x="78020" y="0"/>
                  </a:moveTo>
                  <a:lnTo>
                    <a:pt x="1462543" y="0"/>
                  </a:lnTo>
                  <a:cubicBezTo>
                    <a:pt x="1505632" y="0"/>
                    <a:pt x="1540563" y="34931"/>
                    <a:pt x="1540563" y="78020"/>
                  </a:cubicBezTo>
                  <a:lnTo>
                    <a:pt x="1540563" y="169495"/>
                  </a:lnTo>
                  <a:cubicBezTo>
                    <a:pt x="1540563" y="212585"/>
                    <a:pt x="1505632" y="247516"/>
                    <a:pt x="1462543" y="247516"/>
                  </a:cubicBezTo>
                  <a:lnTo>
                    <a:pt x="78020" y="247516"/>
                  </a:lnTo>
                  <a:cubicBezTo>
                    <a:pt x="34931" y="247516"/>
                    <a:pt x="0" y="212585"/>
                    <a:pt x="0" y="169495"/>
                  </a:cubicBezTo>
                  <a:lnTo>
                    <a:pt x="0" y="78020"/>
                  </a:lnTo>
                  <a:cubicBezTo>
                    <a:pt x="0" y="34931"/>
                    <a:pt x="34931" y="0"/>
                    <a:pt x="78020" y="0"/>
                  </a:cubicBezTo>
                  <a:close/>
                </a:path>
              </a:pathLst>
            </a:custGeom>
            <a:solidFill>
              <a:srgbClr val="FFD9DE"/>
            </a:solidFill>
            <a:ln cap="rnd">
              <a:noFill/>
              <a:prstDash val="solid"/>
              <a:round/>
            </a:ln>
          </p:spPr>
        </p:sp>
        <p:sp>
          <p:nvSpPr>
            <p:cNvPr id="53" name="TextBox 10">
              <a:extLst>
                <a:ext uri="{FF2B5EF4-FFF2-40B4-BE49-F238E27FC236}">
                  <a16:creationId xmlns:a16="http://schemas.microsoft.com/office/drawing/2014/main" id="{2AE1BF72-AB61-7191-8236-AF5E0CBA8E99}"/>
                </a:ext>
              </a:extLst>
            </p:cNvPr>
            <p:cNvSpPr txBox="1"/>
            <p:nvPr/>
          </p:nvSpPr>
          <p:spPr>
            <a:xfrm>
              <a:off x="0" y="-28575"/>
              <a:ext cx="1540563" cy="276091"/>
            </a:xfrm>
            <a:prstGeom prst="rect">
              <a:avLst/>
            </a:prstGeom>
          </p:spPr>
          <p:txBody>
            <a:bodyPr lIns="22794" tIns="22794" rIns="22794" bIns="22794" rtlCol="0" anchor="ctr"/>
            <a:lstStyle/>
            <a:p>
              <a:pPr algn="ctr">
                <a:lnSpc>
                  <a:spcPts val="1256"/>
                </a:lnSpc>
                <a:spcBef>
                  <a:spcPct val="0"/>
                </a:spcBef>
              </a:pPr>
              <a:endParaRPr sz="1688"/>
            </a:p>
          </p:txBody>
        </p:sp>
      </p:grpSp>
      <p:grpSp>
        <p:nvGrpSpPr>
          <p:cNvPr id="46" name="Group 12">
            <a:extLst>
              <a:ext uri="{FF2B5EF4-FFF2-40B4-BE49-F238E27FC236}">
                <a16:creationId xmlns:a16="http://schemas.microsoft.com/office/drawing/2014/main" id="{53CD2020-9CBB-611A-147C-9661EA5BB10D}"/>
              </a:ext>
            </a:extLst>
          </p:cNvPr>
          <p:cNvGrpSpPr/>
          <p:nvPr/>
        </p:nvGrpSpPr>
        <p:grpSpPr>
          <a:xfrm>
            <a:off x="3038201" y="3214511"/>
            <a:ext cx="1812054" cy="2945041"/>
            <a:chOff x="0" y="0"/>
            <a:chExt cx="639707" cy="1029619"/>
          </a:xfrm>
        </p:grpSpPr>
        <p:sp>
          <p:nvSpPr>
            <p:cNvPr id="50" name="Freeform 13">
              <a:extLst>
                <a:ext uri="{FF2B5EF4-FFF2-40B4-BE49-F238E27FC236}">
                  <a16:creationId xmlns:a16="http://schemas.microsoft.com/office/drawing/2014/main" id="{1B37BD10-5BCC-B14C-62FE-D8F9567CCADC}"/>
                </a:ext>
              </a:extLst>
            </p:cNvPr>
            <p:cNvSpPr/>
            <p:nvPr/>
          </p:nvSpPr>
          <p:spPr>
            <a:xfrm>
              <a:off x="0" y="0"/>
              <a:ext cx="639707" cy="1029619"/>
            </a:xfrm>
            <a:custGeom>
              <a:avLst/>
              <a:gdLst/>
              <a:ahLst/>
              <a:cxnLst/>
              <a:rect l="l" t="t" r="r" b="b"/>
              <a:pathLst>
                <a:path w="639707" h="1029619">
                  <a:moveTo>
                    <a:pt x="213194" y="0"/>
                  </a:moveTo>
                  <a:lnTo>
                    <a:pt x="426513" y="0"/>
                  </a:lnTo>
                  <a:cubicBezTo>
                    <a:pt x="483055" y="0"/>
                    <a:pt x="537282" y="22461"/>
                    <a:pt x="577264" y="62443"/>
                  </a:cubicBezTo>
                  <a:cubicBezTo>
                    <a:pt x="617246" y="102425"/>
                    <a:pt x="639707" y="156652"/>
                    <a:pt x="639707" y="213194"/>
                  </a:cubicBezTo>
                  <a:lnTo>
                    <a:pt x="639707" y="816424"/>
                  </a:lnTo>
                  <a:cubicBezTo>
                    <a:pt x="639707" y="872967"/>
                    <a:pt x="617246" y="927194"/>
                    <a:pt x="577264" y="967175"/>
                  </a:cubicBezTo>
                  <a:cubicBezTo>
                    <a:pt x="537282" y="1007157"/>
                    <a:pt x="483055" y="1029619"/>
                    <a:pt x="426513" y="1029619"/>
                  </a:cubicBezTo>
                  <a:lnTo>
                    <a:pt x="213194" y="1029619"/>
                  </a:lnTo>
                  <a:cubicBezTo>
                    <a:pt x="156652" y="1029619"/>
                    <a:pt x="102425" y="1007157"/>
                    <a:pt x="62443" y="967175"/>
                  </a:cubicBezTo>
                  <a:cubicBezTo>
                    <a:pt x="22461" y="927194"/>
                    <a:pt x="0" y="872967"/>
                    <a:pt x="0" y="816424"/>
                  </a:cubicBezTo>
                  <a:lnTo>
                    <a:pt x="0" y="213194"/>
                  </a:lnTo>
                  <a:cubicBezTo>
                    <a:pt x="0" y="156652"/>
                    <a:pt x="22461" y="102425"/>
                    <a:pt x="62443" y="62443"/>
                  </a:cubicBezTo>
                  <a:cubicBezTo>
                    <a:pt x="102425" y="22461"/>
                    <a:pt x="156652" y="0"/>
                    <a:pt x="213194" y="0"/>
                  </a:cubicBezTo>
                  <a:close/>
                </a:path>
              </a:pathLst>
            </a:custGeom>
            <a:solidFill>
              <a:srgbClr val="FFFFFF"/>
            </a:solidFill>
            <a:ln w="19050" cap="rnd">
              <a:solidFill>
                <a:srgbClr val="000000"/>
              </a:solidFill>
              <a:prstDash val="solid"/>
              <a:round/>
            </a:ln>
          </p:spPr>
        </p:sp>
        <p:sp>
          <p:nvSpPr>
            <p:cNvPr id="51" name="TextBox 14">
              <a:extLst>
                <a:ext uri="{FF2B5EF4-FFF2-40B4-BE49-F238E27FC236}">
                  <a16:creationId xmlns:a16="http://schemas.microsoft.com/office/drawing/2014/main" id="{AC700D9F-9954-D0DC-2F48-AC8693D4E81F}"/>
                </a:ext>
              </a:extLst>
            </p:cNvPr>
            <p:cNvSpPr txBox="1"/>
            <p:nvPr/>
          </p:nvSpPr>
          <p:spPr>
            <a:xfrm>
              <a:off x="0" y="-28575"/>
              <a:ext cx="639707" cy="1058194"/>
            </a:xfrm>
            <a:prstGeom prst="rect">
              <a:avLst/>
            </a:prstGeom>
          </p:spPr>
          <p:txBody>
            <a:bodyPr lIns="22794" tIns="22794" rIns="22794" bIns="22794" rtlCol="0" anchor="ctr"/>
            <a:lstStyle/>
            <a:p>
              <a:pPr algn="ctr">
                <a:lnSpc>
                  <a:spcPts val="1256"/>
                </a:lnSpc>
                <a:spcBef>
                  <a:spcPct val="0"/>
                </a:spcBef>
              </a:pPr>
              <a:endParaRPr sz="1688"/>
            </a:p>
          </p:txBody>
        </p:sp>
      </p:grpSp>
      <p:grpSp>
        <p:nvGrpSpPr>
          <p:cNvPr id="47" name="Group 15">
            <a:extLst>
              <a:ext uri="{FF2B5EF4-FFF2-40B4-BE49-F238E27FC236}">
                <a16:creationId xmlns:a16="http://schemas.microsoft.com/office/drawing/2014/main" id="{1FEF62A6-16A2-25A6-BF57-EBB3A400E356}"/>
              </a:ext>
            </a:extLst>
          </p:cNvPr>
          <p:cNvGrpSpPr/>
          <p:nvPr/>
        </p:nvGrpSpPr>
        <p:grpSpPr>
          <a:xfrm>
            <a:off x="3038201" y="2733057"/>
            <a:ext cx="1812054" cy="687343"/>
            <a:chOff x="0" y="0"/>
            <a:chExt cx="639707" cy="240303"/>
          </a:xfrm>
        </p:grpSpPr>
        <p:sp>
          <p:nvSpPr>
            <p:cNvPr id="48" name="Freeform 16">
              <a:extLst>
                <a:ext uri="{FF2B5EF4-FFF2-40B4-BE49-F238E27FC236}">
                  <a16:creationId xmlns:a16="http://schemas.microsoft.com/office/drawing/2014/main" id="{E7CCA416-37D0-6C96-8CDE-CE6418606D83}"/>
                </a:ext>
              </a:extLst>
            </p:cNvPr>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E3E5FF"/>
            </a:solidFill>
            <a:ln cap="rnd">
              <a:noFill/>
              <a:prstDash val="solid"/>
              <a:round/>
            </a:ln>
          </p:spPr>
        </p:sp>
        <p:sp>
          <p:nvSpPr>
            <p:cNvPr id="49" name="TextBox 17">
              <a:extLst>
                <a:ext uri="{FF2B5EF4-FFF2-40B4-BE49-F238E27FC236}">
                  <a16:creationId xmlns:a16="http://schemas.microsoft.com/office/drawing/2014/main" id="{3C870AE4-A3E6-1BF4-80C2-1F1009E734ED}"/>
                </a:ext>
              </a:extLst>
            </p:cNvPr>
            <p:cNvSpPr txBox="1"/>
            <p:nvPr/>
          </p:nvSpPr>
          <p:spPr>
            <a:xfrm>
              <a:off x="0" y="-28575"/>
              <a:ext cx="639707" cy="268878"/>
            </a:xfrm>
            <a:prstGeom prst="rect">
              <a:avLst/>
            </a:prstGeom>
          </p:spPr>
          <p:txBody>
            <a:bodyPr lIns="22794" tIns="22794" rIns="22794" bIns="22794" rtlCol="0" anchor="ctr"/>
            <a:lstStyle/>
            <a:p>
              <a:pPr algn="ctr">
                <a:lnSpc>
                  <a:spcPts val="1294"/>
                </a:lnSpc>
                <a:spcBef>
                  <a:spcPct val="0"/>
                </a:spcBef>
              </a:pPr>
              <a:endParaRPr sz="1688"/>
            </a:p>
          </p:txBody>
        </p:sp>
      </p:grpSp>
      <p:grpSp>
        <p:nvGrpSpPr>
          <p:cNvPr id="40" name="Group 19">
            <a:extLst>
              <a:ext uri="{FF2B5EF4-FFF2-40B4-BE49-F238E27FC236}">
                <a16:creationId xmlns:a16="http://schemas.microsoft.com/office/drawing/2014/main" id="{486E44A8-52B5-AB19-F05B-59083AC99802}"/>
              </a:ext>
            </a:extLst>
          </p:cNvPr>
          <p:cNvGrpSpPr/>
          <p:nvPr/>
        </p:nvGrpSpPr>
        <p:grpSpPr>
          <a:xfrm>
            <a:off x="5128480" y="3213955"/>
            <a:ext cx="1812054" cy="2945041"/>
            <a:chOff x="0" y="0"/>
            <a:chExt cx="639707" cy="1029619"/>
          </a:xfrm>
        </p:grpSpPr>
        <p:sp>
          <p:nvSpPr>
            <p:cNvPr id="44" name="Freeform 20">
              <a:extLst>
                <a:ext uri="{FF2B5EF4-FFF2-40B4-BE49-F238E27FC236}">
                  <a16:creationId xmlns:a16="http://schemas.microsoft.com/office/drawing/2014/main" id="{2B8B5C2E-F3E1-2DAF-A30F-3B7A4B03559E}"/>
                </a:ext>
              </a:extLst>
            </p:cNvPr>
            <p:cNvSpPr/>
            <p:nvPr/>
          </p:nvSpPr>
          <p:spPr>
            <a:xfrm>
              <a:off x="0" y="0"/>
              <a:ext cx="639707" cy="1029619"/>
            </a:xfrm>
            <a:custGeom>
              <a:avLst/>
              <a:gdLst/>
              <a:ahLst/>
              <a:cxnLst/>
              <a:rect l="l" t="t" r="r" b="b"/>
              <a:pathLst>
                <a:path w="639707" h="1029619">
                  <a:moveTo>
                    <a:pt x="213194" y="0"/>
                  </a:moveTo>
                  <a:lnTo>
                    <a:pt x="426513" y="0"/>
                  </a:lnTo>
                  <a:cubicBezTo>
                    <a:pt x="483055" y="0"/>
                    <a:pt x="537282" y="22461"/>
                    <a:pt x="577264" y="62443"/>
                  </a:cubicBezTo>
                  <a:cubicBezTo>
                    <a:pt x="617246" y="102425"/>
                    <a:pt x="639707" y="156652"/>
                    <a:pt x="639707" y="213194"/>
                  </a:cubicBezTo>
                  <a:lnTo>
                    <a:pt x="639707" y="816424"/>
                  </a:lnTo>
                  <a:cubicBezTo>
                    <a:pt x="639707" y="872967"/>
                    <a:pt x="617246" y="927194"/>
                    <a:pt x="577264" y="967175"/>
                  </a:cubicBezTo>
                  <a:cubicBezTo>
                    <a:pt x="537282" y="1007157"/>
                    <a:pt x="483055" y="1029619"/>
                    <a:pt x="426513" y="1029619"/>
                  </a:cubicBezTo>
                  <a:lnTo>
                    <a:pt x="213194" y="1029619"/>
                  </a:lnTo>
                  <a:cubicBezTo>
                    <a:pt x="156652" y="1029619"/>
                    <a:pt x="102425" y="1007157"/>
                    <a:pt x="62443" y="967175"/>
                  </a:cubicBezTo>
                  <a:cubicBezTo>
                    <a:pt x="22461" y="927194"/>
                    <a:pt x="0" y="872967"/>
                    <a:pt x="0" y="816424"/>
                  </a:cubicBezTo>
                  <a:lnTo>
                    <a:pt x="0" y="213194"/>
                  </a:lnTo>
                  <a:cubicBezTo>
                    <a:pt x="0" y="156652"/>
                    <a:pt x="22461" y="102425"/>
                    <a:pt x="62443" y="62443"/>
                  </a:cubicBezTo>
                  <a:cubicBezTo>
                    <a:pt x="102425" y="22461"/>
                    <a:pt x="156652" y="0"/>
                    <a:pt x="213194" y="0"/>
                  </a:cubicBezTo>
                  <a:close/>
                </a:path>
              </a:pathLst>
            </a:custGeom>
            <a:solidFill>
              <a:srgbClr val="FFFFFF"/>
            </a:solidFill>
            <a:ln w="19050" cap="rnd">
              <a:solidFill>
                <a:srgbClr val="000000"/>
              </a:solidFill>
              <a:prstDash val="solid"/>
              <a:round/>
            </a:ln>
          </p:spPr>
        </p:sp>
        <p:sp>
          <p:nvSpPr>
            <p:cNvPr id="45" name="TextBox 21">
              <a:extLst>
                <a:ext uri="{FF2B5EF4-FFF2-40B4-BE49-F238E27FC236}">
                  <a16:creationId xmlns:a16="http://schemas.microsoft.com/office/drawing/2014/main" id="{078A3327-B93C-5A87-2081-1DA2294E3A98}"/>
                </a:ext>
              </a:extLst>
            </p:cNvPr>
            <p:cNvSpPr txBox="1"/>
            <p:nvPr/>
          </p:nvSpPr>
          <p:spPr>
            <a:xfrm>
              <a:off x="0" y="-28575"/>
              <a:ext cx="639707" cy="1058194"/>
            </a:xfrm>
            <a:prstGeom prst="rect">
              <a:avLst/>
            </a:prstGeom>
          </p:spPr>
          <p:txBody>
            <a:bodyPr lIns="22794" tIns="22794" rIns="22794" bIns="22794" rtlCol="0" anchor="ctr"/>
            <a:lstStyle/>
            <a:p>
              <a:pPr algn="ctr">
                <a:lnSpc>
                  <a:spcPts val="1256"/>
                </a:lnSpc>
                <a:spcBef>
                  <a:spcPct val="0"/>
                </a:spcBef>
              </a:pPr>
              <a:endParaRPr sz="1688"/>
            </a:p>
          </p:txBody>
        </p:sp>
      </p:grpSp>
      <p:grpSp>
        <p:nvGrpSpPr>
          <p:cNvPr id="41" name="Group 22">
            <a:extLst>
              <a:ext uri="{FF2B5EF4-FFF2-40B4-BE49-F238E27FC236}">
                <a16:creationId xmlns:a16="http://schemas.microsoft.com/office/drawing/2014/main" id="{58F78C5E-DDEB-77C5-9323-0A2FFE4BA50A}"/>
              </a:ext>
            </a:extLst>
          </p:cNvPr>
          <p:cNvGrpSpPr/>
          <p:nvPr/>
        </p:nvGrpSpPr>
        <p:grpSpPr>
          <a:xfrm>
            <a:off x="5128480" y="2732501"/>
            <a:ext cx="1812054" cy="687343"/>
            <a:chOff x="0" y="0"/>
            <a:chExt cx="639707" cy="240303"/>
          </a:xfrm>
        </p:grpSpPr>
        <p:sp>
          <p:nvSpPr>
            <p:cNvPr id="42" name="Freeform 23">
              <a:extLst>
                <a:ext uri="{FF2B5EF4-FFF2-40B4-BE49-F238E27FC236}">
                  <a16:creationId xmlns:a16="http://schemas.microsoft.com/office/drawing/2014/main" id="{791CD5C6-CB17-48D4-AB9A-A3C96F66A37E}"/>
                </a:ext>
              </a:extLst>
            </p:cNvPr>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D6F1E4"/>
            </a:solidFill>
            <a:ln cap="rnd">
              <a:noFill/>
              <a:prstDash val="solid"/>
              <a:round/>
            </a:ln>
          </p:spPr>
        </p:sp>
        <p:sp>
          <p:nvSpPr>
            <p:cNvPr id="43" name="TextBox 24">
              <a:extLst>
                <a:ext uri="{FF2B5EF4-FFF2-40B4-BE49-F238E27FC236}">
                  <a16:creationId xmlns:a16="http://schemas.microsoft.com/office/drawing/2014/main" id="{7DAA76E0-632B-BFF9-E075-8A86DD2C2AB4}"/>
                </a:ext>
              </a:extLst>
            </p:cNvPr>
            <p:cNvSpPr txBox="1"/>
            <p:nvPr/>
          </p:nvSpPr>
          <p:spPr>
            <a:xfrm>
              <a:off x="0" y="-28575"/>
              <a:ext cx="639707" cy="268878"/>
            </a:xfrm>
            <a:prstGeom prst="rect">
              <a:avLst/>
            </a:prstGeom>
          </p:spPr>
          <p:txBody>
            <a:bodyPr lIns="22794" tIns="22794" rIns="22794" bIns="22794" rtlCol="0" anchor="ctr"/>
            <a:lstStyle/>
            <a:p>
              <a:pPr algn="ctr">
                <a:lnSpc>
                  <a:spcPts val="1294"/>
                </a:lnSpc>
                <a:spcBef>
                  <a:spcPct val="0"/>
                </a:spcBef>
              </a:pPr>
              <a:endParaRPr sz="1688"/>
            </a:p>
          </p:txBody>
        </p:sp>
      </p:grpSp>
      <p:grpSp>
        <p:nvGrpSpPr>
          <p:cNvPr id="11" name="Group 25">
            <a:extLst>
              <a:ext uri="{FF2B5EF4-FFF2-40B4-BE49-F238E27FC236}">
                <a16:creationId xmlns:a16="http://schemas.microsoft.com/office/drawing/2014/main" id="{49ECB7B3-E544-1868-C91C-67EA8BBB7244}"/>
              </a:ext>
            </a:extLst>
          </p:cNvPr>
          <p:cNvGrpSpPr/>
          <p:nvPr/>
        </p:nvGrpSpPr>
        <p:grpSpPr>
          <a:xfrm>
            <a:off x="7220673" y="3182523"/>
            <a:ext cx="1812054" cy="2945041"/>
            <a:chOff x="0" y="0"/>
            <a:chExt cx="639707" cy="1029619"/>
          </a:xfrm>
        </p:grpSpPr>
        <p:sp>
          <p:nvSpPr>
            <p:cNvPr id="38" name="Freeform 26">
              <a:extLst>
                <a:ext uri="{FF2B5EF4-FFF2-40B4-BE49-F238E27FC236}">
                  <a16:creationId xmlns:a16="http://schemas.microsoft.com/office/drawing/2014/main" id="{C624CA50-39E4-B2AE-D70D-06F507E75ED1}"/>
                </a:ext>
              </a:extLst>
            </p:cNvPr>
            <p:cNvSpPr/>
            <p:nvPr/>
          </p:nvSpPr>
          <p:spPr>
            <a:xfrm>
              <a:off x="0" y="0"/>
              <a:ext cx="639707" cy="1029619"/>
            </a:xfrm>
            <a:custGeom>
              <a:avLst/>
              <a:gdLst/>
              <a:ahLst/>
              <a:cxnLst/>
              <a:rect l="l" t="t" r="r" b="b"/>
              <a:pathLst>
                <a:path w="639707" h="1029619">
                  <a:moveTo>
                    <a:pt x="207121" y="0"/>
                  </a:moveTo>
                  <a:lnTo>
                    <a:pt x="432586" y="0"/>
                  </a:lnTo>
                  <a:cubicBezTo>
                    <a:pt x="546976" y="0"/>
                    <a:pt x="639707" y="92731"/>
                    <a:pt x="639707" y="207121"/>
                  </a:cubicBezTo>
                  <a:lnTo>
                    <a:pt x="639707" y="822498"/>
                  </a:lnTo>
                  <a:cubicBezTo>
                    <a:pt x="639707" y="936887"/>
                    <a:pt x="546976" y="1029619"/>
                    <a:pt x="432586" y="1029619"/>
                  </a:cubicBezTo>
                  <a:lnTo>
                    <a:pt x="207121" y="1029619"/>
                  </a:lnTo>
                  <a:cubicBezTo>
                    <a:pt x="92731" y="1029619"/>
                    <a:pt x="0" y="936887"/>
                    <a:pt x="0" y="822498"/>
                  </a:cubicBezTo>
                  <a:lnTo>
                    <a:pt x="0" y="207121"/>
                  </a:lnTo>
                  <a:cubicBezTo>
                    <a:pt x="0" y="92731"/>
                    <a:pt x="92731" y="0"/>
                    <a:pt x="207121" y="0"/>
                  </a:cubicBezTo>
                  <a:close/>
                </a:path>
              </a:pathLst>
            </a:custGeom>
            <a:solidFill>
              <a:srgbClr val="FFFFFF"/>
            </a:solidFill>
            <a:ln w="19050" cap="rnd">
              <a:solidFill>
                <a:srgbClr val="000000"/>
              </a:solidFill>
              <a:prstDash val="solid"/>
              <a:round/>
            </a:ln>
          </p:spPr>
        </p:sp>
        <p:sp>
          <p:nvSpPr>
            <p:cNvPr id="39" name="TextBox 27">
              <a:extLst>
                <a:ext uri="{FF2B5EF4-FFF2-40B4-BE49-F238E27FC236}">
                  <a16:creationId xmlns:a16="http://schemas.microsoft.com/office/drawing/2014/main" id="{B4494B31-D53D-6D7C-64CF-646513EDA844}"/>
                </a:ext>
              </a:extLst>
            </p:cNvPr>
            <p:cNvSpPr txBox="1"/>
            <p:nvPr/>
          </p:nvSpPr>
          <p:spPr>
            <a:xfrm>
              <a:off x="0" y="-38100"/>
              <a:ext cx="639707" cy="1067719"/>
            </a:xfrm>
            <a:prstGeom prst="rect">
              <a:avLst/>
            </a:prstGeom>
          </p:spPr>
          <p:txBody>
            <a:bodyPr lIns="23462" tIns="23462" rIns="23462" bIns="23462" rtlCol="0" anchor="ctr"/>
            <a:lstStyle/>
            <a:p>
              <a:pPr algn="ctr">
                <a:lnSpc>
                  <a:spcPts val="1221"/>
                </a:lnSpc>
                <a:spcBef>
                  <a:spcPct val="0"/>
                </a:spcBef>
              </a:pPr>
              <a:endParaRPr sz="1688"/>
            </a:p>
          </p:txBody>
        </p:sp>
      </p:grpSp>
      <p:grpSp>
        <p:nvGrpSpPr>
          <p:cNvPr id="12" name="Group 28">
            <a:extLst>
              <a:ext uri="{FF2B5EF4-FFF2-40B4-BE49-F238E27FC236}">
                <a16:creationId xmlns:a16="http://schemas.microsoft.com/office/drawing/2014/main" id="{BBC2989E-03DB-25A9-E0FB-925F47539BC5}"/>
              </a:ext>
            </a:extLst>
          </p:cNvPr>
          <p:cNvGrpSpPr/>
          <p:nvPr/>
        </p:nvGrpSpPr>
        <p:grpSpPr>
          <a:xfrm>
            <a:off x="7241082" y="2732674"/>
            <a:ext cx="1812054" cy="687343"/>
            <a:chOff x="0" y="0"/>
            <a:chExt cx="639707" cy="240303"/>
          </a:xfrm>
        </p:grpSpPr>
        <p:sp>
          <p:nvSpPr>
            <p:cNvPr id="36" name="Freeform 29">
              <a:extLst>
                <a:ext uri="{FF2B5EF4-FFF2-40B4-BE49-F238E27FC236}">
                  <a16:creationId xmlns:a16="http://schemas.microsoft.com/office/drawing/2014/main" id="{E929A080-7E43-90C7-C8A9-289D8799F606}"/>
                </a:ext>
              </a:extLst>
            </p:cNvPr>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FFECC1"/>
            </a:solidFill>
            <a:ln cap="rnd">
              <a:noFill/>
              <a:prstDash val="solid"/>
              <a:round/>
            </a:ln>
          </p:spPr>
        </p:sp>
        <p:sp>
          <p:nvSpPr>
            <p:cNvPr id="37" name="TextBox 30">
              <a:extLst>
                <a:ext uri="{FF2B5EF4-FFF2-40B4-BE49-F238E27FC236}">
                  <a16:creationId xmlns:a16="http://schemas.microsoft.com/office/drawing/2014/main" id="{E6E2FC1B-4B05-F57A-111B-01D3F6E748A6}"/>
                </a:ext>
              </a:extLst>
            </p:cNvPr>
            <p:cNvSpPr txBox="1"/>
            <p:nvPr/>
          </p:nvSpPr>
          <p:spPr>
            <a:xfrm>
              <a:off x="0" y="-28575"/>
              <a:ext cx="639707" cy="268878"/>
            </a:xfrm>
            <a:prstGeom prst="rect">
              <a:avLst/>
            </a:prstGeom>
          </p:spPr>
          <p:txBody>
            <a:bodyPr lIns="23462" tIns="23462" rIns="23462" bIns="23462" rtlCol="0" anchor="ctr"/>
            <a:lstStyle/>
            <a:p>
              <a:pPr algn="ctr">
                <a:lnSpc>
                  <a:spcPts val="1294"/>
                </a:lnSpc>
                <a:spcBef>
                  <a:spcPct val="0"/>
                </a:spcBef>
              </a:pPr>
              <a:endParaRPr sz="1688"/>
            </a:p>
          </p:txBody>
        </p:sp>
      </p:grpSp>
      <p:grpSp>
        <p:nvGrpSpPr>
          <p:cNvPr id="13" name="Group 31">
            <a:extLst>
              <a:ext uri="{FF2B5EF4-FFF2-40B4-BE49-F238E27FC236}">
                <a16:creationId xmlns:a16="http://schemas.microsoft.com/office/drawing/2014/main" id="{F16851B9-5A0E-A6D5-7F30-11C64BD13C7D}"/>
              </a:ext>
            </a:extLst>
          </p:cNvPr>
          <p:cNvGrpSpPr/>
          <p:nvPr/>
        </p:nvGrpSpPr>
        <p:grpSpPr>
          <a:xfrm>
            <a:off x="9400665" y="3213955"/>
            <a:ext cx="1812054" cy="2945041"/>
            <a:chOff x="0" y="0"/>
            <a:chExt cx="639707" cy="1029619"/>
          </a:xfrm>
        </p:grpSpPr>
        <p:sp>
          <p:nvSpPr>
            <p:cNvPr id="34" name="Freeform 32">
              <a:extLst>
                <a:ext uri="{FF2B5EF4-FFF2-40B4-BE49-F238E27FC236}">
                  <a16:creationId xmlns:a16="http://schemas.microsoft.com/office/drawing/2014/main" id="{E0D7C227-DEF8-2DBE-4EF5-59C92D05FF4E}"/>
                </a:ext>
              </a:extLst>
            </p:cNvPr>
            <p:cNvSpPr/>
            <p:nvPr/>
          </p:nvSpPr>
          <p:spPr>
            <a:xfrm>
              <a:off x="0" y="0"/>
              <a:ext cx="639707" cy="1029619"/>
            </a:xfrm>
            <a:custGeom>
              <a:avLst/>
              <a:gdLst/>
              <a:ahLst/>
              <a:cxnLst/>
              <a:rect l="l" t="t" r="r" b="b"/>
              <a:pathLst>
                <a:path w="639707" h="1029619">
                  <a:moveTo>
                    <a:pt x="207121" y="0"/>
                  </a:moveTo>
                  <a:lnTo>
                    <a:pt x="432586" y="0"/>
                  </a:lnTo>
                  <a:cubicBezTo>
                    <a:pt x="546976" y="0"/>
                    <a:pt x="639707" y="92731"/>
                    <a:pt x="639707" y="207121"/>
                  </a:cubicBezTo>
                  <a:lnTo>
                    <a:pt x="639707" y="822498"/>
                  </a:lnTo>
                  <a:cubicBezTo>
                    <a:pt x="639707" y="936887"/>
                    <a:pt x="546976" y="1029619"/>
                    <a:pt x="432586" y="1029619"/>
                  </a:cubicBezTo>
                  <a:lnTo>
                    <a:pt x="207121" y="1029619"/>
                  </a:lnTo>
                  <a:cubicBezTo>
                    <a:pt x="92731" y="1029619"/>
                    <a:pt x="0" y="936887"/>
                    <a:pt x="0" y="822498"/>
                  </a:cubicBezTo>
                  <a:lnTo>
                    <a:pt x="0" y="207121"/>
                  </a:lnTo>
                  <a:cubicBezTo>
                    <a:pt x="0" y="92731"/>
                    <a:pt x="92731" y="0"/>
                    <a:pt x="207121" y="0"/>
                  </a:cubicBezTo>
                  <a:close/>
                </a:path>
              </a:pathLst>
            </a:custGeom>
            <a:solidFill>
              <a:srgbClr val="FFFFFF"/>
            </a:solidFill>
            <a:ln w="19050" cap="rnd">
              <a:solidFill>
                <a:srgbClr val="000000"/>
              </a:solidFill>
              <a:prstDash val="solid"/>
              <a:round/>
            </a:ln>
          </p:spPr>
          <p:txBody>
            <a:bodyPr/>
            <a:lstStyle/>
            <a:p>
              <a:endParaRPr lang="en-GB" dirty="0"/>
            </a:p>
          </p:txBody>
        </p:sp>
        <p:sp>
          <p:nvSpPr>
            <p:cNvPr id="35" name="TextBox 33">
              <a:extLst>
                <a:ext uri="{FF2B5EF4-FFF2-40B4-BE49-F238E27FC236}">
                  <a16:creationId xmlns:a16="http://schemas.microsoft.com/office/drawing/2014/main" id="{6F29876F-B236-9BBD-3DE4-ECD958FC1A7C}"/>
                </a:ext>
              </a:extLst>
            </p:cNvPr>
            <p:cNvSpPr txBox="1"/>
            <p:nvPr/>
          </p:nvSpPr>
          <p:spPr>
            <a:xfrm>
              <a:off x="0" y="-28575"/>
              <a:ext cx="639707" cy="1058194"/>
            </a:xfrm>
            <a:prstGeom prst="rect">
              <a:avLst/>
            </a:prstGeom>
          </p:spPr>
          <p:txBody>
            <a:bodyPr lIns="23462" tIns="23462" rIns="23462" bIns="23462" rtlCol="0" anchor="ctr"/>
            <a:lstStyle/>
            <a:p>
              <a:pPr algn="ctr">
                <a:lnSpc>
                  <a:spcPts val="1256"/>
                </a:lnSpc>
                <a:spcBef>
                  <a:spcPct val="0"/>
                </a:spcBef>
              </a:pPr>
              <a:endParaRPr sz="1688"/>
            </a:p>
          </p:txBody>
        </p:sp>
      </p:grpSp>
      <p:grpSp>
        <p:nvGrpSpPr>
          <p:cNvPr id="14" name="Group 34">
            <a:extLst>
              <a:ext uri="{FF2B5EF4-FFF2-40B4-BE49-F238E27FC236}">
                <a16:creationId xmlns:a16="http://schemas.microsoft.com/office/drawing/2014/main" id="{D49387E4-1DE4-615B-F538-9A4B0861D262}"/>
              </a:ext>
            </a:extLst>
          </p:cNvPr>
          <p:cNvGrpSpPr/>
          <p:nvPr/>
        </p:nvGrpSpPr>
        <p:grpSpPr>
          <a:xfrm>
            <a:off x="9361712" y="2732501"/>
            <a:ext cx="1812054" cy="687343"/>
            <a:chOff x="0" y="0"/>
            <a:chExt cx="639707" cy="240303"/>
          </a:xfrm>
        </p:grpSpPr>
        <p:sp>
          <p:nvSpPr>
            <p:cNvPr id="32" name="Freeform 35">
              <a:extLst>
                <a:ext uri="{FF2B5EF4-FFF2-40B4-BE49-F238E27FC236}">
                  <a16:creationId xmlns:a16="http://schemas.microsoft.com/office/drawing/2014/main" id="{0E69F974-9B5E-4BDC-ACD7-61A7116EFCBB}"/>
                </a:ext>
              </a:extLst>
            </p:cNvPr>
            <p:cNvSpPr/>
            <p:nvPr/>
          </p:nvSpPr>
          <p:spPr>
            <a:xfrm>
              <a:off x="0" y="0"/>
              <a:ext cx="639707" cy="240303"/>
            </a:xfrm>
            <a:custGeom>
              <a:avLst/>
              <a:gdLst/>
              <a:ahLst/>
              <a:cxnLst/>
              <a:rect l="l" t="t" r="r" b="b"/>
              <a:pathLst>
                <a:path w="639707" h="240303">
                  <a:moveTo>
                    <a:pt x="120151" y="0"/>
                  </a:moveTo>
                  <a:lnTo>
                    <a:pt x="519556" y="0"/>
                  </a:lnTo>
                  <a:cubicBezTo>
                    <a:pt x="551422" y="0"/>
                    <a:pt x="581983" y="12659"/>
                    <a:pt x="604515" y="35192"/>
                  </a:cubicBezTo>
                  <a:cubicBezTo>
                    <a:pt x="627048" y="57724"/>
                    <a:pt x="639707" y="88285"/>
                    <a:pt x="639707" y="120151"/>
                  </a:cubicBezTo>
                  <a:lnTo>
                    <a:pt x="639707" y="120151"/>
                  </a:lnTo>
                  <a:cubicBezTo>
                    <a:pt x="639707" y="152017"/>
                    <a:pt x="627048" y="182578"/>
                    <a:pt x="604515" y="205111"/>
                  </a:cubicBezTo>
                  <a:cubicBezTo>
                    <a:pt x="581983" y="227644"/>
                    <a:pt x="551422" y="240303"/>
                    <a:pt x="519556" y="240303"/>
                  </a:cubicBezTo>
                  <a:lnTo>
                    <a:pt x="120151" y="240303"/>
                  </a:lnTo>
                  <a:cubicBezTo>
                    <a:pt x="88285" y="240303"/>
                    <a:pt x="57724" y="227644"/>
                    <a:pt x="35192" y="205111"/>
                  </a:cubicBezTo>
                  <a:cubicBezTo>
                    <a:pt x="12659" y="182578"/>
                    <a:pt x="0" y="152017"/>
                    <a:pt x="0" y="120151"/>
                  </a:cubicBezTo>
                  <a:lnTo>
                    <a:pt x="0" y="120151"/>
                  </a:lnTo>
                  <a:cubicBezTo>
                    <a:pt x="0" y="88285"/>
                    <a:pt x="12659" y="57724"/>
                    <a:pt x="35192" y="35192"/>
                  </a:cubicBezTo>
                  <a:cubicBezTo>
                    <a:pt x="57724" y="12659"/>
                    <a:pt x="88285" y="0"/>
                    <a:pt x="120151" y="0"/>
                  </a:cubicBezTo>
                  <a:close/>
                </a:path>
              </a:pathLst>
            </a:custGeom>
            <a:solidFill>
              <a:srgbClr val="FFD9B6"/>
            </a:solidFill>
            <a:ln cap="rnd">
              <a:noFill/>
              <a:prstDash val="solid"/>
              <a:round/>
            </a:ln>
          </p:spPr>
        </p:sp>
        <p:sp>
          <p:nvSpPr>
            <p:cNvPr id="33" name="TextBox 36">
              <a:extLst>
                <a:ext uri="{FF2B5EF4-FFF2-40B4-BE49-F238E27FC236}">
                  <a16:creationId xmlns:a16="http://schemas.microsoft.com/office/drawing/2014/main" id="{522BFA30-F4C0-0548-9A9F-6A58CEF582E6}"/>
                </a:ext>
              </a:extLst>
            </p:cNvPr>
            <p:cNvSpPr txBox="1"/>
            <p:nvPr/>
          </p:nvSpPr>
          <p:spPr>
            <a:xfrm>
              <a:off x="0" y="-28575"/>
              <a:ext cx="639707" cy="268878"/>
            </a:xfrm>
            <a:prstGeom prst="rect">
              <a:avLst/>
            </a:prstGeom>
          </p:spPr>
          <p:txBody>
            <a:bodyPr lIns="23462" tIns="23462" rIns="23462" bIns="23462" rtlCol="0" anchor="ctr"/>
            <a:lstStyle/>
            <a:p>
              <a:pPr algn="ctr">
                <a:lnSpc>
                  <a:spcPts val="1294"/>
                </a:lnSpc>
                <a:spcBef>
                  <a:spcPct val="0"/>
                </a:spcBef>
              </a:pPr>
              <a:endParaRPr sz="1688"/>
            </a:p>
          </p:txBody>
        </p:sp>
      </p:grpSp>
      <p:sp>
        <p:nvSpPr>
          <p:cNvPr id="15" name="AutoShape 37">
            <a:extLst>
              <a:ext uri="{FF2B5EF4-FFF2-40B4-BE49-F238E27FC236}">
                <a16:creationId xmlns:a16="http://schemas.microsoft.com/office/drawing/2014/main" id="{73979F22-AAEB-450C-513F-347A5077E310}"/>
              </a:ext>
            </a:extLst>
          </p:cNvPr>
          <p:cNvSpPr/>
          <p:nvPr/>
        </p:nvSpPr>
        <p:spPr>
          <a:xfrm flipH="1">
            <a:off x="1779288" y="2024740"/>
            <a:ext cx="8488453" cy="0"/>
          </a:xfrm>
          <a:prstGeom prst="line">
            <a:avLst/>
          </a:prstGeom>
          <a:ln w="19050" cap="flat">
            <a:solidFill>
              <a:srgbClr val="000000"/>
            </a:solidFill>
            <a:prstDash val="solid"/>
            <a:headEnd type="none" w="sm" len="sm"/>
            <a:tailEnd type="none" w="sm" len="sm"/>
          </a:ln>
        </p:spPr>
      </p:sp>
      <p:sp>
        <p:nvSpPr>
          <p:cNvPr id="16" name="AutoShape 38">
            <a:extLst>
              <a:ext uri="{FF2B5EF4-FFF2-40B4-BE49-F238E27FC236}">
                <a16:creationId xmlns:a16="http://schemas.microsoft.com/office/drawing/2014/main" id="{FAAB9529-187C-1621-70FD-0473F2ABF6C2}"/>
              </a:ext>
            </a:extLst>
          </p:cNvPr>
          <p:cNvSpPr/>
          <p:nvPr/>
        </p:nvSpPr>
        <p:spPr>
          <a:xfrm>
            <a:off x="1779288" y="2024739"/>
            <a:ext cx="10995" cy="708404"/>
          </a:xfrm>
          <a:prstGeom prst="line">
            <a:avLst/>
          </a:prstGeom>
          <a:ln w="19050" cap="flat">
            <a:solidFill>
              <a:srgbClr val="000000"/>
            </a:solidFill>
            <a:prstDash val="solid"/>
            <a:headEnd type="none" w="sm" len="sm"/>
            <a:tailEnd type="oval" w="lg" len="lg"/>
          </a:ln>
        </p:spPr>
      </p:sp>
      <p:sp>
        <p:nvSpPr>
          <p:cNvPr id="17" name="AutoShape 39">
            <a:extLst>
              <a:ext uri="{FF2B5EF4-FFF2-40B4-BE49-F238E27FC236}">
                <a16:creationId xmlns:a16="http://schemas.microsoft.com/office/drawing/2014/main" id="{9559D022-883D-8651-B303-4EB7E459B6E2}"/>
              </a:ext>
            </a:extLst>
          </p:cNvPr>
          <p:cNvSpPr/>
          <p:nvPr/>
        </p:nvSpPr>
        <p:spPr>
          <a:xfrm>
            <a:off x="3938733" y="2024740"/>
            <a:ext cx="5495" cy="708316"/>
          </a:xfrm>
          <a:prstGeom prst="line">
            <a:avLst/>
          </a:prstGeom>
          <a:ln w="19050" cap="flat">
            <a:solidFill>
              <a:srgbClr val="000000"/>
            </a:solidFill>
            <a:prstDash val="solid"/>
            <a:headEnd type="none" w="sm" len="sm"/>
            <a:tailEnd type="oval" w="lg" len="lg"/>
          </a:ln>
        </p:spPr>
      </p:sp>
      <p:sp>
        <p:nvSpPr>
          <p:cNvPr id="18" name="AutoShape 40">
            <a:extLst>
              <a:ext uri="{FF2B5EF4-FFF2-40B4-BE49-F238E27FC236}">
                <a16:creationId xmlns:a16="http://schemas.microsoft.com/office/drawing/2014/main" id="{E005187D-C3FC-6A41-C872-2078EB67B84B}"/>
              </a:ext>
            </a:extLst>
          </p:cNvPr>
          <p:cNvSpPr/>
          <p:nvPr/>
        </p:nvSpPr>
        <p:spPr>
          <a:xfrm>
            <a:off x="6018001" y="1532301"/>
            <a:ext cx="16507" cy="1200200"/>
          </a:xfrm>
          <a:prstGeom prst="line">
            <a:avLst/>
          </a:prstGeom>
          <a:ln w="19050" cap="flat">
            <a:solidFill>
              <a:srgbClr val="000000"/>
            </a:solidFill>
            <a:prstDash val="solid"/>
            <a:headEnd type="oval" w="lg" len="lg"/>
            <a:tailEnd type="oval" w="lg" len="lg"/>
          </a:ln>
        </p:spPr>
      </p:sp>
      <p:sp>
        <p:nvSpPr>
          <p:cNvPr id="19" name="AutoShape 41">
            <a:extLst>
              <a:ext uri="{FF2B5EF4-FFF2-40B4-BE49-F238E27FC236}">
                <a16:creationId xmlns:a16="http://schemas.microsoft.com/office/drawing/2014/main" id="{C5BA0F0A-3544-50ED-6153-3491CB6C665C}"/>
              </a:ext>
            </a:extLst>
          </p:cNvPr>
          <p:cNvSpPr/>
          <p:nvPr/>
        </p:nvSpPr>
        <p:spPr>
          <a:xfrm>
            <a:off x="8136115" y="2024739"/>
            <a:ext cx="10993" cy="707936"/>
          </a:xfrm>
          <a:prstGeom prst="line">
            <a:avLst/>
          </a:prstGeom>
          <a:ln w="19050" cap="flat">
            <a:solidFill>
              <a:srgbClr val="000000"/>
            </a:solidFill>
            <a:prstDash val="solid"/>
            <a:headEnd type="none" w="sm" len="sm"/>
            <a:tailEnd type="oval" w="lg" len="lg"/>
          </a:ln>
        </p:spPr>
      </p:sp>
      <p:sp>
        <p:nvSpPr>
          <p:cNvPr id="20" name="AutoShape 42">
            <a:extLst>
              <a:ext uri="{FF2B5EF4-FFF2-40B4-BE49-F238E27FC236}">
                <a16:creationId xmlns:a16="http://schemas.microsoft.com/office/drawing/2014/main" id="{213C15C9-4A82-BBBA-7C95-7CD85F4A8EF2}"/>
              </a:ext>
            </a:extLst>
          </p:cNvPr>
          <p:cNvSpPr/>
          <p:nvPr/>
        </p:nvSpPr>
        <p:spPr>
          <a:xfrm>
            <a:off x="10256746" y="2024740"/>
            <a:ext cx="10995" cy="707760"/>
          </a:xfrm>
          <a:prstGeom prst="line">
            <a:avLst/>
          </a:prstGeom>
          <a:ln w="19050" cap="flat">
            <a:solidFill>
              <a:srgbClr val="000000"/>
            </a:solidFill>
            <a:prstDash val="solid"/>
            <a:headEnd type="none" w="sm" len="sm"/>
            <a:tailEnd type="oval" w="lg" len="lg"/>
          </a:ln>
        </p:spPr>
      </p:sp>
      <p:sp>
        <p:nvSpPr>
          <p:cNvPr id="21" name="TextBox 43">
            <a:extLst>
              <a:ext uri="{FF2B5EF4-FFF2-40B4-BE49-F238E27FC236}">
                <a16:creationId xmlns:a16="http://schemas.microsoft.com/office/drawing/2014/main" id="{8A696AB5-B7CB-7F5A-D79C-8AAD7D79BBB6}"/>
              </a:ext>
            </a:extLst>
          </p:cNvPr>
          <p:cNvSpPr txBox="1"/>
          <p:nvPr/>
        </p:nvSpPr>
        <p:spPr>
          <a:xfrm>
            <a:off x="1108377" y="2918597"/>
            <a:ext cx="1363807" cy="410369"/>
          </a:xfrm>
          <a:prstGeom prst="rect">
            <a:avLst/>
          </a:prstGeom>
        </p:spPr>
        <p:txBody>
          <a:bodyPr lIns="0" tIns="0" rIns="0" bIns="0" rtlCol="0" anchor="t">
            <a:spAutoFit/>
          </a:bodyPr>
          <a:lstStyle/>
          <a:p>
            <a:pPr algn="ctr">
              <a:lnSpc>
                <a:spcPts val="1622"/>
              </a:lnSpc>
            </a:pPr>
            <a:r>
              <a:rPr lang="en-GB" sz="1400" dirty="0"/>
              <a:t>Set Up Virtual Environment</a:t>
            </a:r>
            <a:endParaRPr lang="en-US" sz="1400" spc="35" dirty="0">
              <a:solidFill>
                <a:srgbClr val="000000"/>
              </a:solidFill>
              <a:latin typeface="Aptos" panose="020B0004020202020204" pitchFamily="34" charset="0"/>
              <a:ea typeface="More Sugar"/>
              <a:cs typeface="More Sugar"/>
              <a:sym typeface="More Sugar"/>
            </a:endParaRPr>
          </a:p>
        </p:txBody>
      </p:sp>
      <p:sp>
        <p:nvSpPr>
          <p:cNvPr id="22" name="TextBox 44">
            <a:extLst>
              <a:ext uri="{FF2B5EF4-FFF2-40B4-BE49-F238E27FC236}">
                <a16:creationId xmlns:a16="http://schemas.microsoft.com/office/drawing/2014/main" id="{7C1954D0-5668-FB1B-756C-EFDA6B9BB39B}"/>
              </a:ext>
            </a:extLst>
          </p:cNvPr>
          <p:cNvSpPr txBox="1"/>
          <p:nvPr/>
        </p:nvSpPr>
        <p:spPr>
          <a:xfrm>
            <a:off x="3827634" y="785944"/>
            <a:ext cx="4472210" cy="500137"/>
          </a:xfrm>
          <a:prstGeom prst="rect">
            <a:avLst/>
          </a:prstGeom>
        </p:spPr>
        <p:txBody>
          <a:bodyPr lIns="0" tIns="0" rIns="0" bIns="0" rtlCol="0" anchor="t">
            <a:spAutoFit/>
          </a:bodyPr>
          <a:lstStyle/>
          <a:p>
            <a:pPr algn="ctr">
              <a:lnSpc>
                <a:spcPts val="3860"/>
              </a:lnSpc>
              <a:spcBef>
                <a:spcPct val="0"/>
              </a:spcBef>
            </a:pPr>
            <a:r>
              <a:rPr lang="en-US" sz="3600" b="1" dirty="0">
                <a:solidFill>
                  <a:srgbClr val="404040"/>
                </a:solidFill>
                <a:latin typeface="Public Sans Bold"/>
                <a:sym typeface="More Sugar"/>
              </a:rPr>
              <a:t>6. Web Development </a:t>
            </a:r>
          </a:p>
        </p:txBody>
      </p:sp>
      <p:sp>
        <p:nvSpPr>
          <p:cNvPr id="23" name="TextBox 45">
            <a:extLst>
              <a:ext uri="{FF2B5EF4-FFF2-40B4-BE49-F238E27FC236}">
                <a16:creationId xmlns:a16="http://schemas.microsoft.com/office/drawing/2014/main" id="{83B0F7D0-2416-50CA-2D2F-0030591E1629}"/>
              </a:ext>
            </a:extLst>
          </p:cNvPr>
          <p:cNvSpPr txBox="1"/>
          <p:nvPr/>
        </p:nvSpPr>
        <p:spPr>
          <a:xfrm>
            <a:off x="7425553" y="3912673"/>
            <a:ext cx="1459108" cy="1535485"/>
          </a:xfrm>
          <a:prstGeom prst="rect">
            <a:avLst/>
          </a:prstGeom>
        </p:spPr>
        <p:txBody>
          <a:bodyPr wrap="square" lIns="0" tIns="0" rIns="0" bIns="0" rtlCol="0" anchor="t">
            <a:spAutoFit/>
          </a:bodyPr>
          <a:lstStyle/>
          <a:p>
            <a:pPr algn="ctr">
              <a:lnSpc>
                <a:spcPts val="1745"/>
              </a:lnSpc>
            </a:pPr>
            <a:r>
              <a:rPr lang="en-US" dirty="0"/>
              <a:t>Run the application on a local server to ensure all features work smoothly and accurately.</a:t>
            </a:r>
            <a:endParaRPr lang="en-US" spc="-11" dirty="0">
              <a:solidFill>
                <a:srgbClr val="000000"/>
              </a:solidFill>
              <a:latin typeface="Aptos" panose="020B0004020202020204" pitchFamily="34" charset="0"/>
              <a:sym typeface="More Sugar Thin"/>
            </a:endParaRPr>
          </a:p>
        </p:txBody>
      </p:sp>
      <p:sp>
        <p:nvSpPr>
          <p:cNvPr id="24" name="TextBox 46">
            <a:extLst>
              <a:ext uri="{FF2B5EF4-FFF2-40B4-BE49-F238E27FC236}">
                <a16:creationId xmlns:a16="http://schemas.microsoft.com/office/drawing/2014/main" id="{B2BE5842-A193-43DE-8CF6-DDB8E6DCE0EE}"/>
              </a:ext>
            </a:extLst>
          </p:cNvPr>
          <p:cNvSpPr txBox="1"/>
          <p:nvPr/>
        </p:nvSpPr>
        <p:spPr>
          <a:xfrm>
            <a:off x="5265336" y="3912673"/>
            <a:ext cx="1497408" cy="1753493"/>
          </a:xfrm>
          <a:prstGeom prst="rect">
            <a:avLst/>
          </a:prstGeom>
        </p:spPr>
        <p:txBody>
          <a:bodyPr wrap="square" lIns="0" tIns="0" rIns="0" bIns="0" rtlCol="0" anchor="t">
            <a:spAutoFit/>
          </a:bodyPr>
          <a:lstStyle/>
          <a:p>
            <a:pPr algn="ctr">
              <a:lnSpc>
                <a:spcPts val="1745"/>
              </a:lnSpc>
            </a:pPr>
            <a:r>
              <a:rPr lang="en-US" dirty="0"/>
              <a:t>Implement the backend logic in Flask to handle requests and integrate the AI models for predictions.</a:t>
            </a:r>
            <a:endParaRPr lang="en-US" spc="-11" dirty="0">
              <a:solidFill>
                <a:srgbClr val="000000"/>
              </a:solidFill>
              <a:latin typeface="Aptos" panose="020B0004020202020204" pitchFamily="34" charset="0"/>
              <a:sym typeface="More Sugar Thin"/>
            </a:endParaRPr>
          </a:p>
        </p:txBody>
      </p:sp>
      <p:sp>
        <p:nvSpPr>
          <p:cNvPr id="25" name="TextBox 47">
            <a:extLst>
              <a:ext uri="{FF2B5EF4-FFF2-40B4-BE49-F238E27FC236}">
                <a16:creationId xmlns:a16="http://schemas.microsoft.com/office/drawing/2014/main" id="{AA241CF7-272F-A2E9-159E-29D9B95C7A06}"/>
              </a:ext>
            </a:extLst>
          </p:cNvPr>
          <p:cNvSpPr txBox="1"/>
          <p:nvPr/>
        </p:nvSpPr>
        <p:spPr>
          <a:xfrm>
            <a:off x="3123376" y="3772659"/>
            <a:ext cx="1589030" cy="2189511"/>
          </a:xfrm>
          <a:prstGeom prst="rect">
            <a:avLst/>
          </a:prstGeom>
        </p:spPr>
        <p:txBody>
          <a:bodyPr wrap="square" lIns="0" tIns="0" rIns="0" bIns="0" rtlCol="0" anchor="t">
            <a:spAutoFit/>
          </a:bodyPr>
          <a:lstStyle/>
          <a:p>
            <a:pPr algn="ctr">
              <a:lnSpc>
                <a:spcPts val="1745"/>
              </a:lnSpc>
            </a:pPr>
            <a:r>
              <a:rPr lang="en-US" dirty="0"/>
              <a:t>Design the home page and create dedicated interfaces for each disease, allowing users to easily interact with the platform.</a:t>
            </a:r>
            <a:endParaRPr lang="en-US" spc="-11" dirty="0">
              <a:solidFill>
                <a:srgbClr val="000000"/>
              </a:solidFill>
              <a:latin typeface="Aptos" panose="020B0004020202020204" pitchFamily="34" charset="0"/>
              <a:sym typeface="More Sugar Thin"/>
            </a:endParaRPr>
          </a:p>
        </p:txBody>
      </p:sp>
      <p:sp>
        <p:nvSpPr>
          <p:cNvPr id="26" name="TextBox 48">
            <a:extLst>
              <a:ext uri="{FF2B5EF4-FFF2-40B4-BE49-F238E27FC236}">
                <a16:creationId xmlns:a16="http://schemas.microsoft.com/office/drawing/2014/main" id="{3B6F8455-06EE-0F9E-041D-08BD678311E0}"/>
              </a:ext>
            </a:extLst>
          </p:cNvPr>
          <p:cNvSpPr txBox="1"/>
          <p:nvPr/>
        </p:nvSpPr>
        <p:spPr>
          <a:xfrm>
            <a:off x="1053592" y="3918732"/>
            <a:ext cx="1473376" cy="1753493"/>
          </a:xfrm>
          <a:prstGeom prst="rect">
            <a:avLst/>
          </a:prstGeom>
        </p:spPr>
        <p:txBody>
          <a:bodyPr wrap="square" lIns="0" tIns="0" rIns="0" bIns="0" rtlCol="0" anchor="t">
            <a:spAutoFit/>
          </a:bodyPr>
          <a:lstStyle/>
          <a:p>
            <a:pPr algn="ctr">
              <a:lnSpc>
                <a:spcPts val="1745"/>
              </a:lnSpc>
            </a:pPr>
            <a:r>
              <a:rPr lang="en-US" dirty="0"/>
              <a:t>Create a dedicated environment to manage dependencies and keep the project organized.</a:t>
            </a:r>
            <a:endParaRPr lang="en-US" spc="-11" dirty="0">
              <a:solidFill>
                <a:srgbClr val="000000"/>
              </a:solidFill>
              <a:latin typeface="Aptos" panose="020B0004020202020204" pitchFamily="34" charset="0"/>
              <a:ea typeface="More Sugar"/>
              <a:cs typeface="More Sugar"/>
              <a:sym typeface="More Sugar"/>
            </a:endParaRPr>
          </a:p>
        </p:txBody>
      </p:sp>
      <p:sp>
        <p:nvSpPr>
          <p:cNvPr id="27" name="TextBox 49">
            <a:extLst>
              <a:ext uri="{FF2B5EF4-FFF2-40B4-BE49-F238E27FC236}">
                <a16:creationId xmlns:a16="http://schemas.microsoft.com/office/drawing/2014/main" id="{0652FEFE-407F-2B4E-52DB-024F23CBC378}"/>
              </a:ext>
            </a:extLst>
          </p:cNvPr>
          <p:cNvSpPr txBox="1"/>
          <p:nvPr/>
        </p:nvSpPr>
        <p:spPr>
          <a:xfrm>
            <a:off x="9594109" y="3694664"/>
            <a:ext cx="1402656" cy="2189511"/>
          </a:xfrm>
          <a:prstGeom prst="rect">
            <a:avLst/>
          </a:prstGeom>
        </p:spPr>
        <p:txBody>
          <a:bodyPr lIns="0" tIns="0" rIns="0" bIns="0" rtlCol="0" anchor="t">
            <a:spAutoFit/>
          </a:bodyPr>
          <a:lstStyle/>
          <a:p>
            <a:pPr algn="ctr">
              <a:lnSpc>
                <a:spcPts val="1745"/>
              </a:lnSpc>
            </a:pPr>
            <a:r>
              <a:rPr lang="en-US" dirty="0"/>
              <a:t>Launch the application on AWS, making it accessible online for users to benefit from its diagnostic capabilities.</a:t>
            </a:r>
            <a:endParaRPr lang="en-US" spc="-11" dirty="0">
              <a:solidFill>
                <a:srgbClr val="000000"/>
              </a:solidFill>
              <a:latin typeface="Aptos" panose="020B0004020202020204" pitchFamily="34" charset="0"/>
              <a:sym typeface="More Sugar Thin"/>
            </a:endParaRPr>
          </a:p>
        </p:txBody>
      </p:sp>
      <p:sp>
        <p:nvSpPr>
          <p:cNvPr id="28" name="TextBox 50">
            <a:extLst>
              <a:ext uri="{FF2B5EF4-FFF2-40B4-BE49-F238E27FC236}">
                <a16:creationId xmlns:a16="http://schemas.microsoft.com/office/drawing/2014/main" id="{1ED9C324-2EFF-5042-C4B5-4FCD9649C832}"/>
              </a:ext>
            </a:extLst>
          </p:cNvPr>
          <p:cNvSpPr txBox="1"/>
          <p:nvPr/>
        </p:nvSpPr>
        <p:spPr>
          <a:xfrm>
            <a:off x="3150310" y="2958871"/>
            <a:ext cx="1712701" cy="205183"/>
          </a:xfrm>
          <a:prstGeom prst="rect">
            <a:avLst/>
          </a:prstGeom>
        </p:spPr>
        <p:txBody>
          <a:bodyPr lIns="0" tIns="0" rIns="0" bIns="0" rtlCol="0" anchor="t">
            <a:spAutoFit/>
          </a:bodyPr>
          <a:lstStyle/>
          <a:p>
            <a:pPr algn="ctr">
              <a:lnSpc>
                <a:spcPts val="1622"/>
              </a:lnSpc>
              <a:spcBef>
                <a:spcPct val="0"/>
              </a:spcBef>
            </a:pPr>
            <a:r>
              <a:rPr lang="en-GB" sz="1400" dirty="0"/>
              <a:t>Build the Frontend</a:t>
            </a:r>
            <a:endParaRPr lang="en-US" sz="1400" spc="35" dirty="0">
              <a:solidFill>
                <a:srgbClr val="000000"/>
              </a:solidFill>
              <a:latin typeface="Aptos" panose="020B0004020202020204" pitchFamily="34" charset="0"/>
              <a:sym typeface="More Sugar"/>
            </a:endParaRPr>
          </a:p>
        </p:txBody>
      </p:sp>
      <p:sp>
        <p:nvSpPr>
          <p:cNvPr id="29" name="TextBox 51">
            <a:extLst>
              <a:ext uri="{FF2B5EF4-FFF2-40B4-BE49-F238E27FC236}">
                <a16:creationId xmlns:a16="http://schemas.microsoft.com/office/drawing/2014/main" id="{C0E94477-D64B-A535-0605-C1678E76FC43}"/>
              </a:ext>
            </a:extLst>
          </p:cNvPr>
          <p:cNvSpPr txBox="1"/>
          <p:nvPr/>
        </p:nvSpPr>
        <p:spPr>
          <a:xfrm>
            <a:off x="5379513" y="2856280"/>
            <a:ext cx="1363807" cy="410369"/>
          </a:xfrm>
          <a:prstGeom prst="rect">
            <a:avLst/>
          </a:prstGeom>
        </p:spPr>
        <p:txBody>
          <a:bodyPr lIns="0" tIns="0" rIns="0" bIns="0" rtlCol="0" anchor="t">
            <a:spAutoFit/>
          </a:bodyPr>
          <a:lstStyle/>
          <a:p>
            <a:pPr algn="ctr">
              <a:lnSpc>
                <a:spcPts val="1622"/>
              </a:lnSpc>
              <a:spcBef>
                <a:spcPct val="0"/>
              </a:spcBef>
            </a:pPr>
            <a:r>
              <a:rPr lang="en-GB" sz="1400" dirty="0"/>
              <a:t>Develop Logic with Flask</a:t>
            </a:r>
            <a:endParaRPr lang="en-US" sz="1400" spc="35" dirty="0">
              <a:solidFill>
                <a:srgbClr val="000000"/>
              </a:solidFill>
              <a:latin typeface="Aptos" panose="020B0004020202020204" pitchFamily="34" charset="0"/>
              <a:sym typeface="More Sugar"/>
            </a:endParaRPr>
          </a:p>
        </p:txBody>
      </p:sp>
      <p:sp>
        <p:nvSpPr>
          <p:cNvPr id="30" name="TextBox 52">
            <a:extLst>
              <a:ext uri="{FF2B5EF4-FFF2-40B4-BE49-F238E27FC236}">
                <a16:creationId xmlns:a16="http://schemas.microsoft.com/office/drawing/2014/main" id="{3A126055-2E76-D825-18CB-F2F303A3246C}"/>
              </a:ext>
            </a:extLst>
          </p:cNvPr>
          <p:cNvSpPr txBox="1"/>
          <p:nvPr/>
        </p:nvSpPr>
        <p:spPr>
          <a:xfrm>
            <a:off x="7303456" y="2928300"/>
            <a:ext cx="1703302" cy="194027"/>
          </a:xfrm>
          <a:prstGeom prst="rect">
            <a:avLst/>
          </a:prstGeom>
        </p:spPr>
        <p:txBody>
          <a:bodyPr lIns="0" tIns="0" rIns="0" bIns="0" rtlCol="0" anchor="t">
            <a:spAutoFit/>
          </a:bodyPr>
          <a:lstStyle/>
          <a:p>
            <a:pPr algn="ctr">
              <a:lnSpc>
                <a:spcPts val="1491"/>
              </a:lnSpc>
              <a:spcBef>
                <a:spcPct val="0"/>
              </a:spcBef>
            </a:pPr>
            <a:r>
              <a:rPr lang="en-GB" sz="1400" dirty="0"/>
              <a:t>Test Locally</a:t>
            </a:r>
            <a:endParaRPr lang="en-US" sz="1400" spc="35" dirty="0">
              <a:solidFill>
                <a:srgbClr val="000000"/>
              </a:solidFill>
              <a:latin typeface="Aptos" panose="020B0004020202020204" pitchFamily="34" charset="0"/>
              <a:sym typeface="More Sugar"/>
            </a:endParaRPr>
          </a:p>
        </p:txBody>
      </p:sp>
      <p:sp>
        <p:nvSpPr>
          <p:cNvPr id="31" name="TextBox 53">
            <a:extLst>
              <a:ext uri="{FF2B5EF4-FFF2-40B4-BE49-F238E27FC236}">
                <a16:creationId xmlns:a16="http://schemas.microsoft.com/office/drawing/2014/main" id="{954785C5-3ACC-7284-F9DC-01B79DDE6E5F}"/>
              </a:ext>
            </a:extLst>
          </p:cNvPr>
          <p:cNvSpPr txBox="1"/>
          <p:nvPr/>
        </p:nvSpPr>
        <p:spPr>
          <a:xfrm>
            <a:off x="9594109" y="2963116"/>
            <a:ext cx="1489514" cy="194027"/>
          </a:xfrm>
          <a:prstGeom prst="rect">
            <a:avLst/>
          </a:prstGeom>
        </p:spPr>
        <p:txBody>
          <a:bodyPr lIns="0" tIns="0" rIns="0" bIns="0" rtlCol="0" anchor="t">
            <a:spAutoFit/>
          </a:bodyPr>
          <a:lstStyle/>
          <a:p>
            <a:pPr algn="ctr">
              <a:lnSpc>
                <a:spcPts val="1491"/>
              </a:lnSpc>
              <a:spcBef>
                <a:spcPct val="0"/>
              </a:spcBef>
            </a:pPr>
            <a:r>
              <a:rPr lang="en-GB" sz="1400" dirty="0"/>
              <a:t>Deploy on AWS</a:t>
            </a:r>
            <a:endParaRPr lang="en-US" sz="1400" spc="35" dirty="0">
              <a:solidFill>
                <a:srgbClr val="000000"/>
              </a:solidFill>
              <a:latin typeface="Aptos" panose="020B0004020202020204" pitchFamily="34" charset="0"/>
              <a:sym typeface="More Sugar"/>
            </a:endParaRPr>
          </a:p>
        </p:txBody>
      </p:sp>
    </p:spTree>
    <p:extLst>
      <p:ext uri="{BB962C8B-B14F-4D97-AF65-F5344CB8AC3E}">
        <p14:creationId xmlns:p14="http://schemas.microsoft.com/office/powerpoint/2010/main" val="10081979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22" presetClass="entr" presetSubtype="8"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par>
                                <p:cTn id="11" presetID="22" presetClass="entr" presetSubtype="8"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500"/>
                                        <p:tgtEl>
                                          <p:spTgt spid="26"/>
                                        </p:tgtEl>
                                      </p:cBhvr>
                                    </p:animEffect>
                                  </p:childTnLst>
                                </p:cTn>
                              </p:par>
                              <p:par>
                                <p:cTn id="17" presetID="22" presetClass="entr" presetSubtype="8"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left)">
                                      <p:cBhvr>
                                        <p:cTn id="24" dur="500"/>
                                        <p:tgtEl>
                                          <p:spTgt spid="28"/>
                                        </p:tgtEl>
                                      </p:cBhvr>
                                    </p:animEffect>
                                  </p:childTnLst>
                                </p:cTn>
                              </p:par>
                              <p:par>
                                <p:cTn id="25" presetID="22" presetClass="entr" presetSubtype="8"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left)">
                                      <p:cBhvr>
                                        <p:cTn id="27" dur="500"/>
                                        <p:tgtEl>
                                          <p:spTgt spid="47"/>
                                        </p:tgtEl>
                                      </p:cBhvr>
                                    </p:animEffect>
                                  </p:childTnLst>
                                </p:cTn>
                              </p:par>
                              <p:par>
                                <p:cTn id="28" presetID="22" presetClass="entr" presetSubtype="8"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left)">
                                      <p:cBhvr>
                                        <p:cTn id="33" dur="500"/>
                                        <p:tgtEl>
                                          <p:spTgt spid="25"/>
                                        </p:tgtEl>
                                      </p:cBhvr>
                                    </p:animEffect>
                                  </p:childTnLst>
                                </p:cTn>
                              </p:par>
                              <p:par>
                                <p:cTn id="34" presetID="22" presetClass="entr" presetSubtype="8" fill="hold" nodeType="with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500"/>
                                        <p:tgtEl>
                                          <p:spTgt spid="18"/>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wipe(left)">
                                      <p:cBhvr>
                                        <p:cTn id="44" dur="500"/>
                                        <p:tgtEl>
                                          <p:spTgt spid="29"/>
                                        </p:tgtEl>
                                      </p:cBhvr>
                                    </p:animEffect>
                                  </p:childTnLst>
                                </p:cTn>
                              </p:par>
                              <p:par>
                                <p:cTn id="45" presetID="22" presetClass="entr" presetSubtype="8"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ipe(left)">
                                      <p:cBhvr>
                                        <p:cTn id="50" dur="500"/>
                                        <p:tgtEl>
                                          <p:spTgt spid="24"/>
                                        </p:tgtEl>
                                      </p:cBhvr>
                                    </p:animEffect>
                                  </p:childTnLst>
                                </p:cTn>
                              </p:par>
                              <p:par>
                                <p:cTn id="51" presetID="22" presetClass="entr" presetSubtype="8"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left)">
                                      <p:cBhvr>
                                        <p:cTn id="53" dur="500"/>
                                        <p:tgtEl>
                                          <p:spTgt spid="4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500"/>
                                        <p:tgtEl>
                                          <p:spTgt spid="19"/>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left)">
                                      <p:cBhvr>
                                        <p:cTn id="61" dur="500"/>
                                        <p:tgtEl>
                                          <p:spTgt spid="30"/>
                                        </p:tgtEl>
                                      </p:cBhvr>
                                    </p:animEffect>
                                  </p:childTnLst>
                                </p:cTn>
                              </p:par>
                              <p:par>
                                <p:cTn id="62" presetID="22" presetClass="entr" presetSubtype="8" fill="hold" nodeType="with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4" dur="500"/>
                                        <p:tgtEl>
                                          <p:spTgt spid="12"/>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left)">
                                      <p:cBhvr>
                                        <p:cTn id="67" dur="500"/>
                                        <p:tgtEl>
                                          <p:spTgt spid="23"/>
                                        </p:tgtEl>
                                      </p:cBhvr>
                                    </p:animEffect>
                                  </p:childTnLst>
                                </p:cTn>
                              </p:par>
                              <p:par>
                                <p:cTn id="68" presetID="22" presetClass="entr" presetSubtype="8" fill="hold" nodeType="with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left)">
                                      <p:cBhvr>
                                        <p:cTn id="70" dur="500"/>
                                        <p:tgtEl>
                                          <p:spTgt spid="1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left)">
                                      <p:cBhvr>
                                        <p:cTn id="75" dur="500"/>
                                        <p:tgtEl>
                                          <p:spTgt spid="27"/>
                                        </p:tgtEl>
                                      </p:cBhvr>
                                    </p:animEffect>
                                  </p:childTnLst>
                                </p:cTn>
                              </p:par>
                              <p:par>
                                <p:cTn id="76" presetID="22" presetClass="entr" presetSubtype="8" fill="hold" nodeType="with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wipe(left)">
                                      <p:cBhvr>
                                        <p:cTn id="78" dur="500"/>
                                        <p:tgtEl>
                                          <p:spTgt spid="13"/>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wipe(left)">
                                      <p:cBhvr>
                                        <p:cTn id="81" dur="500"/>
                                        <p:tgtEl>
                                          <p:spTgt spid="31"/>
                                        </p:tgtEl>
                                      </p:cBhvr>
                                    </p:animEffect>
                                  </p:childTnLst>
                                </p:cTn>
                              </p:par>
                              <p:par>
                                <p:cTn id="82" presetID="22" presetClass="entr" presetSubtype="8" fill="hold"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wipe(left)">
                                      <p:cBhvr>
                                        <p:cTn id="84" dur="500"/>
                                        <p:tgtEl>
                                          <p:spTgt spid="14"/>
                                        </p:tgtEl>
                                      </p:cBhvr>
                                    </p:animEffect>
                                  </p:childTnLst>
                                </p:cTn>
                              </p:par>
                              <p:par>
                                <p:cTn id="85" presetID="22" presetClass="entr" presetSubtype="8"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24" grpId="0"/>
      <p:bldP spid="25" grpId="0"/>
      <p:bldP spid="26" grpId="0"/>
      <p:bldP spid="27" grpId="0"/>
      <p:bldP spid="28" grpId="0"/>
      <p:bldP spid="29" grpId="0"/>
      <p:bldP spid="30" grpId="0"/>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770A9F7-CF7A-A63C-3BFD-3A6B579A32CC}"/>
              </a:ext>
            </a:extLst>
          </p:cNvPr>
          <p:cNvSpPr/>
          <p:nvPr/>
        </p:nvSpPr>
        <p:spPr>
          <a:xfrm>
            <a:off x="2000199" y="241689"/>
            <a:ext cx="8191599" cy="642938"/>
          </a:xfrm>
          <a:prstGeom prst="rect">
            <a:avLst/>
          </a:prstGeom>
          <a:noFill/>
          <a:ln/>
        </p:spPr>
        <p:txBody>
          <a:bodyPr wrap="none" lIns="0" tIns="0" rIns="0" bIns="0" rtlCol="0" anchor="t"/>
          <a:lstStyle/>
          <a:p>
            <a:pPr algn="ctr">
              <a:lnSpc>
                <a:spcPts val="5041"/>
              </a:lnSpc>
            </a:pPr>
            <a:r>
              <a:rPr lang="en-GB" sz="4800" b="1" dirty="0">
                <a:solidFill>
                  <a:srgbClr val="404040"/>
                </a:solidFill>
                <a:latin typeface="Public Sans Bold"/>
              </a:rPr>
              <a:t>Project UI </a:t>
            </a:r>
            <a:endParaRPr lang="en-US" sz="4800" b="1" dirty="0">
              <a:solidFill>
                <a:srgbClr val="404040"/>
              </a:solidFill>
              <a:latin typeface="Public Sans Bold"/>
            </a:endParaRPr>
          </a:p>
        </p:txBody>
      </p:sp>
      <p:sp>
        <p:nvSpPr>
          <p:cNvPr id="4" name="Text 1">
            <a:extLst>
              <a:ext uri="{FF2B5EF4-FFF2-40B4-BE49-F238E27FC236}">
                <a16:creationId xmlns:a16="http://schemas.microsoft.com/office/drawing/2014/main" id="{891C9908-F1DE-311C-5E9B-59D277E917DD}"/>
              </a:ext>
            </a:extLst>
          </p:cNvPr>
          <p:cNvSpPr/>
          <p:nvPr/>
        </p:nvSpPr>
        <p:spPr>
          <a:xfrm>
            <a:off x="1234068" y="884626"/>
            <a:ext cx="2571750" cy="321469"/>
          </a:xfrm>
          <a:prstGeom prst="rect">
            <a:avLst/>
          </a:prstGeom>
          <a:noFill/>
          <a:ln/>
        </p:spPr>
        <p:txBody>
          <a:bodyPr wrap="none" lIns="0" tIns="0" rIns="0" bIns="0" rtlCol="0" anchor="t"/>
          <a:lstStyle/>
          <a:p>
            <a:pPr>
              <a:lnSpc>
                <a:spcPts val="2500"/>
              </a:lnSpc>
            </a:pPr>
            <a:r>
              <a:rPr lang="en-US" sz="2400" b="1" dirty="0">
                <a:solidFill>
                  <a:srgbClr val="3C3939"/>
                </a:solidFill>
                <a:latin typeface="Raleway" pitchFamily="34" charset="0"/>
                <a:ea typeface="Raleway" pitchFamily="34" charset="-122"/>
                <a:cs typeface="Raleway" pitchFamily="34" charset="-120"/>
              </a:rPr>
              <a:t>Home Image</a:t>
            </a:r>
            <a:endParaRPr lang="en-US" sz="2400" b="1" dirty="0"/>
          </a:p>
        </p:txBody>
      </p:sp>
      <p:sp>
        <p:nvSpPr>
          <p:cNvPr id="5" name="Text 3">
            <a:extLst>
              <a:ext uri="{FF2B5EF4-FFF2-40B4-BE49-F238E27FC236}">
                <a16:creationId xmlns:a16="http://schemas.microsoft.com/office/drawing/2014/main" id="{4C85BD5F-3761-7B63-0871-772429699781}"/>
              </a:ext>
            </a:extLst>
          </p:cNvPr>
          <p:cNvSpPr/>
          <p:nvPr/>
        </p:nvSpPr>
        <p:spPr>
          <a:xfrm>
            <a:off x="4651240" y="3268265"/>
            <a:ext cx="2642493" cy="321469"/>
          </a:xfrm>
          <a:prstGeom prst="rect">
            <a:avLst/>
          </a:prstGeom>
          <a:noFill/>
          <a:ln/>
        </p:spPr>
        <p:txBody>
          <a:bodyPr wrap="none" lIns="0" tIns="0" rIns="0" bIns="0" rtlCol="0" anchor="t"/>
          <a:lstStyle/>
          <a:p>
            <a:pPr>
              <a:lnSpc>
                <a:spcPts val="2500"/>
              </a:lnSpc>
            </a:pPr>
            <a:r>
              <a:rPr lang="en-US" sz="2000" b="1" dirty="0">
                <a:solidFill>
                  <a:srgbClr val="3C3939"/>
                </a:solidFill>
                <a:latin typeface="Raleway" pitchFamily="34" charset="0"/>
                <a:ea typeface="Raleway" pitchFamily="34" charset="-122"/>
                <a:cs typeface="Raleway" pitchFamily="34" charset="-120"/>
              </a:rPr>
              <a:t>Alzheimer's Prediction</a:t>
            </a:r>
            <a:endParaRPr lang="en-US" sz="2000" b="1" dirty="0"/>
          </a:p>
        </p:txBody>
      </p:sp>
      <p:sp>
        <p:nvSpPr>
          <p:cNvPr id="6" name="Text 5">
            <a:extLst>
              <a:ext uri="{FF2B5EF4-FFF2-40B4-BE49-F238E27FC236}">
                <a16:creationId xmlns:a16="http://schemas.microsoft.com/office/drawing/2014/main" id="{EA792124-74A5-67E2-E51E-9D13E66C26D5}"/>
              </a:ext>
            </a:extLst>
          </p:cNvPr>
          <p:cNvSpPr/>
          <p:nvPr/>
        </p:nvSpPr>
        <p:spPr>
          <a:xfrm>
            <a:off x="8644339" y="839966"/>
            <a:ext cx="2571750" cy="321469"/>
          </a:xfrm>
          <a:prstGeom prst="rect">
            <a:avLst/>
          </a:prstGeom>
          <a:noFill/>
          <a:ln/>
        </p:spPr>
        <p:txBody>
          <a:bodyPr wrap="none" lIns="0" tIns="0" rIns="0" bIns="0" rtlCol="0" anchor="t"/>
          <a:lstStyle/>
          <a:p>
            <a:pPr>
              <a:lnSpc>
                <a:spcPts val="2500"/>
              </a:lnSpc>
            </a:pPr>
            <a:r>
              <a:rPr lang="en-US" sz="2000" b="1" dirty="0">
                <a:solidFill>
                  <a:srgbClr val="3C3939"/>
                </a:solidFill>
                <a:latin typeface="Raleway" pitchFamily="34" charset="0"/>
                <a:ea typeface="Raleway" pitchFamily="34" charset="-122"/>
                <a:cs typeface="Raleway" pitchFamily="34" charset="-120"/>
              </a:rPr>
              <a:t>Alzheimer's Results</a:t>
            </a:r>
            <a:endParaRPr lang="en-US" sz="2000" b="1" dirty="0"/>
          </a:p>
        </p:txBody>
      </p:sp>
      <p:pic>
        <p:nvPicPr>
          <p:cNvPr id="7" name="Picture 6">
            <a:extLst>
              <a:ext uri="{FF2B5EF4-FFF2-40B4-BE49-F238E27FC236}">
                <a16:creationId xmlns:a16="http://schemas.microsoft.com/office/drawing/2014/main" id="{7475416C-8FA3-0822-F49C-6354932CD365}"/>
              </a:ext>
            </a:extLst>
          </p:cNvPr>
          <p:cNvPicPr>
            <a:picLocks noChangeAspect="1"/>
          </p:cNvPicPr>
          <p:nvPr/>
        </p:nvPicPr>
        <p:blipFill>
          <a:blip r:embed="rId2"/>
          <a:stretch>
            <a:fillRect/>
          </a:stretch>
        </p:blipFill>
        <p:spPr>
          <a:xfrm>
            <a:off x="300662" y="1527563"/>
            <a:ext cx="3908249" cy="2345036"/>
          </a:xfrm>
          <a:prstGeom prst="roundRect">
            <a:avLst>
              <a:gd name="adj" fmla="val 8594"/>
            </a:avLst>
          </a:prstGeom>
          <a:solidFill>
            <a:srgbClr val="FFFFFF">
              <a:shade val="85000"/>
            </a:srgbClr>
          </a:solidFill>
          <a:ln>
            <a:noFill/>
          </a:ln>
          <a:effectLst/>
        </p:spPr>
      </p:pic>
      <p:pic>
        <p:nvPicPr>
          <p:cNvPr id="8" name="Picture 7">
            <a:extLst>
              <a:ext uri="{FF2B5EF4-FFF2-40B4-BE49-F238E27FC236}">
                <a16:creationId xmlns:a16="http://schemas.microsoft.com/office/drawing/2014/main" id="{CDF08A56-7446-278C-8FAA-BBC163F8D027}"/>
              </a:ext>
            </a:extLst>
          </p:cNvPr>
          <p:cNvPicPr>
            <a:picLocks noChangeAspect="1"/>
          </p:cNvPicPr>
          <p:nvPr/>
        </p:nvPicPr>
        <p:blipFill>
          <a:blip r:embed="rId3"/>
          <a:stretch>
            <a:fillRect/>
          </a:stretch>
        </p:blipFill>
        <p:spPr>
          <a:xfrm>
            <a:off x="4141875" y="3958036"/>
            <a:ext cx="3908249" cy="2737141"/>
          </a:xfrm>
          <a:prstGeom prst="roundRect">
            <a:avLst>
              <a:gd name="adj" fmla="val 8594"/>
            </a:avLst>
          </a:prstGeom>
          <a:solidFill>
            <a:srgbClr val="FFFFFF">
              <a:shade val="85000"/>
            </a:srgbClr>
          </a:solidFill>
          <a:ln>
            <a:noFill/>
          </a:ln>
          <a:effectLst/>
        </p:spPr>
      </p:pic>
      <p:pic>
        <p:nvPicPr>
          <p:cNvPr id="9" name="Picture 8">
            <a:extLst>
              <a:ext uri="{FF2B5EF4-FFF2-40B4-BE49-F238E27FC236}">
                <a16:creationId xmlns:a16="http://schemas.microsoft.com/office/drawing/2014/main" id="{FB84D8AA-8941-2527-10D8-75BA9A809C73}"/>
              </a:ext>
            </a:extLst>
          </p:cNvPr>
          <p:cNvPicPr>
            <a:picLocks noChangeAspect="1"/>
          </p:cNvPicPr>
          <p:nvPr/>
        </p:nvPicPr>
        <p:blipFill>
          <a:blip r:embed="rId4"/>
          <a:stretch>
            <a:fillRect/>
          </a:stretch>
        </p:blipFill>
        <p:spPr>
          <a:xfrm>
            <a:off x="7983089" y="1371542"/>
            <a:ext cx="3908249" cy="2354346"/>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131183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anim calcmode="lin" valueType="num">
                                      <p:cBhvr>
                                        <p:cTn id="10" dur="500" fill="hold"/>
                                        <p:tgtEl>
                                          <p:spTgt spid="4"/>
                                        </p:tgtEl>
                                        <p:attrNameLst>
                                          <p:attrName>ppt_x</p:attrName>
                                        </p:attrNameLst>
                                      </p:cBhvr>
                                      <p:tavLst>
                                        <p:tav tm="0">
                                          <p:val>
                                            <p:fltVal val="0.5"/>
                                          </p:val>
                                        </p:tav>
                                        <p:tav tm="100000">
                                          <p:val>
                                            <p:strVal val="#ppt_x"/>
                                          </p:val>
                                        </p:tav>
                                      </p:tavLst>
                                    </p:anim>
                                    <p:anim calcmode="lin" valueType="num">
                                      <p:cBhvr>
                                        <p:cTn id="11" dur="500" fill="hold"/>
                                        <p:tgtEl>
                                          <p:spTgt spid="4"/>
                                        </p:tgtEl>
                                        <p:attrNameLst>
                                          <p:attrName>ppt_y</p:attrName>
                                        </p:attrNameLst>
                                      </p:cBhvr>
                                      <p:tavLst>
                                        <p:tav tm="0">
                                          <p:val>
                                            <p:fltVal val="0.5"/>
                                          </p:val>
                                        </p:tav>
                                        <p:tav tm="100000">
                                          <p:val>
                                            <p:strVal val="#ppt_y"/>
                                          </p:val>
                                        </p:tav>
                                      </p:tavLst>
                                    </p:anim>
                                  </p:childTnLst>
                                </p:cTn>
                              </p:par>
                              <p:par>
                                <p:cTn id="12" presetID="53" presetClass="entr" presetSubtype="528"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anim calcmode="lin" valueType="num">
                                      <p:cBhvr>
                                        <p:cTn id="17" dur="500" fill="hold"/>
                                        <p:tgtEl>
                                          <p:spTgt spid="7"/>
                                        </p:tgtEl>
                                        <p:attrNameLst>
                                          <p:attrName>ppt_x</p:attrName>
                                        </p:attrNameLst>
                                      </p:cBhvr>
                                      <p:tavLst>
                                        <p:tav tm="0">
                                          <p:val>
                                            <p:fltVal val="0.5"/>
                                          </p:val>
                                        </p:tav>
                                        <p:tav tm="100000">
                                          <p:val>
                                            <p:strVal val="#ppt_x"/>
                                          </p:val>
                                        </p:tav>
                                      </p:tavLst>
                                    </p:anim>
                                    <p:anim calcmode="lin" valueType="num">
                                      <p:cBhvr>
                                        <p:cTn id="18" dur="500" fill="hold"/>
                                        <p:tgtEl>
                                          <p:spTgt spid="7"/>
                                        </p:tgtEl>
                                        <p:attrNameLst>
                                          <p:attrName>ppt_y</p:attrName>
                                        </p:attrNameLst>
                                      </p:cBhvr>
                                      <p:tavLst>
                                        <p:tav tm="0">
                                          <p:val>
                                            <p:fltVal val="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528"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anim calcmode="lin" valueType="num">
                                      <p:cBhvr>
                                        <p:cTn id="26" dur="500" fill="hold"/>
                                        <p:tgtEl>
                                          <p:spTgt spid="5"/>
                                        </p:tgtEl>
                                        <p:attrNameLst>
                                          <p:attrName>ppt_x</p:attrName>
                                        </p:attrNameLst>
                                      </p:cBhvr>
                                      <p:tavLst>
                                        <p:tav tm="0">
                                          <p:val>
                                            <p:fltVal val="0.5"/>
                                          </p:val>
                                        </p:tav>
                                        <p:tav tm="100000">
                                          <p:val>
                                            <p:strVal val="#ppt_x"/>
                                          </p:val>
                                        </p:tav>
                                      </p:tavLst>
                                    </p:anim>
                                    <p:anim calcmode="lin" valueType="num">
                                      <p:cBhvr>
                                        <p:cTn id="27" dur="500" fill="hold"/>
                                        <p:tgtEl>
                                          <p:spTgt spid="5"/>
                                        </p:tgtEl>
                                        <p:attrNameLst>
                                          <p:attrName>ppt_y</p:attrName>
                                        </p:attrNameLst>
                                      </p:cBhvr>
                                      <p:tavLst>
                                        <p:tav tm="0">
                                          <p:val>
                                            <p:fltVal val="0.5"/>
                                          </p:val>
                                        </p:tav>
                                        <p:tav tm="100000">
                                          <p:val>
                                            <p:strVal val="#ppt_y"/>
                                          </p:val>
                                        </p:tav>
                                      </p:tavLst>
                                    </p:anim>
                                  </p:childTnLst>
                                </p:cTn>
                              </p:par>
                              <p:par>
                                <p:cTn id="28" presetID="53" presetClass="entr" presetSubtype="528"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anim calcmode="lin" valueType="num">
                                      <p:cBhvr>
                                        <p:cTn id="33" dur="500" fill="hold"/>
                                        <p:tgtEl>
                                          <p:spTgt spid="8"/>
                                        </p:tgtEl>
                                        <p:attrNameLst>
                                          <p:attrName>ppt_x</p:attrName>
                                        </p:attrNameLst>
                                      </p:cBhvr>
                                      <p:tavLst>
                                        <p:tav tm="0">
                                          <p:val>
                                            <p:fltVal val="0.5"/>
                                          </p:val>
                                        </p:tav>
                                        <p:tav tm="100000">
                                          <p:val>
                                            <p:strVal val="#ppt_x"/>
                                          </p:val>
                                        </p:tav>
                                      </p:tavLst>
                                    </p:anim>
                                    <p:anim calcmode="lin" valueType="num">
                                      <p:cBhvr>
                                        <p:cTn id="34" dur="500" fill="hold"/>
                                        <p:tgtEl>
                                          <p:spTgt spid="8"/>
                                        </p:tgtEl>
                                        <p:attrNameLst>
                                          <p:attrName>ppt_y</p:attrName>
                                        </p:attrNameLst>
                                      </p:cBhvr>
                                      <p:tavLst>
                                        <p:tav tm="0">
                                          <p:val>
                                            <p:fltVal val="0.5"/>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528"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anim calcmode="lin" valueType="num">
                                      <p:cBhvr>
                                        <p:cTn id="42" dur="500" fill="hold"/>
                                        <p:tgtEl>
                                          <p:spTgt spid="9"/>
                                        </p:tgtEl>
                                        <p:attrNameLst>
                                          <p:attrName>ppt_x</p:attrName>
                                        </p:attrNameLst>
                                      </p:cBhvr>
                                      <p:tavLst>
                                        <p:tav tm="0">
                                          <p:val>
                                            <p:fltVal val="0.5"/>
                                          </p:val>
                                        </p:tav>
                                        <p:tav tm="100000">
                                          <p:val>
                                            <p:strVal val="#ppt_x"/>
                                          </p:val>
                                        </p:tav>
                                      </p:tavLst>
                                    </p:anim>
                                    <p:anim calcmode="lin" valueType="num">
                                      <p:cBhvr>
                                        <p:cTn id="43" dur="500" fill="hold"/>
                                        <p:tgtEl>
                                          <p:spTgt spid="9"/>
                                        </p:tgtEl>
                                        <p:attrNameLst>
                                          <p:attrName>ppt_y</p:attrName>
                                        </p:attrNameLst>
                                      </p:cBhvr>
                                      <p:tavLst>
                                        <p:tav tm="0">
                                          <p:val>
                                            <p:fltVal val="0.5"/>
                                          </p:val>
                                        </p:tav>
                                        <p:tav tm="100000">
                                          <p:val>
                                            <p:strVal val="#ppt_y"/>
                                          </p:val>
                                        </p:tav>
                                      </p:tavLst>
                                    </p:anim>
                                  </p:childTnLst>
                                </p:cTn>
                              </p:par>
                              <p:par>
                                <p:cTn id="44" presetID="53" presetClass="entr" presetSubtype="528" fill="hold" grpId="0" nodeType="with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p:cTn id="46" dur="500" fill="hold"/>
                                        <p:tgtEl>
                                          <p:spTgt spid="6"/>
                                        </p:tgtEl>
                                        <p:attrNameLst>
                                          <p:attrName>ppt_w</p:attrName>
                                        </p:attrNameLst>
                                      </p:cBhvr>
                                      <p:tavLst>
                                        <p:tav tm="0">
                                          <p:val>
                                            <p:fltVal val="0"/>
                                          </p:val>
                                        </p:tav>
                                        <p:tav tm="100000">
                                          <p:val>
                                            <p:strVal val="#ppt_w"/>
                                          </p:val>
                                        </p:tav>
                                      </p:tavLst>
                                    </p:anim>
                                    <p:anim calcmode="lin" valueType="num">
                                      <p:cBhvr>
                                        <p:cTn id="47" dur="500" fill="hold"/>
                                        <p:tgtEl>
                                          <p:spTgt spid="6"/>
                                        </p:tgtEl>
                                        <p:attrNameLst>
                                          <p:attrName>ppt_h</p:attrName>
                                        </p:attrNameLst>
                                      </p:cBhvr>
                                      <p:tavLst>
                                        <p:tav tm="0">
                                          <p:val>
                                            <p:fltVal val="0"/>
                                          </p:val>
                                        </p:tav>
                                        <p:tav tm="100000">
                                          <p:val>
                                            <p:strVal val="#ppt_h"/>
                                          </p:val>
                                        </p:tav>
                                      </p:tavLst>
                                    </p:anim>
                                    <p:animEffect transition="in" filter="fade">
                                      <p:cBhvr>
                                        <p:cTn id="48" dur="500"/>
                                        <p:tgtEl>
                                          <p:spTgt spid="6"/>
                                        </p:tgtEl>
                                      </p:cBhvr>
                                    </p:animEffect>
                                    <p:anim calcmode="lin" valueType="num">
                                      <p:cBhvr>
                                        <p:cTn id="49" dur="500" fill="hold"/>
                                        <p:tgtEl>
                                          <p:spTgt spid="6"/>
                                        </p:tgtEl>
                                        <p:attrNameLst>
                                          <p:attrName>ppt_x</p:attrName>
                                        </p:attrNameLst>
                                      </p:cBhvr>
                                      <p:tavLst>
                                        <p:tav tm="0">
                                          <p:val>
                                            <p:fltVal val="0.5"/>
                                          </p:val>
                                        </p:tav>
                                        <p:tav tm="100000">
                                          <p:val>
                                            <p:strVal val="#ppt_x"/>
                                          </p:val>
                                        </p:tav>
                                      </p:tavLst>
                                    </p:anim>
                                    <p:anim calcmode="lin" valueType="num">
                                      <p:cBhvr>
                                        <p:cTn id="50" dur="500" fill="hold"/>
                                        <p:tgtEl>
                                          <p:spTgt spid="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9">
            <a:extLst>
              <a:ext uri="{FF2B5EF4-FFF2-40B4-BE49-F238E27FC236}">
                <a16:creationId xmlns:a16="http://schemas.microsoft.com/office/drawing/2014/main" id="{4B98B5C7-97BF-9321-E1B4-5EBBEFB69FB6}"/>
              </a:ext>
            </a:extLst>
          </p:cNvPr>
          <p:cNvSpPr txBox="1"/>
          <p:nvPr/>
        </p:nvSpPr>
        <p:spPr>
          <a:xfrm>
            <a:off x="2862161" y="385315"/>
            <a:ext cx="6467678" cy="769441"/>
          </a:xfrm>
          <a:prstGeom prst="rect">
            <a:avLst/>
          </a:prstGeom>
        </p:spPr>
        <p:txBody>
          <a:bodyPr lIns="0" tIns="0" rIns="0" bIns="0" rtlCol="0" anchor="t">
            <a:spAutoFit/>
          </a:bodyPr>
          <a:lstStyle/>
          <a:p>
            <a:pPr algn="ctr">
              <a:lnSpc>
                <a:spcPts val="3000"/>
              </a:lnSpc>
            </a:pPr>
            <a:r>
              <a:rPr lang="en-US" sz="3000" b="1" dirty="0">
                <a:solidFill>
                  <a:srgbClr val="404040"/>
                </a:solidFill>
                <a:latin typeface="Public Sans Bold"/>
                <a:ea typeface="Public Sans Bold"/>
                <a:cs typeface="Public Sans Bold"/>
                <a:sym typeface="Public Sans Bold"/>
              </a:rPr>
              <a:t>7. Conclusion</a:t>
            </a:r>
          </a:p>
          <a:p>
            <a:pPr algn="ctr">
              <a:lnSpc>
                <a:spcPts val="3000"/>
              </a:lnSpc>
            </a:pPr>
            <a:endParaRPr lang="en-US" sz="3000" b="1" dirty="0">
              <a:solidFill>
                <a:srgbClr val="404040"/>
              </a:solidFill>
              <a:latin typeface="Public Sans Bold"/>
              <a:ea typeface="Public Sans Bold"/>
              <a:cs typeface="Public Sans Bold"/>
              <a:sym typeface="Public Sans Bold"/>
            </a:endParaRPr>
          </a:p>
        </p:txBody>
      </p:sp>
      <p:sp>
        <p:nvSpPr>
          <p:cNvPr id="5" name="Rectangle: Rounded Corners 4">
            <a:extLst>
              <a:ext uri="{FF2B5EF4-FFF2-40B4-BE49-F238E27FC236}">
                <a16:creationId xmlns:a16="http://schemas.microsoft.com/office/drawing/2014/main" id="{1A3FB386-7649-CF2F-CFCC-F25A8A4360EC}"/>
              </a:ext>
            </a:extLst>
          </p:cNvPr>
          <p:cNvSpPr/>
          <p:nvPr/>
        </p:nvSpPr>
        <p:spPr>
          <a:xfrm>
            <a:off x="481586" y="2158836"/>
            <a:ext cx="11228828" cy="3434862"/>
          </a:xfrm>
          <a:prstGeom prst="roundRect">
            <a:avLst/>
          </a:prstGeom>
          <a:noFill/>
          <a:ln>
            <a:solidFill>
              <a:srgbClr val="D5DCF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dirty="0">
                <a:solidFill>
                  <a:schemeClr val="tx1"/>
                </a:solidFill>
              </a:rPr>
              <a:t>In this project, we leveraged machine learning and deep learning to build accurate models for diagnosing diseases like Alzheimer’s, brain tumors, and diabetes. By integrating advanced algorithms such as CNNs and XGBoost into a user-friendly web platform, we created a tool that delivers fast, reliable predictions to assist in real-world medical settings.</a:t>
            </a:r>
            <a:endParaRPr lang="en-GB" sz="3200" dirty="0">
              <a:solidFill>
                <a:schemeClr val="tx1"/>
              </a:solidFill>
            </a:endParaRPr>
          </a:p>
        </p:txBody>
      </p:sp>
    </p:spTree>
    <p:extLst>
      <p:ext uri="{BB962C8B-B14F-4D97-AF65-F5344CB8AC3E}">
        <p14:creationId xmlns:p14="http://schemas.microsoft.com/office/powerpoint/2010/main" val="352912773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593BC9-DC63-6213-CA0B-9E1FBB2C5BA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809750" y="0"/>
            <a:ext cx="8572500" cy="6858000"/>
          </a:xfrm>
          <a:prstGeom prst="rect">
            <a:avLst/>
          </a:prstGeom>
        </p:spPr>
      </p:pic>
    </p:spTree>
    <p:extLst>
      <p:ext uri="{BB962C8B-B14F-4D97-AF65-F5344CB8AC3E}">
        <p14:creationId xmlns:p14="http://schemas.microsoft.com/office/powerpoint/2010/main" val="746063239"/>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934</Words>
  <Application>Microsoft Office PowerPoint</Application>
  <PresentationFormat>Widescreen</PresentationFormat>
  <Paragraphs>128</Paragraphs>
  <Slides>17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Alexandria Semi Bold</vt:lpstr>
      <vt:lpstr>Andalus</vt:lpstr>
      <vt:lpstr>Aptos</vt:lpstr>
      <vt:lpstr>Aptos Display</vt:lpstr>
      <vt:lpstr>Arial</vt:lpstr>
      <vt:lpstr>Oswald Bold</vt:lpstr>
      <vt:lpstr>Public Sans Bold</vt:lpstr>
      <vt:lpstr>Raleway</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hassane skikri</dc:creator>
  <cp:lastModifiedBy>hassane skikri</cp:lastModifiedBy>
  <cp:revision>9</cp:revision>
  <dcterms:created xsi:type="dcterms:W3CDTF">2024-11-01T11:14:00Z</dcterms:created>
  <dcterms:modified xsi:type="dcterms:W3CDTF">2024-12-09T13:03:03Z</dcterms:modified>
</cp:coreProperties>
</file>